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17"/>
    <p:sldId id="266" r:id="rId18"/>
    <p:sldId id="257" r:id="rId9"/>
    <p:sldId id="258" r:id="rId10"/>
    <p:sldId id="259" r:id="rId11"/>
    <p:sldId id="261" r:id="rId13"/>
    <p:sldId id="262" r:id="rId14"/>
    <p:sldId id="260" r:id="rId12"/>
    <p:sldId id="256" r:id="rId7"/>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9.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8.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xml"/><Relationship Id="rId1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Bajada de la slide de resultado primario para que lleve una figura dominante. Abrir ante '¿cómo sabéis que no es azar?' o '¿y el holdout?'.</a:t>
            </a:r>
          </a:p>
          <a:p/>
          <a:p>
            <a:r>
              <a:t>Evidencia: pipeline/02 §5–§7; manifest.json → null-and-holdout (celda 12), incremental-fc-test (celda 18).</a:t>
            </a:r>
          </a:p>
          <a:p>
            <a:r>
              <a:t>Caveat: la regla de decisión de 2 SD es una heurística de sensibilidad al split, no un test formal de superioridad ni de equivalencia.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Abrimos con la pregunta y con las DOS cosas que predijimos. Importa decir las dos al principio: una se confirma y la otra se matiza, y el relato solo se entiende si la audiencia oyó ambas antes de ver resultados.</a:t>
            </a:r>
          </a:p>
          <a:p/>
          <a:p>
            <a:r>
              <a:t>NO decir que la hipótesis evolucionó, cambió o fue reemplazada. Pre-especificamos dos hipótesis; la evidencia confirmó una y matizó la otra.</a:t>
            </a:r>
          </a:p>
          <a:p/>
          <a:p>
            <a:r>
              <a:t>Caveat: 'reconfiguration' es una diferencia entre dos FC agregadas por condición, no conectividad dinámica. La hipótesis direccional es la más restrictiva: exige un signo y comprime una estructura multivariada en un escalar.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Scaler y RidgeCV se ajustan dentro de cada fold; nunca se separan runs o frames de la misma persona. B estima el modelo; A permite comprobar transferencia sin identidades compartidas.</a:t>
            </a:r>
          </a:p>
          <a:p/>
          <a:p>
            <a:r>
              <a:t>Evidencia: pipeline/02 §3–§4 (B=339 task / 336 analíticos, A=100, 360 ROIs, 12 redes, 78 features, 4 s HRF, 312 frames). Chart: manifest.json → feature-construction (celdas 6, 8).</a:t>
            </a:r>
          </a:p>
          <a:p>
            <a:r>
              <a:t>Caveat: la FC de tarea basada en Pearson puede reflejar coactivación evocada; no demuestra comunicación interregional ni causalidad.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efecto primario es la media de CV repetida, .366 ± .024. La transferencia usa modelos entrenados solo en B y aplicados a A sin identidades compartidas: no es validación en otro sitio. Si preguntan por el holdout fijo o por el null, están en la slide de backup.</a:t>
            </a:r>
          </a:p>
          <a:p/>
          <a:p>
            <a:r>
              <a:t>Transición: establecida la predicción, toca revisar lo que NO salió como esperábamos.</a:t>
            </a:r>
          </a:p>
          <a:p/>
          <a:p>
            <a:r>
              <a:t>Evidencia: pipeline/02 §5–§6, paneles 9B/9C. Charts: manifest.json → identity-disjoint-transfer (celda 14), primary-repeated-cv (celda 10).</a:t>
            </a:r>
          </a:p>
          <a:p>
            <a:r>
              <a:t>Caveat: la SD resume sensibilidad entre 20 particiones solapadas, no incertidumbre poblacional. Cohortes HCP hermanas no son generalización entre sitios; el parentesco no está modelado.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Bajada del deck hablado para que la slide del giro conserve una sola figura dominante. Abrir si preguntan qué significa exactamente que 'la hipótesis direccional quedó matizada'.</a:t>
            </a:r>
          </a:p>
          <a:p/>
          <a:p>
            <a:r>
              <a:t>Evidencia: pipeline/02 §8; manifest.json → segregation-refinement (celda 22).</a:t>
            </a:r>
          </a:p>
          <a:p>
            <a:r>
              <a:t>Caveat: la segregación de sistema es un escalar tipo Chan, no modularidad de Newman, y no sustituye al patrón multivariado de 78 rasgos. No reutilizar la magnitud −0.048 del abstract.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giro, en dos tiempos.</a:t>
            </a:r>
          </a:p>
          <a:p/>
          <a:p>
            <a:r>
              <a:t>UNO: la dirección que predijimos existe — la segregación baja con la carga — pero como predictor individual es débil. La hipótesis direccional queda MATIZADA, no confirmada. Figura completa en backup.</a:t>
            </a:r>
          </a:p>
          <a:p/>
          <a:p>
            <a:r>
              <a:t>DOS: al probar si la señal era específica de conectividad, un contraste de activación regional predijo mejor (0.600 vs 0.366). PERO no es específico de carga: la activación de 0-back SOLA predice 0.571 y la de 2-back sola 0.569 (nb08, celda 8: 'one activation signal, not specifically a load effect'). Es decir, se comporta como una señal estable a nivel de sujeto, no como un cambio cognitivo por carga.</a:t>
            </a:r>
          </a:p>
          <a:p/>
          <a:p>
            <a:r>
              <a:t>Por tanto NO se puede decir que la activación capture mejor la memoria de trabajo. La reconfiguración de FC sigue siendo, por construcción, la medida específica de carga. La activación entra como comprobación de especificidad, no como sustituto.</a:t>
            </a:r>
          </a:p>
          <a:p/>
          <a:p>
            <a:r>
              <a:t>Origen de esa señal estable: no resoluble con este diseño. DVARS sí lo controlamos (parcial 0.58, sobrevive); reactividad cerebrovascular no la medimos — hueco declarado (Goutham, 22 jul; Logothetis 2008).</a:t>
            </a:r>
          </a:p>
          <a:p/>
          <a:p>
            <a:r>
              <a:t>Procedencia: pipeline/02 §7 y §8; el desglose por condición está en nb08 celda 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NOMBRANDO las dos predicciones de la Slide 1: la de patrón SE SOSTIENE, la direccional SE MATIZA. Frase final: 'predictive signal survives; connectivity-specific mechanism remains unresolved.'</a:t>
            </a:r>
          </a:p>
          <a:p/>
          <a:p>
            <a:r>
              <a:t>Mantener esta slide proyectada durante las preguntas; las de backup solo se abren si hacen falta.</a:t>
            </a:r>
          </a:p>
          <a:p/>
          <a:p>
            <a:r>
              <a:t>Evidencia: pipeline/02 §11–§12 (tabla claim → result → figure → limitation).</a:t>
            </a:r>
          </a:p>
          <a:p>
            <a:r>
              <a:t>Caveat: estudio observacional de una sola tarea: no identifica causalidad, conectividad dinámica, beneficio adaptativo ni especificidad biológica.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leer en la exposición principal. Cada experimento ataca respectivamente comparabilidad, coactivación, generalización y confusión vascular no controlada (CVR, señalada por Goutham el 22 jul).</a:t>
            </a:r>
          </a:p>
          <a:p/>
          <a:p>
            <a:r>
              <a:t>Evidencia: storyboard interno, slide 14; tabla claim–result–limitation citada y anclas de literatura seleccionadas (incl. Logothetis 2008 para el proxy hemodinámico del BOLD).</a:t>
            </a:r>
          </a:p>
          <a:p>
            <a:r>
              <a:t>Caveat: son propuestas futuras, no análisis ya realizados; la conectividad de tarea puede contener coactivación y la transferencia actual depende de la misma tarea/HCP.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Mantener oculta; usarla para procedencia, definición de segregación, SD vs CI o tipos de null.</a:t>
            </a:r>
          </a:p>
          <a:p/>
          <a:p>
            <a:r>
              <a:t>Evidencia: storyboard interno, slide 15; manuscript/references.md y celdas del pipeline canónico.</a:t>
            </a:r>
          </a:p>
          <a:p>
            <a:r>
              <a:t>Caveat: las referencias proporcionan marco o limitaciones; no convierten el análisis en réplica exacta ni validación causal. Logothetis enmarca la confusión vascular (CVR) de la slide 6 como hueco citado, no resultado propio.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Portada. No consume minuto; se muestra mientras se saluda y se presenta al equipo.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Solo nombres. Los roles de la plantilla (Actor/Doctor/Accountant/Chef/Journalist) son texto de relleno y se han eliminado; los retratos de la plantilla son de stock y no somos nosotros. Si el equipo quiere rol real por persona, se añade con su confirmación.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4.xml"/><Relationship Id="rId6"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notesSlide" Target="../notesSlides/notesSlide6.xml"/><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notesSlide" Target="../notesSlides/notesSlide5.xml"/><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4828032"/>
            <a:ext cx="5029200" cy="256032"/>
          </a:xfrm>
          <a:prstGeom prst="rect">
            <a:avLst/>
          </a:prstGeom>
          <a:noFill/>
        </p:spPr>
        <p:txBody>
          <a:bodyPr wrap="square" anchor="t">
            <a:spAutoFit/>
          </a:bodyPr>
          <a:lstStyle/>
          <a:p>
            <a:pPr algn="l">
              <a:lnSpc>
                <a:spcPct val="100000"/>
              </a:lnSpc>
            </a:pPr>
            <a:r>
              <a:rPr sz="800" b="0" i="0">
                <a:solidFill>
                  <a:srgbClr val="B8B8B8"/>
                </a:solidFill>
                <a:latin typeface="Poppins"/>
              </a:rPr>
              <a:t>THE GAMMAS · NMA COMPUTATIONAL NEUROSCIENCE 2026</a:t>
            </a:r>
          </a:p>
        </p:txBody>
      </p:sp>
      <p:sp>
        <p:nvSpPr>
          <p:cNvPr id="3" name="TextBox 2"/>
          <p:cNvSpPr txBox="1"/>
          <p:nvPr/>
        </p:nvSpPr>
        <p:spPr>
          <a:xfrm>
            <a:off x="8138160" y="4828032"/>
            <a:ext cx="594360" cy="256032"/>
          </a:xfrm>
          <a:prstGeom prst="rect">
            <a:avLst/>
          </a:prstGeom>
          <a:noFill/>
        </p:spPr>
        <p:txBody>
          <a:bodyPr wrap="square" anchor="t">
            <a:spAutoFit/>
          </a:bodyPr>
          <a:lstStyle/>
          <a:p>
            <a:pPr algn="r">
              <a:lnSpc>
                <a:spcPct val="100000"/>
              </a:lnSpc>
            </a:pPr>
            <a:r>
              <a:rPr sz="800" b="0" i="0">
                <a:solidFill>
                  <a:srgbClr val="B8B8B8"/>
                </a:solidFill>
                <a:latin typeface="Poppins"/>
              </a:rPr>
              <a:t>1 / 11</a:t>
            </a:r>
          </a:p>
        </p:txBody>
      </p:sp>
      <p:sp>
        <p:nvSpPr>
          <p:cNvPr id="5" name="TextBox 4"/>
          <p:cNvSpPr txBox="1"/>
          <p:nvPr/>
        </p:nvSpPr>
        <p:spPr>
          <a:xfrm>
            <a:off x="510540" y="1422400"/>
            <a:ext cx="8122920" cy="1320800"/>
          </a:xfrm>
          <a:prstGeom prst="rect">
            <a:avLst/>
          </a:prstGeom>
          <a:noFill/>
        </p:spPr>
        <p:txBody>
          <a:bodyPr wrap="square" anchor="t">
            <a:spAutoFit/>
          </a:bodyPr>
          <a:lstStyle/>
          <a:p>
            <a:pPr algn="l">
              <a:lnSpc>
                <a:spcPct val="100000"/>
              </a:lnSpc>
            </a:pPr>
            <a:r>
              <a:rPr sz="2800" b="1" i="0">
                <a:solidFill>
                  <a:srgbClr val="202729"/>
                </a:solidFill>
                <a:latin typeface="Poppins"/>
              </a:rPr>
              <a:t>Functional Connectivity Reconfiguration</a:t>
            </a:r>
          </a:p>
          <a:p>
            <a:pPr algn="l">
              <a:lnSpc>
                <a:spcPct val="100000"/>
              </a:lnSpc>
            </a:pPr>
            <a:r>
              <a:rPr sz="2800" b="1" i="0">
                <a:solidFill>
                  <a:srgbClr val="202729"/>
                </a:solidFill>
                <a:latin typeface="Poppins"/>
              </a:rPr>
              <a:t>in N-back Working Memory</a:t>
            </a:r>
          </a:p>
        </p:txBody>
      </p:sp>
      <p:sp>
        <p:nvSpPr>
          <p:cNvPr id="6" name="TextBox 5"/>
          <p:cNvSpPr txBox="1"/>
          <p:nvPr/>
        </p:nvSpPr>
        <p:spPr>
          <a:xfrm>
            <a:off x="510540" y="2946400"/>
            <a:ext cx="8122920" cy="254000"/>
          </a:xfrm>
          <a:prstGeom prst="rect">
            <a:avLst/>
          </a:prstGeom>
          <a:noFill/>
        </p:spPr>
        <p:txBody>
          <a:bodyPr wrap="square">
            <a:spAutoFit/>
          </a:bodyPr>
          <a:lstStyle/>
          <a:p>
            <a:pPr algn="l"/>
            <a:r>
              <a:rPr sz="1200" b="0">
                <a:solidFill>
                  <a:srgbClr val="202729"/>
                </a:solidFill>
                <a:latin typeface="Poppins"/>
              </a:rPr>
              <a:t>Arefeh Lali Dehaghi · Goutham Arcod · Jaime Pineda · Kerem Akyurt · Valeria Moraga</a:t>
            </a:r>
          </a:p>
        </p:txBody>
      </p:sp>
      <p:sp>
        <p:nvSpPr>
          <p:cNvPr id="7" name="TextBox 6"/>
          <p:cNvSpPr txBox="1"/>
          <p:nvPr/>
        </p:nvSpPr>
        <p:spPr>
          <a:xfrm>
            <a:off x="510540" y="3225800"/>
            <a:ext cx="8122920" cy="228600"/>
          </a:xfrm>
          <a:prstGeom prst="rect">
            <a:avLst/>
          </a:prstGeom>
          <a:noFill/>
        </p:spPr>
        <p:txBody>
          <a:bodyPr wrap="square">
            <a:spAutoFit/>
          </a:bodyPr>
          <a:lstStyle/>
          <a:p>
            <a:pPr algn="l"/>
            <a:r>
              <a:rPr sz="1000" b="0">
                <a:solidFill>
                  <a:srgbClr val="705C40"/>
                </a:solidFill>
                <a:latin typeface="Poppins"/>
              </a:rPr>
              <a:t>Ifrit Ras el Hanout — The Gammas · NMA Computational Neuroscience 2026</a:t>
            </a:r>
          </a:p>
        </p:txBody>
      </p:sp>
      <p:sp>
        <p:nvSpPr>
          <p:cNvPr id="8" name="TextBox 7"/>
          <p:cNvSpPr txBox="1"/>
          <p:nvPr/>
        </p:nvSpPr>
        <p:spPr>
          <a:xfrm>
            <a:off x="510540" y="3479800"/>
            <a:ext cx="8122920" cy="228600"/>
          </a:xfrm>
          <a:prstGeom prst="rect">
            <a:avLst/>
          </a:prstGeom>
          <a:noFill/>
        </p:spPr>
        <p:txBody>
          <a:bodyPr wrap="square">
            <a:spAutoFit/>
          </a:bodyPr>
          <a:lstStyle/>
          <a:p>
            <a:pPr algn="l"/>
            <a:r>
              <a:rPr sz="1000" b="0">
                <a:solidFill>
                  <a:srgbClr val="705C40"/>
                </a:solidFill>
                <a:latin typeface="Poppins"/>
              </a:rPr>
              <a:t>HCP N-back · participant-level prediction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4828032"/>
            <a:ext cx="5029200" cy="256032"/>
          </a:xfrm>
          <a:prstGeom prst="rect">
            <a:avLst/>
          </a:prstGeom>
          <a:noFill/>
        </p:spPr>
        <p:txBody>
          <a:bodyPr wrap="square" anchor="t">
            <a:spAutoFit/>
          </a:bodyPr>
          <a:lstStyle/>
          <a:p>
            <a:pPr algn="l">
              <a:lnSpc>
                <a:spcPct val="100000"/>
              </a:lnSpc>
            </a:pPr>
            <a:r>
              <a:rPr sz="800" b="0" i="0">
                <a:solidFill>
                  <a:srgbClr val="B8B8B8"/>
                </a:solidFill>
                <a:latin typeface="Poppins"/>
              </a:rPr>
              <a:t>THE GAMMAS · NMA COMPUTATIONAL NEUROSCIENCE 2026</a:t>
            </a:r>
          </a:p>
        </p:txBody>
      </p:sp>
      <p:sp>
        <p:nvSpPr>
          <p:cNvPr id="3" name="TextBox 2"/>
          <p:cNvSpPr txBox="1"/>
          <p:nvPr/>
        </p:nvSpPr>
        <p:spPr>
          <a:xfrm>
            <a:off x="8138160" y="4828032"/>
            <a:ext cx="594360" cy="256032"/>
          </a:xfrm>
          <a:prstGeom prst="rect">
            <a:avLst/>
          </a:prstGeom>
          <a:noFill/>
        </p:spPr>
        <p:txBody>
          <a:bodyPr wrap="square" anchor="t">
            <a:spAutoFit/>
          </a:bodyPr>
          <a:lstStyle/>
          <a:p>
            <a:pPr algn="r">
              <a:lnSpc>
                <a:spcPct val="100000"/>
              </a:lnSpc>
            </a:pPr>
            <a:r>
              <a:rPr sz="800" b="0" i="0">
                <a:solidFill>
                  <a:srgbClr val="B8B8B8"/>
                </a:solidFill>
                <a:latin typeface="Poppins"/>
              </a:rPr>
              <a:t>2 / 11</a:t>
            </a:r>
          </a:p>
        </p:txBody>
      </p:sp>
      <p:sp>
        <p:nvSpPr>
          <p:cNvPr id="5" name="TextBox 4"/>
          <p:cNvSpPr txBox="1"/>
          <p:nvPr/>
        </p:nvSpPr>
        <p:spPr>
          <a:xfrm>
            <a:off x="411480" y="384048"/>
            <a:ext cx="8321040" cy="822960"/>
          </a:xfrm>
          <a:prstGeom prst="rect">
            <a:avLst/>
          </a:prstGeom>
          <a:noFill/>
        </p:spPr>
        <p:txBody>
          <a:bodyPr wrap="square" anchor="t">
            <a:spAutoFit/>
          </a:bodyPr>
          <a:lstStyle/>
          <a:p>
            <a:pPr algn="l">
              <a:lnSpc>
                <a:spcPct val="100000"/>
              </a:lnSpc>
            </a:pPr>
            <a:r>
              <a:rPr sz="2400" b="1" i="0">
                <a:solidFill>
                  <a:srgbClr val="202729"/>
                </a:solidFill>
                <a:latin typeface="Poppins"/>
              </a:rPr>
              <a:t>Meet our team</a:t>
            </a:r>
          </a:p>
        </p:txBody>
      </p:sp>
      <p:sp>
        <p:nvSpPr>
          <p:cNvPr id="6" name="Oval 5"/>
          <p:cNvSpPr/>
          <p:nvPr/>
        </p:nvSpPr>
        <p:spPr>
          <a:xfrm>
            <a:off x="1231900" y="1651000"/>
            <a:ext cx="965200" cy="965200"/>
          </a:xfrm>
          <a:prstGeom prst="ellipse">
            <a:avLst/>
          </a:prstGeom>
          <a:solidFill>
            <a:srgbClr val="F5F1EA"/>
          </a:solidFill>
          <a:ln w="12700">
            <a:solidFill>
              <a:srgbClr val="C9BFB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705C40"/>
                </a:solidFill>
                <a:latin typeface="Poppins"/>
              </a:rPr>
              <a:t>AL</a:t>
            </a:r>
          </a:p>
        </p:txBody>
      </p:sp>
      <p:sp>
        <p:nvSpPr>
          <p:cNvPr id="7" name="TextBox 6"/>
          <p:cNvSpPr txBox="1"/>
          <p:nvPr/>
        </p:nvSpPr>
        <p:spPr>
          <a:xfrm>
            <a:off x="762000" y="2692400"/>
            <a:ext cx="1905000" cy="228600"/>
          </a:xfrm>
          <a:prstGeom prst="rect">
            <a:avLst/>
          </a:prstGeom>
          <a:noFill/>
        </p:spPr>
        <p:txBody>
          <a:bodyPr wrap="square">
            <a:spAutoFit/>
          </a:bodyPr>
          <a:lstStyle/>
          <a:p>
            <a:pPr algn="ctr"/>
            <a:r>
              <a:rPr sz="1100" b="1">
                <a:solidFill>
                  <a:srgbClr val="202729"/>
                </a:solidFill>
                <a:latin typeface="Poppins"/>
              </a:rPr>
              <a:t>Arefeh Lali Dehaghi</a:t>
            </a:r>
          </a:p>
        </p:txBody>
      </p:sp>
      <p:sp>
        <p:nvSpPr>
          <p:cNvPr id="8" name="Oval 7"/>
          <p:cNvSpPr/>
          <p:nvPr/>
        </p:nvSpPr>
        <p:spPr>
          <a:xfrm>
            <a:off x="4089400" y="1651000"/>
            <a:ext cx="965200" cy="965200"/>
          </a:xfrm>
          <a:prstGeom prst="ellipse">
            <a:avLst/>
          </a:prstGeom>
          <a:solidFill>
            <a:srgbClr val="F5F1EA"/>
          </a:solidFill>
          <a:ln w="12700">
            <a:solidFill>
              <a:srgbClr val="C9BFB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705C40"/>
                </a:solidFill>
                <a:latin typeface="Poppins"/>
              </a:rPr>
              <a:t>GA</a:t>
            </a:r>
          </a:p>
        </p:txBody>
      </p:sp>
      <p:sp>
        <p:nvSpPr>
          <p:cNvPr id="9" name="TextBox 8"/>
          <p:cNvSpPr txBox="1"/>
          <p:nvPr/>
        </p:nvSpPr>
        <p:spPr>
          <a:xfrm>
            <a:off x="3619500" y="2692400"/>
            <a:ext cx="1905000" cy="228600"/>
          </a:xfrm>
          <a:prstGeom prst="rect">
            <a:avLst/>
          </a:prstGeom>
          <a:noFill/>
        </p:spPr>
        <p:txBody>
          <a:bodyPr wrap="square">
            <a:spAutoFit/>
          </a:bodyPr>
          <a:lstStyle/>
          <a:p>
            <a:pPr algn="ctr"/>
            <a:r>
              <a:rPr sz="1100" b="1">
                <a:solidFill>
                  <a:srgbClr val="202729"/>
                </a:solidFill>
                <a:latin typeface="Poppins"/>
              </a:rPr>
              <a:t>Goutham Arcod</a:t>
            </a:r>
          </a:p>
        </p:txBody>
      </p:sp>
      <p:sp>
        <p:nvSpPr>
          <p:cNvPr id="10" name="Oval 9"/>
          <p:cNvSpPr/>
          <p:nvPr/>
        </p:nvSpPr>
        <p:spPr>
          <a:xfrm>
            <a:off x="6946900" y="1651000"/>
            <a:ext cx="965200" cy="965200"/>
          </a:xfrm>
          <a:prstGeom prst="ellipse">
            <a:avLst/>
          </a:prstGeom>
          <a:solidFill>
            <a:srgbClr val="F5F1EA"/>
          </a:solidFill>
          <a:ln w="12700">
            <a:solidFill>
              <a:srgbClr val="C9BFB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705C40"/>
                </a:solidFill>
                <a:latin typeface="Poppins"/>
              </a:rPr>
              <a:t>JP</a:t>
            </a:r>
          </a:p>
        </p:txBody>
      </p:sp>
      <p:sp>
        <p:nvSpPr>
          <p:cNvPr id="11" name="TextBox 10"/>
          <p:cNvSpPr txBox="1"/>
          <p:nvPr/>
        </p:nvSpPr>
        <p:spPr>
          <a:xfrm>
            <a:off x="6477000" y="2692400"/>
            <a:ext cx="1905000" cy="228600"/>
          </a:xfrm>
          <a:prstGeom prst="rect">
            <a:avLst/>
          </a:prstGeom>
          <a:noFill/>
        </p:spPr>
        <p:txBody>
          <a:bodyPr wrap="square">
            <a:spAutoFit/>
          </a:bodyPr>
          <a:lstStyle/>
          <a:p>
            <a:pPr algn="ctr"/>
            <a:r>
              <a:rPr sz="1100" b="1">
                <a:solidFill>
                  <a:srgbClr val="202729"/>
                </a:solidFill>
                <a:latin typeface="Poppins"/>
              </a:rPr>
              <a:t>Jaime Pineda</a:t>
            </a:r>
          </a:p>
        </p:txBody>
      </p:sp>
      <p:sp>
        <p:nvSpPr>
          <p:cNvPr id="12" name="Oval 11"/>
          <p:cNvSpPr/>
          <p:nvPr/>
        </p:nvSpPr>
        <p:spPr>
          <a:xfrm>
            <a:off x="2654300" y="3149600"/>
            <a:ext cx="965200" cy="965200"/>
          </a:xfrm>
          <a:prstGeom prst="ellipse">
            <a:avLst/>
          </a:prstGeom>
          <a:solidFill>
            <a:srgbClr val="F5F1EA"/>
          </a:solidFill>
          <a:ln w="12700">
            <a:solidFill>
              <a:srgbClr val="C9BFB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705C40"/>
                </a:solidFill>
                <a:latin typeface="Poppins"/>
              </a:rPr>
              <a:t>KA</a:t>
            </a:r>
          </a:p>
        </p:txBody>
      </p:sp>
      <p:sp>
        <p:nvSpPr>
          <p:cNvPr id="13" name="TextBox 12"/>
          <p:cNvSpPr txBox="1"/>
          <p:nvPr/>
        </p:nvSpPr>
        <p:spPr>
          <a:xfrm>
            <a:off x="2184400" y="4191000"/>
            <a:ext cx="1905000" cy="228600"/>
          </a:xfrm>
          <a:prstGeom prst="rect">
            <a:avLst/>
          </a:prstGeom>
          <a:noFill/>
        </p:spPr>
        <p:txBody>
          <a:bodyPr wrap="square">
            <a:spAutoFit/>
          </a:bodyPr>
          <a:lstStyle/>
          <a:p>
            <a:pPr algn="ctr"/>
            <a:r>
              <a:rPr sz="1100" b="1">
                <a:solidFill>
                  <a:srgbClr val="202729"/>
                </a:solidFill>
                <a:latin typeface="Poppins"/>
              </a:rPr>
              <a:t>Kerem Akyurt</a:t>
            </a:r>
          </a:p>
        </p:txBody>
      </p:sp>
      <p:sp>
        <p:nvSpPr>
          <p:cNvPr id="14" name="Oval 13"/>
          <p:cNvSpPr/>
          <p:nvPr/>
        </p:nvSpPr>
        <p:spPr>
          <a:xfrm>
            <a:off x="5511800" y="3149600"/>
            <a:ext cx="965200" cy="965200"/>
          </a:xfrm>
          <a:prstGeom prst="ellipse">
            <a:avLst/>
          </a:prstGeom>
          <a:solidFill>
            <a:srgbClr val="F5F1EA"/>
          </a:solidFill>
          <a:ln w="12700">
            <a:solidFill>
              <a:srgbClr val="C9BFB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705C40"/>
                </a:solidFill>
                <a:latin typeface="Poppins"/>
              </a:rPr>
              <a:t>VM</a:t>
            </a:r>
          </a:p>
        </p:txBody>
      </p:sp>
      <p:sp>
        <p:nvSpPr>
          <p:cNvPr id="15" name="TextBox 14"/>
          <p:cNvSpPr txBox="1"/>
          <p:nvPr/>
        </p:nvSpPr>
        <p:spPr>
          <a:xfrm>
            <a:off x="5041900" y="4191000"/>
            <a:ext cx="1905000" cy="228600"/>
          </a:xfrm>
          <a:prstGeom prst="rect">
            <a:avLst/>
          </a:prstGeom>
          <a:noFill/>
        </p:spPr>
        <p:txBody>
          <a:bodyPr wrap="square">
            <a:spAutoFit/>
          </a:bodyPr>
          <a:lstStyle/>
          <a:p>
            <a:pPr algn="ctr"/>
            <a:r>
              <a:rPr sz="1100" b="1">
                <a:solidFill>
                  <a:srgbClr val="202729"/>
                </a:solidFill>
                <a:latin typeface="Poppins"/>
              </a:rPr>
              <a:t>Valeria Moraga</a:t>
            </a:r>
          </a:p>
        </p:txBody>
      </p:sp>
      <p:sp>
        <p:nvSpPr>
          <p:cNvPr id="16" name="TextBox 15"/>
          <p:cNvSpPr txBox="1"/>
          <p:nvPr/>
        </p:nvSpPr>
        <p:spPr>
          <a:xfrm>
            <a:off x="411480" y="4470400"/>
            <a:ext cx="8321040" cy="228600"/>
          </a:xfrm>
          <a:prstGeom prst="rect">
            <a:avLst/>
          </a:prstGeom>
          <a:noFill/>
        </p:spPr>
        <p:txBody>
          <a:bodyPr wrap="square">
            <a:spAutoFit/>
          </a:bodyPr>
          <a:lstStyle/>
          <a:p>
            <a:pPr algn="ctr"/>
            <a:r>
              <a:rPr sz="900" b="0">
                <a:solidFill>
                  <a:srgbClr val="705C40"/>
                </a:solidFill>
                <a:latin typeface="Poppins"/>
              </a:rPr>
              <a:t>Pod 884 “Ifrit Ras el Hanout” · Megapod Lotus · TA Andrea Buccellato · Project TA Azman Akhter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4828032"/>
            <a:ext cx="5029200" cy="256032"/>
          </a:xfrm>
          <a:prstGeom prst="rect">
            <a:avLst/>
          </a:prstGeom>
          <a:noFill/>
        </p:spPr>
        <p:txBody>
          <a:bodyPr wrap="square" anchor="t">
            <a:spAutoFit/>
          </a:bodyPr>
          <a:lstStyle/>
          <a:p>
            <a:pPr algn="l">
              <a:lnSpc>
                <a:spcPct val="100000"/>
              </a:lnSpc>
            </a:pPr>
            <a:r>
              <a:rPr sz="800" b="0" i="0">
                <a:solidFill>
                  <a:srgbClr val="B8B8B8"/>
                </a:solidFill>
                <a:latin typeface="Poppins"/>
              </a:rPr>
              <a:t>THE GAMMAS · NMA COMPUTATIONAL NEUROSCIENCE 2026</a:t>
            </a:r>
          </a:p>
        </p:txBody>
      </p:sp>
      <p:sp>
        <p:nvSpPr>
          <p:cNvPr id="3" name="TextBox 2"/>
          <p:cNvSpPr txBox="1"/>
          <p:nvPr/>
        </p:nvSpPr>
        <p:spPr>
          <a:xfrm>
            <a:off x="8138160" y="4828032"/>
            <a:ext cx="594360" cy="256032"/>
          </a:xfrm>
          <a:prstGeom prst="rect">
            <a:avLst/>
          </a:prstGeom>
          <a:noFill/>
        </p:spPr>
        <p:txBody>
          <a:bodyPr wrap="square" anchor="t">
            <a:spAutoFit/>
          </a:bodyPr>
          <a:lstStyle/>
          <a:p>
            <a:pPr algn="r">
              <a:lnSpc>
                <a:spcPct val="100000"/>
              </a:lnSpc>
            </a:pPr>
            <a:r>
              <a:rPr sz="800" b="0" i="0">
                <a:solidFill>
                  <a:srgbClr val="B8B8B8"/>
                </a:solidFill>
                <a:latin typeface="Poppins"/>
              </a:rPr>
              <a:t>3 / 11</a:t>
            </a:r>
          </a:p>
        </p:txBody>
      </p:sp>
      <p:sp>
        <p:nvSpPr>
          <p:cNvPr id="4" name="TextBox 3"/>
          <p:cNvSpPr txBox="1"/>
          <p:nvPr/>
        </p:nvSpPr>
        <p:spPr>
          <a:xfrm>
            <a:off x="411480" y="128016"/>
            <a:ext cx="8321040" cy="219456"/>
          </a:xfrm>
          <a:prstGeom prst="rect">
            <a:avLst/>
          </a:prstGeom>
          <a:noFill/>
        </p:spPr>
        <p:txBody>
          <a:bodyPr wrap="square" anchor="t">
            <a:spAutoFit/>
          </a:bodyPr>
          <a:lstStyle/>
          <a:p>
            <a:pPr algn="r">
              <a:lnSpc>
                <a:spcPct val="100000"/>
              </a:lnSpc>
            </a:pPr>
            <a:r>
              <a:rPr sz="850" b="0" i="1">
                <a:solidFill>
                  <a:srgbClr val="B8B8B8"/>
                </a:solidFill>
                <a:latin typeface="Poppins"/>
              </a:rPr>
              <a:t>SPOKEN · 1 / 5</a:t>
            </a:r>
          </a:p>
        </p:txBody>
      </p:sp>
      <p:sp>
        <p:nvSpPr>
          <p:cNvPr id="5" name="TextBox 4"/>
          <p:cNvSpPr txBox="1"/>
          <p:nvPr/>
        </p:nvSpPr>
        <p:spPr>
          <a:xfrm>
            <a:off x="411480" y="384048"/>
            <a:ext cx="8321040" cy="822960"/>
          </a:xfrm>
          <a:prstGeom prst="rect">
            <a:avLst/>
          </a:prstGeom>
          <a:noFill/>
        </p:spPr>
        <p:txBody>
          <a:bodyPr wrap="square" anchor="t">
            <a:spAutoFit/>
          </a:bodyPr>
          <a:lstStyle/>
          <a:p>
            <a:pPr algn="l">
              <a:lnSpc>
                <a:spcPct val="100000"/>
              </a:lnSpc>
            </a:pPr>
            <a:r>
              <a:rPr sz="2400" b="1" i="0">
                <a:solidFill>
                  <a:srgbClr val="202729"/>
                </a:solidFill>
                <a:latin typeface="Poppins"/>
              </a:rPr>
              <a:t>Does load-related brain connectivity predict working-memory performance?</a:t>
            </a:r>
          </a:p>
        </p:txBody>
      </p:sp>
      <p:sp>
        <p:nvSpPr>
          <p:cNvPr id="6" name="Rectangle 5"/>
          <p:cNvSpPr/>
          <p:nvPr/>
        </p:nvSpPr>
        <p:spPr>
          <a:xfrm>
            <a:off x="411480" y="1234440"/>
            <a:ext cx="3977639" cy="27432"/>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371600"/>
            <a:ext cx="3977639" cy="274320"/>
          </a:xfrm>
          <a:prstGeom prst="rect">
            <a:avLst/>
          </a:prstGeom>
          <a:noFill/>
        </p:spPr>
        <p:txBody>
          <a:bodyPr wrap="square" anchor="t">
            <a:spAutoFit/>
          </a:bodyPr>
          <a:lstStyle/>
          <a:p>
            <a:pPr algn="l">
              <a:lnSpc>
                <a:spcPct val="100000"/>
              </a:lnSpc>
            </a:pPr>
            <a:r>
              <a:rPr sz="1300" b="1" i="0">
                <a:solidFill>
                  <a:srgbClr val="0072B2"/>
                </a:solidFill>
                <a:latin typeface="Poppins"/>
              </a:rPr>
              <a:t>Pattern hypothesis</a:t>
            </a:r>
          </a:p>
        </p:txBody>
      </p:sp>
      <p:sp>
        <p:nvSpPr>
          <p:cNvPr id="8" name="TextBox 7"/>
          <p:cNvSpPr txBox="1"/>
          <p:nvPr/>
        </p:nvSpPr>
        <p:spPr>
          <a:xfrm>
            <a:off x="411480" y="1691640"/>
            <a:ext cx="3977639" cy="640080"/>
          </a:xfrm>
          <a:prstGeom prst="rect">
            <a:avLst/>
          </a:prstGeom>
          <a:noFill/>
        </p:spPr>
        <p:txBody>
          <a:bodyPr wrap="square" anchor="t">
            <a:spAutoFit/>
          </a:bodyPr>
          <a:lstStyle/>
          <a:p>
            <a:pPr algn="l">
              <a:lnSpc>
                <a:spcPct val="100000"/>
              </a:lnSpc>
            </a:pPr>
            <a:r>
              <a:rPr sz="1400" b="0" i="0">
                <a:solidFill>
                  <a:srgbClr val="202729"/>
                </a:solidFill>
                <a:latin typeface="Poppins"/>
              </a:rPr>
              <a:t>A 78-feature FC fingerprint of the 2-back − 0-back change predicts performance.</a:t>
            </a:r>
          </a:p>
        </p:txBody>
      </p:sp>
      <p:sp>
        <p:nvSpPr>
          <p:cNvPr id="11" name="Rectangle 10"/>
          <p:cNvSpPr/>
          <p:nvPr/>
        </p:nvSpPr>
        <p:spPr>
          <a:xfrm>
            <a:off x="4754880" y="1234440"/>
            <a:ext cx="3977639" cy="27432"/>
          </a:xfrm>
          <a:prstGeom prst="rect">
            <a:avLst/>
          </a:prstGeom>
          <a:solidFill>
            <a:srgbClr val="705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371600"/>
            <a:ext cx="3977639" cy="274320"/>
          </a:xfrm>
          <a:prstGeom prst="rect">
            <a:avLst/>
          </a:prstGeom>
          <a:noFill/>
        </p:spPr>
        <p:txBody>
          <a:bodyPr wrap="square" anchor="t">
            <a:spAutoFit/>
          </a:bodyPr>
          <a:lstStyle/>
          <a:p>
            <a:pPr algn="l">
              <a:lnSpc>
                <a:spcPct val="100000"/>
              </a:lnSpc>
            </a:pPr>
            <a:r>
              <a:rPr sz="1300" b="1" i="0">
                <a:solidFill>
                  <a:srgbClr val="705C40"/>
                </a:solidFill>
                <a:latin typeface="Poppins"/>
              </a:rPr>
              <a:t>Directional hypothesis</a:t>
            </a:r>
          </a:p>
        </p:txBody>
      </p:sp>
      <p:sp>
        <p:nvSpPr>
          <p:cNvPr id="13" name="TextBox 12"/>
          <p:cNvSpPr txBox="1"/>
          <p:nvPr/>
        </p:nvSpPr>
        <p:spPr>
          <a:xfrm>
            <a:off x="4754880" y="1691640"/>
            <a:ext cx="3977639" cy="1097280"/>
          </a:xfrm>
          <a:prstGeom prst="rect">
            <a:avLst/>
          </a:prstGeom>
          <a:noFill/>
        </p:spPr>
        <p:txBody>
          <a:bodyPr wrap="square" anchor="t">
            <a:spAutoFit/>
          </a:bodyPr>
          <a:lstStyle/>
          <a:p>
            <a:pPr algn="l">
              <a:lnSpc>
                <a:spcPct val="100000"/>
              </a:lnSpc>
            </a:pPr>
            <a:r>
              <a:rPr sz="1400" b="0" i="0">
                <a:solidFill>
                  <a:srgbClr val="202729"/>
                </a:solidFill>
                <a:latin typeface="Poppins"/>
              </a:rPr>
              <a:t>Higher load shifts networks toward integration; larger shifts accompany better performance.</a:t>
            </a:r>
          </a:p>
        </p:txBody>
      </p:sp>
      <p:sp>
        <p:nvSpPr>
          <p:cNvPr id="14" name="TextBox 13"/>
          <p:cNvSpPr txBox="1"/>
          <p:nvPr/>
        </p:nvSpPr>
        <p:spPr>
          <a:xfrm>
            <a:off x="4754880" y="2540000"/>
            <a:ext cx="3977639" cy="365760"/>
          </a:xfrm>
          <a:prstGeom prst="rect">
            <a:avLst/>
          </a:prstGeom>
          <a:noFill/>
        </p:spPr>
        <p:txBody>
          <a:bodyPr wrap="square" anchor="t">
            <a:spAutoFit/>
          </a:bodyPr>
          <a:lstStyle/>
          <a:p>
            <a:pPr algn="l">
              <a:lnSpc>
                <a:spcPct val="100000"/>
              </a:lnSpc>
            </a:pPr>
            <a:r>
              <a:rPr sz="1200" b="0" i="1">
                <a:solidFill>
                  <a:srgbClr val="B8B8B8"/>
                </a:solidFill>
                <a:latin typeface="Poppins"/>
              </a:rPr>
              <a:t>segregation ↔ integration</a:t>
            </a:r>
          </a:p>
        </p:txBody>
      </p:sp>
      <p:sp>
        <p:nvSpPr>
          <p:cNvPr id="15" name="Rectangle 14"/>
          <p:cNvSpPr/>
          <p:nvPr/>
        </p:nvSpPr>
        <p:spPr>
          <a:xfrm>
            <a:off x="411480" y="3977639"/>
            <a:ext cx="8321040" cy="27432"/>
          </a:xfrm>
          <a:prstGeom prst="rect">
            <a:avLst/>
          </a:prstGeom>
          <a:solidFill>
            <a:srgbClr val="202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4114800"/>
            <a:ext cx="8321040" cy="457200"/>
          </a:xfrm>
          <a:prstGeom prst="rect">
            <a:avLst/>
          </a:prstGeom>
          <a:noFill/>
        </p:spPr>
        <p:txBody>
          <a:bodyPr wrap="square" anchor="t">
            <a:spAutoFit/>
          </a:bodyPr>
          <a:lstStyle/>
          <a:p>
            <a:pPr algn="ctr">
              <a:lnSpc>
                <a:spcPct val="100000"/>
              </a:lnSpc>
            </a:pPr>
            <a:r>
              <a:rPr sz="1600" b="1" i="0">
                <a:solidFill>
                  <a:srgbClr val="202729"/>
                </a:solidFill>
                <a:latin typeface="Poppins"/>
              </a:rPr>
              <a:t>Distributed pattern ≠ one-number direction.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4828032"/>
            <a:ext cx="5029200" cy="256032"/>
          </a:xfrm>
          <a:prstGeom prst="rect">
            <a:avLst/>
          </a:prstGeom>
          <a:noFill/>
        </p:spPr>
        <p:txBody>
          <a:bodyPr wrap="square" anchor="t">
            <a:spAutoFit/>
          </a:bodyPr>
          <a:lstStyle/>
          <a:p>
            <a:pPr algn="l">
              <a:lnSpc>
                <a:spcPct val="100000"/>
              </a:lnSpc>
            </a:pPr>
            <a:r>
              <a:rPr sz="800" b="0" i="0">
                <a:solidFill>
                  <a:srgbClr val="B8B8B8"/>
                </a:solidFill>
                <a:latin typeface="Poppins"/>
              </a:rPr>
              <a:t>THE GAMMAS · NMA COMPUTATIONAL NEUROSCIENCE 2026</a:t>
            </a:r>
          </a:p>
        </p:txBody>
      </p:sp>
      <p:sp>
        <p:nvSpPr>
          <p:cNvPr id="3" name="TextBox 2"/>
          <p:cNvSpPr txBox="1"/>
          <p:nvPr/>
        </p:nvSpPr>
        <p:spPr>
          <a:xfrm>
            <a:off x="8138160" y="4828032"/>
            <a:ext cx="594360" cy="256032"/>
          </a:xfrm>
          <a:prstGeom prst="rect">
            <a:avLst/>
          </a:prstGeom>
          <a:noFill/>
        </p:spPr>
        <p:txBody>
          <a:bodyPr wrap="square" anchor="t">
            <a:spAutoFit/>
          </a:bodyPr>
          <a:lstStyle/>
          <a:p>
            <a:pPr algn="r">
              <a:lnSpc>
                <a:spcPct val="100000"/>
              </a:lnSpc>
            </a:pPr>
            <a:r>
              <a:rPr sz="800" b="0" i="0">
                <a:solidFill>
                  <a:srgbClr val="B8B8B8"/>
                </a:solidFill>
                <a:latin typeface="Poppins"/>
              </a:rPr>
              <a:t>4 / 11</a:t>
            </a:r>
          </a:p>
        </p:txBody>
      </p:sp>
      <p:sp>
        <p:nvSpPr>
          <p:cNvPr id="4" name="TextBox 3"/>
          <p:cNvSpPr txBox="1"/>
          <p:nvPr/>
        </p:nvSpPr>
        <p:spPr>
          <a:xfrm>
            <a:off x="411480" y="128016"/>
            <a:ext cx="8321040" cy="219456"/>
          </a:xfrm>
          <a:prstGeom prst="rect">
            <a:avLst/>
          </a:prstGeom>
          <a:noFill/>
        </p:spPr>
        <p:txBody>
          <a:bodyPr wrap="square" anchor="t">
            <a:spAutoFit/>
          </a:bodyPr>
          <a:lstStyle/>
          <a:p>
            <a:pPr algn="r">
              <a:lnSpc>
                <a:spcPct val="100000"/>
              </a:lnSpc>
            </a:pPr>
            <a:r>
              <a:rPr sz="850" b="0" i="1">
                <a:solidFill>
                  <a:srgbClr val="B8B8B8"/>
                </a:solidFill>
                <a:latin typeface="Poppins"/>
              </a:rPr>
              <a:t>SPOKEN · 2 / 5</a:t>
            </a:r>
          </a:p>
        </p:txBody>
      </p:sp>
      <p:sp>
        <p:nvSpPr>
          <p:cNvPr id="5" name="TextBox 4"/>
          <p:cNvSpPr txBox="1"/>
          <p:nvPr/>
        </p:nvSpPr>
        <p:spPr>
          <a:xfrm>
            <a:off x="411480" y="384048"/>
            <a:ext cx="8321040" cy="822960"/>
          </a:xfrm>
          <a:prstGeom prst="rect">
            <a:avLst/>
          </a:prstGeom>
          <a:noFill/>
        </p:spPr>
        <p:txBody>
          <a:bodyPr wrap="square" anchor="t">
            <a:spAutoFit/>
          </a:bodyPr>
          <a:lstStyle/>
          <a:p>
            <a:pPr algn="l">
              <a:lnSpc>
                <a:spcPct val="100000"/>
              </a:lnSpc>
            </a:pPr>
            <a:r>
              <a:rPr sz="2400" b="1" i="0">
                <a:solidFill>
                  <a:srgbClr val="202729"/>
                </a:solidFill>
                <a:latin typeface="Poppins"/>
              </a:rPr>
              <a:t>One pipeline, from scans to a held-out prediction</a:t>
            </a:r>
          </a:p>
        </p:txBody>
      </p:sp>
      <p:sp>
        <p:nvSpPr>
          <p:cNvPr id="6" name="Rounded Rectangle 5"/>
          <p:cNvSpPr/>
          <p:nvPr/>
        </p:nvSpPr>
        <p:spPr>
          <a:xfrm>
            <a:off x="411480" y="1320800"/>
            <a:ext cx="1930400" cy="965200"/>
          </a:xfrm>
          <a:prstGeom prst="roundRect">
            <a:avLst>
              <a:gd name="adj" fmla="val 8000"/>
            </a:avLst>
          </a:prstGeom>
          <a:solidFill>
            <a:srgbClr val="F5F1EA"/>
          </a:solidFill>
          <a:ln w="12700">
            <a:solidFill>
              <a:srgbClr val="C9BFB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050" b="1">
                <a:solidFill>
                  <a:srgbClr val="202729"/>
                </a:solidFill>
                <a:latin typeface="Poppins"/>
              </a:rPr>
              <a:t>1 · Cohort</a:t>
            </a:r>
          </a:p>
          <a:p>
            <a:r>
              <a:rPr sz="800">
                <a:solidFill>
                  <a:srgbClr val="705C40"/>
                </a:solidFill>
                <a:latin typeface="Poppins"/>
              </a:rPr>
              <a:t>336 participants · HCP N-back · 2 WM runs · 360 Glasser ROIs · TR 0.72 s</a:t>
            </a:r>
          </a:p>
        </p:txBody>
      </p:sp>
      <p:sp>
        <p:nvSpPr>
          <p:cNvPr id="7" name="Rounded Rectangle 6"/>
          <p:cNvSpPr/>
          <p:nvPr/>
        </p:nvSpPr>
        <p:spPr>
          <a:xfrm>
            <a:off x="2541270" y="1320800"/>
            <a:ext cx="1930400" cy="965200"/>
          </a:xfrm>
          <a:prstGeom prst="roundRect">
            <a:avLst>
              <a:gd name="adj" fmla="val 8000"/>
            </a:avLst>
          </a:prstGeom>
          <a:solidFill>
            <a:srgbClr val="F5F1EA"/>
          </a:solidFill>
          <a:ln w="12700">
            <a:solidFill>
              <a:srgbClr val="C9BFB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050" b="1">
                <a:solidFill>
                  <a:srgbClr val="202729"/>
                </a:solidFill>
                <a:latin typeface="Poppins"/>
              </a:rPr>
              <a:t>2 · Condition frames</a:t>
            </a:r>
          </a:p>
          <a:p>
            <a:r>
              <a:rPr sz="800">
                <a:solidFill>
                  <a:srgbClr val="705C40"/>
                </a:solidFill>
                <a:latin typeface="Poppins"/>
              </a:rPr>
              <a:t>4 s HRF shift · 312 frames per load · no 0-back/2-back overlap</a:t>
            </a:r>
          </a:p>
        </p:txBody>
      </p:sp>
      <p:sp>
        <p:nvSpPr>
          <p:cNvPr id="8" name="Rounded Rectangle 7"/>
          <p:cNvSpPr/>
          <p:nvPr/>
        </p:nvSpPr>
        <p:spPr>
          <a:xfrm>
            <a:off x="4671059" y="1320800"/>
            <a:ext cx="1930400" cy="965200"/>
          </a:xfrm>
          <a:prstGeom prst="roundRect">
            <a:avLst>
              <a:gd name="adj" fmla="val 8000"/>
            </a:avLst>
          </a:prstGeom>
          <a:solidFill>
            <a:srgbClr val="F5F1EA"/>
          </a:solidFill>
          <a:ln w="12700">
            <a:solidFill>
              <a:srgbClr val="C9BFB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050" b="1">
                <a:solidFill>
                  <a:srgbClr val="202729"/>
                </a:solidFill>
                <a:latin typeface="Poppins"/>
              </a:rPr>
              <a:t>3 · FC per condition</a:t>
            </a:r>
          </a:p>
          <a:p>
            <a:r>
              <a:rPr sz="800">
                <a:solidFill>
                  <a:srgbClr val="705C40"/>
                </a:solidFill>
                <a:latin typeface="Poppins"/>
              </a:rPr>
              <a:t>360 × 360 Pearson correlation, for 0-back and for 2-back</a:t>
            </a:r>
          </a:p>
        </p:txBody>
      </p:sp>
      <p:sp>
        <p:nvSpPr>
          <p:cNvPr id="9" name="Rounded Rectangle 8"/>
          <p:cNvSpPr/>
          <p:nvPr/>
        </p:nvSpPr>
        <p:spPr>
          <a:xfrm>
            <a:off x="6800850" y="1320800"/>
            <a:ext cx="1930400" cy="965200"/>
          </a:xfrm>
          <a:prstGeom prst="roundRect">
            <a:avLst>
              <a:gd name="adj" fmla="val 8000"/>
            </a:avLst>
          </a:prstGeom>
          <a:solidFill>
            <a:srgbClr val="F5F1EA"/>
          </a:solidFill>
          <a:ln w="12700">
            <a:solidFill>
              <a:srgbClr val="C9BFB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050" b="1">
                <a:solidFill>
                  <a:srgbClr val="202729"/>
                </a:solidFill>
                <a:latin typeface="Poppins"/>
              </a:rPr>
              <a:t>4 · Network fingerprint</a:t>
            </a:r>
          </a:p>
          <a:p>
            <a:r>
              <a:rPr sz="800">
                <a:solidFill>
                  <a:srgbClr val="705C40"/>
                </a:solidFill>
                <a:latin typeface="Poppins"/>
              </a:rPr>
              <a:t>12 within + 66 between = 78 values (Cole-Anticevic)</a:t>
            </a:r>
          </a:p>
        </p:txBody>
      </p:sp>
      <p:sp>
        <p:nvSpPr>
          <p:cNvPr id="10" name="Rounded Rectangle 9"/>
          <p:cNvSpPr/>
          <p:nvPr/>
        </p:nvSpPr>
        <p:spPr>
          <a:xfrm>
            <a:off x="411480" y="2463800"/>
            <a:ext cx="3957320" cy="863600"/>
          </a:xfrm>
          <a:prstGeom prst="roundRect">
            <a:avLst>
              <a:gd name="adj" fmla="val 8000"/>
            </a:avLst>
          </a:prstGeom>
          <a:solidFill>
            <a:srgbClr val="F5F1EA"/>
          </a:solidFill>
          <a:ln w="12700">
            <a:solidFill>
              <a:srgbClr val="C9BFB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050" b="1">
                <a:solidFill>
                  <a:srgbClr val="202729"/>
                </a:solidFill>
                <a:latin typeface="Poppins"/>
              </a:rPr>
              <a:t>5 · Reconfiguration</a:t>
            </a:r>
          </a:p>
          <a:p>
            <a:r>
              <a:rPr sz="800">
                <a:solidFill>
                  <a:srgbClr val="705C40"/>
                </a:solidFill>
                <a:latin typeface="Poppins"/>
              </a:rPr>
              <a:t>fingerprint(2-back) − fingerprint(0-back) → 336 × 78</a:t>
            </a:r>
          </a:p>
        </p:txBody>
      </p:sp>
      <p:sp>
        <p:nvSpPr>
          <p:cNvPr id="11" name="Rounded Rectangle 10"/>
          <p:cNvSpPr/>
          <p:nvPr/>
        </p:nvSpPr>
        <p:spPr>
          <a:xfrm>
            <a:off x="4775200" y="2463800"/>
            <a:ext cx="3957320" cy="863600"/>
          </a:xfrm>
          <a:prstGeom prst="roundRect">
            <a:avLst>
              <a:gd name="adj" fmla="val 8000"/>
            </a:avLst>
          </a:prstGeom>
          <a:solidFill>
            <a:srgbClr val="F5F1EA"/>
          </a:solidFill>
          <a:ln w="12700">
            <a:solidFill>
              <a:srgbClr val="C9BFB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050" b="1">
                <a:solidFill>
                  <a:srgbClr val="202729"/>
                </a:solidFill>
                <a:latin typeface="Poppins"/>
              </a:rPr>
              <a:t>6 · Model</a:t>
            </a:r>
          </a:p>
          <a:p>
            <a:r>
              <a:rPr sz="800">
                <a:solidFill>
                  <a:srgbClr val="705C40"/>
                </a:solidFill>
                <a:latin typeface="Poppins"/>
              </a:rPr>
              <a:t>StandardScaler + RidgeCV, fitted inside each training fold</a:t>
            </a:r>
          </a:p>
        </p:txBody>
      </p:sp>
      <p:sp>
        <p:nvSpPr>
          <p:cNvPr id="12" name="Rounded Rectangle 11"/>
          <p:cNvSpPr/>
          <p:nvPr/>
        </p:nvSpPr>
        <p:spPr>
          <a:xfrm>
            <a:off x="411480" y="3505200"/>
            <a:ext cx="8321040" cy="787400"/>
          </a:xfrm>
          <a:prstGeom prst="roundRect">
            <a:avLst>
              <a:gd name="adj" fmla="val 8000"/>
            </a:avLst>
          </a:prstGeom>
          <a:solidFill>
            <a:srgbClr val="F5F1EA"/>
          </a:solidFill>
          <a:ln w="12700">
            <a:solidFill>
              <a:srgbClr val="C9BFB0"/>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050" b="1">
                <a:solidFill>
                  <a:srgbClr val="202729"/>
                </a:solidFill>
                <a:latin typeface="Poppins"/>
              </a:rPr>
              <a:t>7 · Held-out evaluation</a:t>
            </a:r>
          </a:p>
          <a:p>
            <a:r>
              <a:rPr sz="800">
                <a:solidFill>
                  <a:srgbClr val="705C40"/>
                </a:solidFill>
                <a:latin typeface="Poppins"/>
              </a:rPr>
              <a:t>repeated 5-fold CV · fixed holdout · 1000-permutation null · B→A transfer (301 → 100, identity-disjoint)</a:t>
            </a:r>
          </a:p>
        </p:txBody>
      </p:sp>
      <p:sp>
        <p:nvSpPr>
          <p:cNvPr id="13" name="TextBox 12"/>
          <p:cNvSpPr txBox="1"/>
          <p:nvPr/>
        </p:nvSpPr>
        <p:spPr>
          <a:xfrm>
            <a:off x="411480" y="4394200"/>
            <a:ext cx="8321040" cy="203200"/>
          </a:xfrm>
          <a:prstGeom prst="rect">
            <a:avLst/>
          </a:prstGeom>
          <a:noFill/>
        </p:spPr>
        <p:txBody>
          <a:bodyPr wrap="square">
            <a:spAutoFit/>
          </a:bodyPr>
          <a:lstStyle/>
          <a:p>
            <a:pPr algn="l"/>
            <a:r>
              <a:rPr sz="850" b="0">
                <a:solidFill>
                  <a:srgbClr val="705C40"/>
                </a:solidFill>
                <a:latin typeface="Poppins"/>
              </a:rPr>
              <a:t>All splits hold out participants; “±” = split SD, not CI.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4828032"/>
            <a:ext cx="5029200" cy="256032"/>
          </a:xfrm>
          <a:prstGeom prst="rect">
            <a:avLst/>
          </a:prstGeom>
          <a:noFill/>
        </p:spPr>
        <p:txBody>
          <a:bodyPr wrap="square" anchor="t">
            <a:spAutoFit/>
          </a:bodyPr>
          <a:lstStyle/>
          <a:p>
            <a:pPr algn="l">
              <a:lnSpc>
                <a:spcPct val="100000"/>
              </a:lnSpc>
            </a:pPr>
            <a:r>
              <a:rPr sz="800" b="0" i="0">
                <a:solidFill>
                  <a:srgbClr val="B8B8B8"/>
                </a:solidFill>
                <a:latin typeface="Poppins"/>
              </a:rPr>
              <a:t>THE GAMMAS · NMA COMPUTATIONAL NEUROSCIENCE 2026</a:t>
            </a:r>
          </a:p>
        </p:txBody>
      </p:sp>
      <p:sp>
        <p:nvSpPr>
          <p:cNvPr id="3" name="TextBox 2"/>
          <p:cNvSpPr txBox="1"/>
          <p:nvPr/>
        </p:nvSpPr>
        <p:spPr>
          <a:xfrm>
            <a:off x="8138160" y="4828032"/>
            <a:ext cx="594360" cy="256032"/>
          </a:xfrm>
          <a:prstGeom prst="rect">
            <a:avLst/>
          </a:prstGeom>
          <a:noFill/>
        </p:spPr>
        <p:txBody>
          <a:bodyPr wrap="square" anchor="t">
            <a:spAutoFit/>
          </a:bodyPr>
          <a:lstStyle/>
          <a:p>
            <a:pPr algn="r">
              <a:lnSpc>
                <a:spcPct val="100000"/>
              </a:lnSpc>
            </a:pPr>
            <a:r>
              <a:rPr sz="800" b="0" i="0">
                <a:solidFill>
                  <a:srgbClr val="B8B8B8"/>
                </a:solidFill>
                <a:latin typeface="Poppins"/>
              </a:rPr>
              <a:t>5 / 11</a:t>
            </a:r>
          </a:p>
        </p:txBody>
      </p:sp>
      <p:sp>
        <p:nvSpPr>
          <p:cNvPr id="4" name="TextBox 3"/>
          <p:cNvSpPr txBox="1"/>
          <p:nvPr/>
        </p:nvSpPr>
        <p:spPr>
          <a:xfrm>
            <a:off x="411480" y="128016"/>
            <a:ext cx="8321040" cy="219456"/>
          </a:xfrm>
          <a:prstGeom prst="rect">
            <a:avLst/>
          </a:prstGeom>
          <a:noFill/>
        </p:spPr>
        <p:txBody>
          <a:bodyPr wrap="square" anchor="t">
            <a:spAutoFit/>
          </a:bodyPr>
          <a:lstStyle/>
          <a:p>
            <a:pPr algn="r">
              <a:lnSpc>
                <a:spcPct val="100000"/>
              </a:lnSpc>
            </a:pPr>
            <a:r>
              <a:rPr sz="850" b="0" i="1">
                <a:solidFill>
                  <a:srgbClr val="B8B8B8"/>
                </a:solidFill>
                <a:latin typeface="Poppins"/>
              </a:rPr>
              <a:t>SPOKEN · 3 / 5</a:t>
            </a:r>
          </a:p>
        </p:txBody>
      </p:sp>
      <p:sp>
        <p:nvSpPr>
          <p:cNvPr id="5" name="TextBox 4"/>
          <p:cNvSpPr txBox="1"/>
          <p:nvPr/>
        </p:nvSpPr>
        <p:spPr>
          <a:xfrm>
            <a:off x="411480" y="384048"/>
            <a:ext cx="8321040" cy="822960"/>
          </a:xfrm>
          <a:prstGeom prst="rect">
            <a:avLst/>
          </a:prstGeom>
          <a:noFill/>
        </p:spPr>
        <p:txBody>
          <a:bodyPr wrap="square" anchor="t">
            <a:spAutoFit/>
          </a:bodyPr>
          <a:lstStyle/>
          <a:p>
            <a:pPr algn="l">
              <a:lnSpc>
                <a:spcPct val="100000"/>
              </a:lnSpc>
            </a:pPr>
            <a:r>
              <a:rPr sz="2100" b="1" i="0">
                <a:solidFill>
                  <a:srgbClr val="202729"/>
                </a:solidFill>
                <a:latin typeface="Poppins"/>
              </a:rPr>
              <a:t>The FC pattern predicted performance—and transferred to a separate cohort</a:t>
            </a:r>
          </a:p>
        </p:txBody>
      </p:sp>
      <p:sp>
        <p:nvSpPr>
          <p:cNvPr id="9" name="TextBox 8"/>
          <p:cNvSpPr txBox="1"/>
          <p:nvPr/>
        </p:nvSpPr>
        <p:spPr>
          <a:xfrm>
            <a:off x="6553200" y="2540000"/>
            <a:ext cx="2179320" cy="256032"/>
          </a:xfrm>
          <a:prstGeom prst="rect">
            <a:avLst/>
          </a:prstGeom>
          <a:noFill/>
        </p:spPr>
        <p:txBody>
          <a:bodyPr wrap="square" anchor="t">
            <a:spAutoFit/>
          </a:bodyPr>
          <a:lstStyle/>
          <a:p>
            <a:pPr algn="l">
              <a:lnSpc>
                <a:spcPct val="100000"/>
              </a:lnSpc>
            </a:pPr>
            <a:r>
              <a:rPr sz="1150" b="1" i="0">
                <a:solidFill>
                  <a:srgbClr val="705C40"/>
                </a:solidFill>
                <a:latin typeface="Poppins"/>
              </a:rPr>
              <a:t>Primary repeated CV</a:t>
            </a:r>
          </a:p>
        </p:txBody>
      </p:sp>
      <p:sp>
        <p:nvSpPr>
          <p:cNvPr id="10" name="TextBox 9"/>
          <p:cNvSpPr txBox="1"/>
          <p:nvPr/>
        </p:nvSpPr>
        <p:spPr>
          <a:xfrm>
            <a:off x="6553200" y="2768600"/>
            <a:ext cx="2179320" cy="320040"/>
          </a:xfrm>
          <a:prstGeom prst="rect">
            <a:avLst/>
          </a:prstGeom>
          <a:noFill/>
        </p:spPr>
        <p:txBody>
          <a:bodyPr wrap="square" anchor="t">
            <a:spAutoFit/>
          </a:bodyPr>
          <a:lstStyle/>
          <a:p>
            <a:pPr algn="l">
              <a:lnSpc>
                <a:spcPct val="100000"/>
              </a:lnSpc>
            </a:pPr>
            <a:r>
              <a:rPr sz="1250" b="0" i="0">
                <a:solidFill>
                  <a:srgbClr val="202729"/>
                </a:solidFill>
                <a:latin typeface="Poppins"/>
              </a:rPr>
              <a:t>r = 0.366 ± 0.024 (336 ppts · 78 features)</a:t>
            </a:r>
          </a:p>
        </p:txBody>
      </p:sp>
      <p:sp>
        <p:nvSpPr>
          <p:cNvPr id="15" name="TextBox 14"/>
          <p:cNvSpPr txBox="1"/>
          <p:nvPr/>
        </p:nvSpPr>
        <p:spPr>
          <a:xfrm>
            <a:off x="6553200" y="1320800"/>
            <a:ext cx="2179320" cy="256032"/>
          </a:xfrm>
          <a:prstGeom prst="rect">
            <a:avLst/>
          </a:prstGeom>
          <a:noFill/>
        </p:spPr>
        <p:txBody>
          <a:bodyPr wrap="square" anchor="t">
            <a:spAutoFit/>
          </a:bodyPr>
          <a:lstStyle/>
          <a:p>
            <a:pPr algn="l">
              <a:lnSpc>
                <a:spcPct val="100000"/>
              </a:lnSpc>
            </a:pPr>
            <a:r>
              <a:rPr sz="1150" b="1" i="0">
                <a:solidFill>
                  <a:srgbClr val="705C40"/>
                </a:solidFill>
                <a:latin typeface="Poppins"/>
              </a:rPr>
              <a:t>B→A transfer</a:t>
            </a:r>
          </a:p>
        </p:txBody>
      </p:sp>
      <p:sp>
        <p:nvSpPr>
          <p:cNvPr id="16" name="TextBox 15"/>
          <p:cNvSpPr txBox="1"/>
          <p:nvPr/>
        </p:nvSpPr>
        <p:spPr>
          <a:xfrm>
            <a:off x="6553200" y="1549400"/>
            <a:ext cx="2179320" cy="320040"/>
          </a:xfrm>
          <a:prstGeom prst="rect">
            <a:avLst/>
          </a:prstGeom>
          <a:noFill/>
        </p:spPr>
        <p:txBody>
          <a:bodyPr wrap="square" anchor="t">
            <a:spAutoFit/>
          </a:bodyPr>
          <a:lstStyle/>
          <a:p>
            <a:pPr algn="l">
              <a:lnSpc>
                <a:spcPct val="100000"/>
              </a:lnSpc>
            </a:pPr>
            <a:r>
              <a:rPr sz="1250" b="0" i="0">
                <a:solidFill>
                  <a:srgbClr val="202729"/>
                </a:solidFill>
                <a:latin typeface="Poppins"/>
              </a:rPr>
              <a:t>r = 0.398; bootstrap 95% CI [0.25, 0.53]</a:t>
            </a:r>
          </a:p>
        </p:txBody>
      </p:sp>
      <p:sp>
        <p:nvSpPr>
          <p:cNvPr id="17" name="TextBox 16"/>
          <p:cNvSpPr txBox="1"/>
          <p:nvPr/>
        </p:nvSpPr>
        <p:spPr>
          <a:xfrm>
            <a:off x="6553200" y="1930400"/>
            <a:ext cx="2179320" cy="274320"/>
          </a:xfrm>
          <a:prstGeom prst="rect">
            <a:avLst/>
          </a:prstGeom>
          <a:noFill/>
        </p:spPr>
        <p:txBody>
          <a:bodyPr wrap="square" anchor="t">
            <a:spAutoFit/>
          </a:bodyPr>
          <a:lstStyle/>
          <a:p>
            <a:pPr algn="l">
              <a:lnSpc>
                <a:spcPct val="100000"/>
              </a:lnSpc>
            </a:pPr>
            <a:r>
              <a:rPr sz="1050" b="0" i="1">
                <a:solidFill>
                  <a:srgbClr val="B8B8B8"/>
                </a:solidFill>
                <a:latin typeface="Poppins"/>
              </a:rPr>
              <a:t>301 B-only → 100 A · 35 shared identities removed</a:t>
            </a:r>
          </a:p>
        </p:txBody>
      </p:sp>
      <p:sp>
        <p:nvSpPr>
          <p:cNvPr id="18" name="TextBox 17"/>
          <p:cNvSpPr txBox="1"/>
          <p:nvPr/>
        </p:nvSpPr>
        <p:spPr>
          <a:xfrm>
            <a:off x="411480" y="4498848"/>
            <a:ext cx="8321040" cy="256032"/>
          </a:xfrm>
          <a:prstGeom prst="rect">
            <a:avLst/>
          </a:prstGeom>
          <a:noFill/>
        </p:spPr>
        <p:txBody>
          <a:bodyPr wrap="square" anchor="t">
            <a:spAutoFit/>
          </a:bodyPr>
          <a:lstStyle/>
          <a:p>
            <a:pPr algn="ctr">
              <a:lnSpc>
                <a:spcPct val="100000"/>
              </a:lnSpc>
            </a:pPr>
            <a:r>
              <a:rPr sz="1100" b="1" i="0">
                <a:solidFill>
                  <a:srgbClr val="705C40"/>
                </a:solidFill>
                <a:latin typeface="Poppins"/>
              </a:rPr>
              <a:t>Identity-disjoint same-HCP transfer—not independent-site validation.</a:t>
            </a:r>
          </a:p>
        </p:txBody>
      </p:sp>
      <p:pic>
        <p:nvPicPr>
          <p:cNvPr id="19" name="Picture 18" descr="identity-disjoint-transfer.png"/>
          <p:cNvPicPr>
            <a:picLocks noChangeAspect="1"/>
          </p:cNvPicPr>
          <p:nvPr/>
        </p:nvPicPr>
        <p:blipFill>
          <a:blip r:embed="rId6"/>
          <a:stretch>
            <a:fillRect/>
          </a:stretch>
        </p:blipFill>
        <p:spPr>
          <a:xfrm>
            <a:off x="411480" y="1244600"/>
            <a:ext cx="5969000" cy="335787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4828032"/>
            <a:ext cx="5029200" cy="256032"/>
          </a:xfrm>
          <a:prstGeom prst="rect">
            <a:avLst/>
          </a:prstGeom>
          <a:noFill/>
        </p:spPr>
        <p:txBody>
          <a:bodyPr wrap="square" anchor="t">
            <a:spAutoFit/>
          </a:bodyPr>
          <a:lstStyle/>
          <a:p>
            <a:pPr algn="l">
              <a:lnSpc>
                <a:spcPct val="100000"/>
              </a:lnSpc>
            </a:pPr>
            <a:r>
              <a:rPr sz="800" b="0" i="0">
                <a:solidFill>
                  <a:srgbClr val="B8B8B8"/>
                </a:solidFill>
                <a:latin typeface="Poppins"/>
              </a:rPr>
              <a:t>THE GAMMAS · NMA COMPUTATIONAL NEUROSCIENCE 2026</a:t>
            </a:r>
          </a:p>
        </p:txBody>
      </p:sp>
      <p:sp>
        <p:nvSpPr>
          <p:cNvPr id="3" name="TextBox 2"/>
          <p:cNvSpPr txBox="1"/>
          <p:nvPr/>
        </p:nvSpPr>
        <p:spPr>
          <a:xfrm>
            <a:off x="8138160" y="4828032"/>
            <a:ext cx="594360" cy="256032"/>
          </a:xfrm>
          <a:prstGeom prst="rect">
            <a:avLst/>
          </a:prstGeom>
          <a:noFill/>
        </p:spPr>
        <p:txBody>
          <a:bodyPr wrap="square" anchor="t">
            <a:spAutoFit/>
          </a:bodyPr>
          <a:lstStyle/>
          <a:p>
            <a:pPr algn="r">
              <a:lnSpc>
                <a:spcPct val="100000"/>
              </a:lnSpc>
            </a:pPr>
            <a:r>
              <a:rPr sz="800" b="0" i="0">
                <a:solidFill>
                  <a:srgbClr val="B8B8B8"/>
                </a:solidFill>
                <a:latin typeface="Poppins"/>
              </a:rPr>
              <a:t>6 / 11</a:t>
            </a:r>
          </a:p>
        </p:txBody>
      </p:sp>
      <p:sp>
        <p:nvSpPr>
          <p:cNvPr id="4" name="TextBox 3"/>
          <p:cNvSpPr txBox="1"/>
          <p:nvPr/>
        </p:nvSpPr>
        <p:spPr>
          <a:xfrm>
            <a:off x="411480" y="128016"/>
            <a:ext cx="8321040" cy="219456"/>
          </a:xfrm>
          <a:prstGeom prst="rect">
            <a:avLst/>
          </a:prstGeom>
          <a:noFill/>
        </p:spPr>
        <p:txBody>
          <a:bodyPr wrap="square" anchor="t">
            <a:spAutoFit/>
          </a:bodyPr>
          <a:lstStyle/>
          <a:p>
            <a:pPr algn="r">
              <a:lnSpc>
                <a:spcPct val="100000"/>
              </a:lnSpc>
            </a:pPr>
            <a:r>
              <a:rPr sz="850" b="0" i="1">
                <a:solidFill>
                  <a:srgbClr val="B8B8B8"/>
                </a:solidFill>
                <a:latin typeface="Poppins"/>
              </a:rPr>
              <a:t>SPOKEN · 4 / 5</a:t>
            </a:r>
          </a:p>
        </p:txBody>
      </p:sp>
      <p:sp>
        <p:nvSpPr>
          <p:cNvPr id="5" name="TextBox 4"/>
          <p:cNvSpPr txBox="1"/>
          <p:nvPr/>
        </p:nvSpPr>
        <p:spPr>
          <a:xfrm>
            <a:off x="411480" y="384048"/>
            <a:ext cx="8321040" cy="822960"/>
          </a:xfrm>
          <a:prstGeom prst="rect">
            <a:avLst/>
          </a:prstGeom>
          <a:noFill/>
        </p:spPr>
        <p:txBody>
          <a:bodyPr wrap="square" anchor="t">
            <a:spAutoFit/>
          </a:bodyPr>
          <a:lstStyle/>
          <a:p>
            <a:pPr algn="l">
              <a:lnSpc>
                <a:spcPct val="100000"/>
              </a:lnSpc>
            </a:pPr>
            <a:r>
              <a:rPr sz="2100" b="1" i="0">
                <a:solidFill>
                  <a:srgbClr val="202729"/>
                </a:solidFill>
                <a:latin typeface="Poppins"/>
              </a:rPr>
              <a:t>The prediction held—but a simpler regional signal predicted better</a:t>
            </a:r>
          </a:p>
        </p:txBody>
      </p:sp>
      <p:sp>
        <p:nvSpPr>
          <p:cNvPr id="7" name="TextBox 6"/>
          <p:cNvSpPr txBox="1"/>
          <p:nvPr/>
        </p:nvSpPr>
        <p:spPr>
          <a:xfrm>
            <a:off x="5623560" y="1234440"/>
            <a:ext cx="3108960" cy="365760"/>
          </a:xfrm>
          <a:prstGeom prst="rect">
            <a:avLst/>
          </a:prstGeom>
          <a:noFill/>
        </p:spPr>
        <p:txBody>
          <a:bodyPr wrap="square" anchor="t">
            <a:spAutoFit/>
          </a:bodyPr>
          <a:lstStyle/>
          <a:p>
            <a:pPr algn="l">
              <a:lnSpc>
                <a:spcPct val="100000"/>
              </a:lnSpc>
            </a:pPr>
            <a:r>
              <a:rPr sz="1050" b="0" i="1">
                <a:solidFill>
                  <a:srgbClr val="B8B8B8"/>
                </a:solidFill>
                <a:latin typeface="Poppins"/>
              </a:rPr>
              <a:t>Repeated-CV correlation (mean ± split SD, 20 partitions)</a:t>
            </a:r>
          </a:p>
        </p:txBody>
      </p:sp>
      <p:sp>
        <p:nvSpPr>
          <p:cNvPr id="8" name="TextBox 7"/>
          <p:cNvSpPr txBox="1"/>
          <p:nvPr/>
        </p:nvSpPr>
        <p:spPr>
          <a:xfrm>
            <a:off x="5623560" y="1572768"/>
            <a:ext cx="2103120" cy="256032"/>
          </a:xfrm>
          <a:prstGeom prst="rect">
            <a:avLst/>
          </a:prstGeom>
          <a:noFill/>
        </p:spPr>
        <p:txBody>
          <a:bodyPr wrap="square" anchor="t">
            <a:spAutoFit/>
          </a:bodyPr>
          <a:lstStyle/>
          <a:p>
            <a:pPr algn="l">
              <a:lnSpc>
                <a:spcPct val="100000"/>
              </a:lnSpc>
            </a:pPr>
            <a:r>
              <a:rPr sz="1100" b="0" i="0">
                <a:solidFill>
                  <a:srgbClr val="202729"/>
                </a:solidFill>
                <a:latin typeface="Poppins"/>
              </a:rPr>
              <a:t>0-back FC</a:t>
            </a:r>
          </a:p>
        </p:txBody>
      </p:sp>
      <p:sp>
        <p:nvSpPr>
          <p:cNvPr id="9" name="TextBox 8"/>
          <p:cNvSpPr txBox="1"/>
          <p:nvPr/>
        </p:nvSpPr>
        <p:spPr>
          <a:xfrm>
            <a:off x="7635240" y="1572768"/>
            <a:ext cx="1097280" cy="256032"/>
          </a:xfrm>
          <a:prstGeom prst="rect">
            <a:avLst/>
          </a:prstGeom>
          <a:noFill/>
        </p:spPr>
        <p:txBody>
          <a:bodyPr wrap="square" anchor="t">
            <a:spAutoFit/>
          </a:bodyPr>
          <a:lstStyle/>
          <a:p>
            <a:pPr algn="r">
              <a:lnSpc>
                <a:spcPct val="100000"/>
              </a:lnSpc>
            </a:pPr>
            <a:r>
              <a:rPr sz="1100" b="1" i="0">
                <a:solidFill>
                  <a:srgbClr val="202729"/>
                </a:solidFill>
                <a:latin typeface="Poppins"/>
              </a:rPr>
              <a:t>0.274 ± 0.032</a:t>
            </a:r>
          </a:p>
        </p:txBody>
      </p:sp>
      <p:sp>
        <p:nvSpPr>
          <p:cNvPr id="10" name="TextBox 9"/>
          <p:cNvSpPr txBox="1"/>
          <p:nvPr/>
        </p:nvSpPr>
        <p:spPr>
          <a:xfrm>
            <a:off x="5623560" y="1865376"/>
            <a:ext cx="2103120" cy="256032"/>
          </a:xfrm>
          <a:prstGeom prst="rect">
            <a:avLst/>
          </a:prstGeom>
          <a:noFill/>
        </p:spPr>
        <p:txBody>
          <a:bodyPr wrap="square" anchor="t">
            <a:spAutoFit/>
          </a:bodyPr>
          <a:lstStyle/>
          <a:p>
            <a:pPr algn="l">
              <a:lnSpc>
                <a:spcPct val="100000"/>
              </a:lnSpc>
            </a:pPr>
            <a:r>
              <a:rPr sz="1100" b="0" i="0">
                <a:solidFill>
                  <a:srgbClr val="202729"/>
                </a:solidFill>
                <a:latin typeface="Poppins"/>
              </a:rPr>
              <a:t>FC reconfiguration</a:t>
            </a:r>
          </a:p>
        </p:txBody>
      </p:sp>
      <p:sp>
        <p:nvSpPr>
          <p:cNvPr id="11" name="TextBox 10"/>
          <p:cNvSpPr txBox="1"/>
          <p:nvPr/>
        </p:nvSpPr>
        <p:spPr>
          <a:xfrm>
            <a:off x="7635240" y="1865376"/>
            <a:ext cx="1097280" cy="256032"/>
          </a:xfrm>
          <a:prstGeom prst="rect">
            <a:avLst/>
          </a:prstGeom>
          <a:noFill/>
        </p:spPr>
        <p:txBody>
          <a:bodyPr wrap="square" anchor="t">
            <a:spAutoFit/>
          </a:bodyPr>
          <a:lstStyle/>
          <a:p>
            <a:pPr algn="r">
              <a:lnSpc>
                <a:spcPct val="100000"/>
              </a:lnSpc>
            </a:pPr>
            <a:r>
              <a:rPr sz="1100" b="1" i="0">
                <a:solidFill>
                  <a:srgbClr val="202729"/>
                </a:solidFill>
                <a:latin typeface="Poppins"/>
              </a:rPr>
              <a:t>0.366 ± 0.024</a:t>
            </a:r>
          </a:p>
        </p:txBody>
      </p:sp>
      <p:sp>
        <p:nvSpPr>
          <p:cNvPr id="12" name="TextBox 11"/>
          <p:cNvSpPr txBox="1"/>
          <p:nvPr/>
        </p:nvSpPr>
        <p:spPr>
          <a:xfrm>
            <a:off x="5623560" y="2157984"/>
            <a:ext cx="2103120" cy="256032"/>
          </a:xfrm>
          <a:prstGeom prst="rect">
            <a:avLst/>
          </a:prstGeom>
          <a:noFill/>
        </p:spPr>
        <p:txBody>
          <a:bodyPr wrap="square" anchor="t">
            <a:spAutoFit/>
          </a:bodyPr>
          <a:lstStyle/>
          <a:p>
            <a:pPr algn="l">
              <a:lnSpc>
                <a:spcPct val="100000"/>
              </a:lnSpc>
            </a:pPr>
            <a:r>
              <a:rPr sz="1100" b="0" i="0">
                <a:solidFill>
                  <a:srgbClr val="202729"/>
                </a:solidFill>
                <a:latin typeface="Poppins"/>
              </a:rPr>
              <a:t>0-back + reconfiguration</a:t>
            </a:r>
          </a:p>
        </p:txBody>
      </p:sp>
      <p:sp>
        <p:nvSpPr>
          <p:cNvPr id="13" name="TextBox 12"/>
          <p:cNvSpPr txBox="1"/>
          <p:nvPr/>
        </p:nvSpPr>
        <p:spPr>
          <a:xfrm>
            <a:off x="7635240" y="2157984"/>
            <a:ext cx="1097280" cy="256032"/>
          </a:xfrm>
          <a:prstGeom prst="rect">
            <a:avLst/>
          </a:prstGeom>
          <a:noFill/>
        </p:spPr>
        <p:txBody>
          <a:bodyPr wrap="square" anchor="t">
            <a:spAutoFit/>
          </a:bodyPr>
          <a:lstStyle/>
          <a:p>
            <a:pPr algn="r">
              <a:lnSpc>
                <a:spcPct val="100000"/>
              </a:lnSpc>
            </a:pPr>
            <a:r>
              <a:rPr sz="1100" b="1" i="0">
                <a:solidFill>
                  <a:srgbClr val="202729"/>
                </a:solidFill>
                <a:latin typeface="Poppins"/>
              </a:rPr>
              <a:t>0.333 ± 0.026</a:t>
            </a:r>
          </a:p>
        </p:txBody>
      </p:sp>
      <p:sp>
        <p:nvSpPr>
          <p:cNvPr id="14" name="TextBox 13"/>
          <p:cNvSpPr txBox="1"/>
          <p:nvPr/>
        </p:nvSpPr>
        <p:spPr>
          <a:xfrm>
            <a:off x="5623560" y="2450591"/>
            <a:ext cx="2103120" cy="256032"/>
          </a:xfrm>
          <a:prstGeom prst="rect">
            <a:avLst/>
          </a:prstGeom>
          <a:noFill/>
        </p:spPr>
        <p:txBody>
          <a:bodyPr wrap="square" anchor="t">
            <a:spAutoFit/>
          </a:bodyPr>
          <a:lstStyle/>
          <a:p>
            <a:pPr algn="l">
              <a:lnSpc>
                <a:spcPct val="100000"/>
              </a:lnSpc>
            </a:pPr>
            <a:r>
              <a:rPr sz="1100" b="0" i="0">
                <a:solidFill>
                  <a:srgbClr val="202729"/>
                </a:solidFill>
                <a:latin typeface="Poppins"/>
              </a:rPr>
              <a:t>Activation contrast</a:t>
            </a:r>
          </a:p>
        </p:txBody>
      </p:sp>
      <p:sp>
        <p:nvSpPr>
          <p:cNvPr id="15" name="TextBox 14"/>
          <p:cNvSpPr txBox="1"/>
          <p:nvPr/>
        </p:nvSpPr>
        <p:spPr>
          <a:xfrm>
            <a:off x="7635240" y="2450591"/>
            <a:ext cx="1097280" cy="256032"/>
          </a:xfrm>
          <a:prstGeom prst="rect">
            <a:avLst/>
          </a:prstGeom>
          <a:noFill/>
        </p:spPr>
        <p:txBody>
          <a:bodyPr wrap="square" anchor="t">
            <a:spAutoFit/>
          </a:bodyPr>
          <a:lstStyle/>
          <a:p>
            <a:pPr algn="r">
              <a:lnSpc>
                <a:spcPct val="100000"/>
              </a:lnSpc>
            </a:pPr>
            <a:r>
              <a:rPr sz="1100" b="1" i="0">
                <a:solidFill>
                  <a:srgbClr val="202729"/>
                </a:solidFill>
                <a:latin typeface="Poppins"/>
              </a:rPr>
              <a:t>0.600 ± 0.016</a:t>
            </a:r>
          </a:p>
        </p:txBody>
      </p:sp>
      <p:sp>
        <p:nvSpPr>
          <p:cNvPr id="16" name="Rectangle 15"/>
          <p:cNvSpPr/>
          <p:nvPr/>
        </p:nvSpPr>
        <p:spPr>
          <a:xfrm>
            <a:off x="5623560" y="2798063"/>
            <a:ext cx="3108960" cy="13716"/>
          </a:xfrm>
          <a:prstGeom prst="rect">
            <a:avLst/>
          </a:prstGeom>
          <a:solidFill>
            <a:srgbClr val="B8B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23560" y="2889503"/>
            <a:ext cx="3108960" cy="457200"/>
          </a:xfrm>
          <a:prstGeom prst="rect">
            <a:avLst/>
          </a:prstGeom>
          <a:noFill/>
        </p:spPr>
        <p:txBody>
          <a:bodyPr wrap="square" anchor="t">
            <a:spAutoFit/>
          </a:bodyPr>
          <a:lstStyle/>
          <a:p>
            <a:pPr algn="l">
              <a:lnSpc>
                <a:spcPct val="100000"/>
              </a:lnSpc>
            </a:pPr>
            <a:r>
              <a:rPr sz="950" b="0" i="0">
                <a:solidFill>
                  <a:srgbClr val="705C40"/>
                </a:solidFill>
                <a:latin typeface="Poppins"/>
              </a:rPr>
              <a:t>Reconfiguration over 0-back  ΔR² = +0.0344 ± 0.0225 → no clear gain</a:t>
            </a:r>
          </a:p>
        </p:txBody>
      </p:sp>
      <p:sp>
        <p:nvSpPr>
          <p:cNvPr id="18" name="TextBox 17"/>
          <p:cNvSpPr txBox="1"/>
          <p:nvPr/>
        </p:nvSpPr>
        <p:spPr>
          <a:xfrm>
            <a:off x="5623560" y="3200399"/>
            <a:ext cx="3108960" cy="457200"/>
          </a:xfrm>
          <a:prstGeom prst="rect">
            <a:avLst/>
          </a:prstGeom>
          <a:noFill/>
        </p:spPr>
        <p:txBody>
          <a:bodyPr wrap="square" anchor="t">
            <a:spAutoFit/>
          </a:bodyPr>
          <a:lstStyle/>
          <a:p>
            <a:pPr algn="l">
              <a:lnSpc>
                <a:spcPct val="100000"/>
              </a:lnSpc>
            </a:pPr>
            <a:r>
              <a:rPr sz="950" b="0" i="0">
                <a:solidFill>
                  <a:srgbClr val="705C40"/>
                </a:solidFill>
                <a:latin typeface="Poppins"/>
              </a:rPr>
              <a:t>FC over activation  ΔR² = −0.0030 ± 0.0065 → no clear gain</a:t>
            </a:r>
          </a:p>
        </p:txBody>
      </p:sp>
      <p:sp>
        <p:nvSpPr>
          <p:cNvPr id="19" name="TextBox 18"/>
          <p:cNvSpPr txBox="1"/>
          <p:nvPr/>
        </p:nvSpPr>
        <p:spPr>
          <a:xfrm>
            <a:off x="5623560" y="3566159"/>
            <a:ext cx="3108960" cy="1219200"/>
          </a:xfrm>
          <a:prstGeom prst="rect">
            <a:avLst/>
          </a:prstGeom>
          <a:noFill/>
        </p:spPr>
        <p:txBody>
          <a:bodyPr wrap="square" anchor="t">
            <a:spAutoFit/>
          </a:bodyPr>
          <a:lstStyle/>
          <a:p>
            <a:pPr algn="l">
              <a:lnSpc>
                <a:spcPct val="100000"/>
              </a:lnSpc>
            </a:pPr>
            <a:r>
              <a:rPr sz="900" b="0" i="1">
                <a:solidFill>
                  <a:srgbClr val="B8B8B8"/>
                </a:solidFill>
                <a:latin typeface="Poppins"/>
              </a:rPr>
              <a:t>Open squares = held-out cross-run generalization. 0-back activation alone predicts as well (0.571) — the benchmark is not load-specific. No biological winner is claimed. Post hoc, unmatched: 360 regional activation vs 78 network FC features. Activation = mean BOLD(2-back) − mean BOLD(0-back), not a GLM beta. Vascular reactivity (CVR) not controlled.</a:t>
            </a:r>
          </a:p>
        </p:txBody>
      </p:sp>
      <p:sp>
        <p:nvSpPr>
          <p:cNvPr id="20" name="TextBox 6"/>
          <p:cNvSpPr txBox="1"/>
          <p:nvPr/>
        </p:nvSpPr>
        <p:spPr>
          <a:xfrm>
            <a:off x="411480" y="4165600"/>
            <a:ext cx="5074920" cy="584200"/>
          </a:xfrm>
          <a:prstGeom prst="rect">
            <a:avLst/>
          </a:prstGeom>
          <a:noFill/>
        </p:spPr>
        <p:txBody>
          <a:bodyPr wrap="square" anchor="t">
            <a:spAutoFit/>
          </a:bodyPr>
          <a:lstStyle/>
          <a:p>
            <a:pPr algn="l">
              <a:lnSpc>
                <a:spcPct val="100000"/>
              </a:lnSpc>
            </a:pPr>
            <a:r>
              <a:rPr sz="900" b="1" i="1">
                <a:solidFill>
                  <a:srgbClr val="B8B8B8"/>
                </a:solidFill>
                <a:latin typeface="Poppins"/>
              </a:rPr>
              <a:t>Direction, as predicted—but only at group level:</a:t>
            </a:r>
          </a:p>
          <a:p>
            <a:pPr algn="l">
              <a:lnSpc>
                <a:spcPct val="100000"/>
              </a:lnSpc>
            </a:pPr>
            <a:r>
              <a:rPr sz="900" b="0" i="1">
                <a:solidFill>
                  <a:srgbClr val="B8B8B8"/>
                </a:solidFill>
                <a:latin typeface="Poppins"/>
              </a:rPr>
              <a:t>segregation fell under load (Δ = −0.0236; p = 3.45 × 10⁻⁵), yet larger shifts did not predict better performance (r = −0.105; p = .054).</a:t>
            </a:r>
          </a:p>
        </p:txBody>
      </p:sp>
      <p:pic>
        <p:nvPicPr>
          <p:cNvPr id="21" name="Picture 20" descr="activation-robustness.png"/>
          <p:cNvPicPr>
            <a:picLocks noChangeAspect="1"/>
          </p:cNvPicPr>
          <p:nvPr/>
        </p:nvPicPr>
        <p:blipFill>
          <a:blip r:embed="rId5"/>
          <a:stretch>
            <a:fillRect/>
          </a:stretch>
        </p:blipFill>
        <p:spPr>
          <a:xfrm>
            <a:off x="411480" y="1244600"/>
            <a:ext cx="5969000" cy="335787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4828032"/>
            <a:ext cx="5029200" cy="256032"/>
          </a:xfrm>
          <a:prstGeom prst="rect">
            <a:avLst/>
          </a:prstGeom>
          <a:noFill/>
        </p:spPr>
        <p:txBody>
          <a:bodyPr wrap="square" anchor="t">
            <a:spAutoFit/>
          </a:bodyPr>
          <a:lstStyle/>
          <a:p>
            <a:pPr algn="l">
              <a:lnSpc>
                <a:spcPct val="100000"/>
              </a:lnSpc>
            </a:pPr>
            <a:r>
              <a:rPr sz="800" b="0" i="0">
                <a:solidFill>
                  <a:srgbClr val="B8B8B8"/>
                </a:solidFill>
                <a:latin typeface="Poppins"/>
              </a:rPr>
              <a:t>THE GAMMAS · NMA COMPUTATIONAL NEUROSCIENCE 2026</a:t>
            </a:r>
          </a:p>
        </p:txBody>
      </p:sp>
      <p:sp>
        <p:nvSpPr>
          <p:cNvPr id="3" name="TextBox 2"/>
          <p:cNvSpPr txBox="1"/>
          <p:nvPr/>
        </p:nvSpPr>
        <p:spPr>
          <a:xfrm>
            <a:off x="8138160" y="4828032"/>
            <a:ext cx="594360" cy="256032"/>
          </a:xfrm>
          <a:prstGeom prst="rect">
            <a:avLst/>
          </a:prstGeom>
          <a:noFill/>
        </p:spPr>
        <p:txBody>
          <a:bodyPr wrap="square" anchor="t">
            <a:spAutoFit/>
          </a:bodyPr>
          <a:lstStyle/>
          <a:p>
            <a:pPr algn="r">
              <a:lnSpc>
                <a:spcPct val="100000"/>
              </a:lnSpc>
            </a:pPr>
            <a:r>
              <a:rPr sz="800" b="0" i="0">
                <a:solidFill>
                  <a:srgbClr val="B8B8B8"/>
                </a:solidFill>
                <a:latin typeface="Poppins"/>
              </a:rPr>
              <a:t>7 / 11</a:t>
            </a:r>
          </a:p>
        </p:txBody>
      </p:sp>
      <p:sp>
        <p:nvSpPr>
          <p:cNvPr id="4" name="TextBox 3"/>
          <p:cNvSpPr txBox="1"/>
          <p:nvPr/>
        </p:nvSpPr>
        <p:spPr>
          <a:xfrm>
            <a:off x="411480" y="128016"/>
            <a:ext cx="8321040" cy="219456"/>
          </a:xfrm>
          <a:prstGeom prst="rect">
            <a:avLst/>
          </a:prstGeom>
          <a:noFill/>
        </p:spPr>
        <p:txBody>
          <a:bodyPr wrap="square" anchor="t">
            <a:spAutoFit/>
          </a:bodyPr>
          <a:lstStyle/>
          <a:p>
            <a:pPr algn="r">
              <a:lnSpc>
                <a:spcPct val="100000"/>
              </a:lnSpc>
            </a:pPr>
            <a:r>
              <a:rPr sz="850" b="0" i="1">
                <a:solidFill>
                  <a:srgbClr val="B8B8B8"/>
                </a:solidFill>
                <a:latin typeface="Poppins"/>
              </a:rPr>
              <a:t>SPOKEN · 5 / 5 · KEEP VISIBLE FOR Q&amp;A</a:t>
            </a:r>
          </a:p>
        </p:txBody>
      </p:sp>
      <p:sp>
        <p:nvSpPr>
          <p:cNvPr id="5" name="TextBox 4"/>
          <p:cNvSpPr txBox="1"/>
          <p:nvPr/>
        </p:nvSpPr>
        <p:spPr>
          <a:xfrm>
            <a:off x="411480" y="384048"/>
            <a:ext cx="8321040" cy="822960"/>
          </a:xfrm>
          <a:prstGeom prst="rect">
            <a:avLst/>
          </a:prstGeom>
          <a:noFill/>
        </p:spPr>
        <p:txBody>
          <a:bodyPr wrap="square" anchor="t">
            <a:spAutoFit/>
          </a:bodyPr>
          <a:lstStyle/>
          <a:p>
            <a:pPr algn="l">
              <a:lnSpc>
                <a:spcPct val="100000"/>
              </a:lnSpc>
            </a:pPr>
            <a:r>
              <a:rPr sz="2000" b="1" i="0">
                <a:solidFill>
                  <a:srgbClr val="202729"/>
                </a:solidFill>
                <a:latin typeface="Poppins"/>
              </a:rPr>
              <a:t>Predictive signal survives; connectivity-specific mechanism remains unresolved</a:t>
            </a:r>
          </a:p>
        </p:txBody>
      </p:sp>
      <p:sp>
        <p:nvSpPr>
          <p:cNvPr id="6" name="Rectangle 5"/>
          <p:cNvSpPr/>
          <p:nvPr/>
        </p:nvSpPr>
        <p:spPr>
          <a:xfrm>
            <a:off x="406400" y="1371600"/>
            <a:ext cx="2590800" cy="3657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400" y="1481328"/>
            <a:ext cx="2590800" cy="320040"/>
          </a:xfrm>
          <a:prstGeom prst="rect">
            <a:avLst/>
          </a:prstGeom>
          <a:noFill/>
        </p:spPr>
        <p:txBody>
          <a:bodyPr wrap="square" anchor="t">
            <a:spAutoFit/>
          </a:bodyPr>
          <a:lstStyle/>
          <a:p>
            <a:pPr algn="l">
              <a:lnSpc>
                <a:spcPct val="100000"/>
              </a:lnSpc>
            </a:pPr>
            <a:r>
              <a:rPr sz="1500" b="1" i="0">
                <a:solidFill>
                  <a:srgbClr val="0072B2"/>
                </a:solidFill>
                <a:latin typeface="Poppins"/>
              </a:rPr>
              <a:t>Survives</a:t>
            </a:r>
          </a:p>
        </p:txBody>
      </p:sp>
      <p:sp>
        <p:nvSpPr>
          <p:cNvPr id="8" name="TextBox 7"/>
          <p:cNvSpPr txBox="1"/>
          <p:nvPr/>
        </p:nvSpPr>
        <p:spPr>
          <a:xfrm>
            <a:off x="406400" y="1874519"/>
            <a:ext cx="2590800" cy="2834640"/>
          </a:xfrm>
          <a:prstGeom prst="rect">
            <a:avLst/>
          </a:prstGeom>
          <a:noFill/>
        </p:spPr>
        <p:txBody>
          <a:bodyPr wrap="square">
            <a:spAutoFit/>
          </a:bodyPr>
          <a:lstStyle/>
          <a:p>
            <a:pPr>
              <a:spcAft>
                <a:spcPts val="800"/>
              </a:spcAft>
            </a:pPr>
            <a:r>
              <a:rPr sz="1100" b="0">
                <a:solidFill>
                  <a:srgbClr val="202729"/>
                </a:solidFill>
                <a:latin typeface="Poppins"/>
              </a:rPr>
              <a:t>•  Pattern hypothesis: a 78-feature FC difference predicts unseen 2-back accuracy.</a:t>
            </a:r>
          </a:p>
          <a:p>
            <a:pPr>
              <a:spcAft>
                <a:spcPts val="800"/>
              </a:spcAft>
            </a:pPr>
            <a:r>
              <a:rPr sz="1100" b="0">
                <a:solidFill>
                  <a:srgbClr val="202729"/>
                </a:solidFill>
                <a:latin typeface="Poppins"/>
              </a:rPr>
              <a:t>•  The model transfers across identity-disjoint same-HCP cohorts.</a:t>
            </a:r>
          </a:p>
        </p:txBody>
      </p:sp>
      <p:sp>
        <p:nvSpPr>
          <p:cNvPr id="9" name="Rectangle 8"/>
          <p:cNvSpPr/>
          <p:nvPr/>
        </p:nvSpPr>
        <p:spPr>
          <a:xfrm>
            <a:off x="3200400" y="1371600"/>
            <a:ext cx="2590800" cy="36576"/>
          </a:xfrm>
          <a:prstGeom prst="rect">
            <a:avLst/>
          </a:prstGeom>
          <a:solidFill>
            <a:srgbClr val="705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1481328"/>
            <a:ext cx="2590800" cy="320040"/>
          </a:xfrm>
          <a:prstGeom prst="rect">
            <a:avLst/>
          </a:prstGeom>
          <a:noFill/>
        </p:spPr>
        <p:txBody>
          <a:bodyPr wrap="square" anchor="t">
            <a:spAutoFit/>
          </a:bodyPr>
          <a:lstStyle/>
          <a:p>
            <a:pPr algn="l">
              <a:lnSpc>
                <a:spcPct val="100000"/>
              </a:lnSpc>
            </a:pPr>
            <a:r>
              <a:rPr sz="1500" b="1" i="0">
                <a:solidFill>
                  <a:srgbClr val="705C40"/>
                </a:solidFill>
                <a:latin typeface="Poppins"/>
              </a:rPr>
              <a:t>Refined</a:t>
            </a:r>
          </a:p>
        </p:txBody>
      </p:sp>
      <p:sp>
        <p:nvSpPr>
          <p:cNvPr id="11" name="TextBox 10"/>
          <p:cNvSpPr txBox="1"/>
          <p:nvPr/>
        </p:nvSpPr>
        <p:spPr>
          <a:xfrm>
            <a:off x="3200400" y="1874519"/>
            <a:ext cx="2590800" cy="2834640"/>
          </a:xfrm>
          <a:prstGeom prst="rect">
            <a:avLst/>
          </a:prstGeom>
          <a:noFill/>
        </p:spPr>
        <p:txBody>
          <a:bodyPr wrap="square">
            <a:spAutoFit/>
          </a:bodyPr>
          <a:lstStyle/>
          <a:p>
            <a:pPr>
              <a:spcAft>
                <a:spcPts val="800"/>
              </a:spcAft>
            </a:pPr>
            <a:r>
              <a:rPr sz="1100" b="0">
                <a:solidFill>
                  <a:srgbClr val="202729"/>
                </a:solidFill>
                <a:latin typeface="Poppins"/>
              </a:rPr>
              <a:t>•  Directional hypothesis: segregation fell under load, but larger shifts did not predict better performance.</a:t>
            </a:r>
          </a:p>
          <a:p>
            <a:pPr>
              <a:spcAft>
                <a:spcPts val="800"/>
              </a:spcAft>
            </a:pPr>
            <a:r>
              <a:rPr sz="1100" b="0">
                <a:solidFill>
                  <a:srgbClr val="202729"/>
                </a:solidFill>
                <a:latin typeface="Poppins"/>
              </a:rPr>
              <a:t>•  Reconfiguration showed no clear gain beyond 0-back FC.</a:t>
            </a:r>
          </a:p>
          <a:p>
            <a:pPr>
              <a:spcAft>
                <a:spcPts val="800"/>
              </a:spcAft>
            </a:pPr>
            <a:r>
              <a:rPr sz="1100" b="0">
                <a:solidFill>
                  <a:srgbClr val="202729"/>
                </a:solidFill>
                <a:latin typeface="Poppins"/>
              </a:rPr>
              <a:t>•  FC added no clear gain over activation under the current unmatched comparison.</a:t>
            </a:r>
          </a:p>
        </p:txBody>
      </p:sp>
      <p:sp>
        <p:nvSpPr>
          <p:cNvPr id="12" name="Rectangle 11"/>
          <p:cNvSpPr/>
          <p:nvPr/>
        </p:nvSpPr>
        <p:spPr>
          <a:xfrm>
            <a:off x="5994400" y="1371600"/>
            <a:ext cx="2730500" cy="36576"/>
          </a:xfrm>
          <a:prstGeom prst="rect">
            <a:avLst/>
          </a:prstGeom>
          <a:solidFill>
            <a:srgbClr val="202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94400" y="1481328"/>
            <a:ext cx="2730500" cy="320040"/>
          </a:xfrm>
          <a:prstGeom prst="rect">
            <a:avLst/>
          </a:prstGeom>
          <a:noFill/>
        </p:spPr>
        <p:txBody>
          <a:bodyPr wrap="square" anchor="t">
            <a:spAutoFit/>
          </a:bodyPr>
          <a:lstStyle/>
          <a:p>
            <a:pPr algn="l">
              <a:lnSpc>
                <a:spcPct val="100000"/>
              </a:lnSpc>
            </a:pPr>
            <a:r>
              <a:rPr sz="1500" b="1" i="0">
                <a:solidFill>
                  <a:srgbClr val="202729"/>
                </a:solidFill>
                <a:latin typeface="Poppins"/>
              </a:rPr>
              <a:t>Unresolved</a:t>
            </a:r>
          </a:p>
        </p:txBody>
      </p:sp>
      <p:sp>
        <p:nvSpPr>
          <p:cNvPr id="14" name="TextBox 13"/>
          <p:cNvSpPr txBox="1"/>
          <p:nvPr/>
        </p:nvSpPr>
        <p:spPr>
          <a:xfrm>
            <a:off x="5994400" y="1874519"/>
            <a:ext cx="2730500" cy="2834640"/>
          </a:xfrm>
          <a:prstGeom prst="rect">
            <a:avLst/>
          </a:prstGeom>
          <a:noFill/>
        </p:spPr>
        <p:txBody>
          <a:bodyPr wrap="square">
            <a:spAutoFit/>
          </a:bodyPr>
          <a:lstStyle/>
          <a:p>
            <a:pPr>
              <a:spcAft>
                <a:spcPts val="800"/>
              </a:spcAft>
            </a:pPr>
            <a:r>
              <a:rPr sz="1100" b="0">
                <a:solidFill>
                  <a:srgbClr val="202729"/>
                </a:solidFill>
                <a:latin typeface="Poppins"/>
              </a:rPr>
              <a:t>•  Is predictive information connectivity-specific rather than shared with task activation?</a:t>
            </a:r>
          </a:p>
          <a:p>
            <a:pPr>
              <a:spcAft>
                <a:spcPts val="800"/>
              </a:spcAft>
            </a:pPr>
            <a:r>
              <a:rPr sz="1100" b="0">
                <a:solidFill>
                  <a:srgbClr val="202729"/>
                </a:solidFill>
                <a:latin typeface="Poppins"/>
              </a:rPr>
              <a:t>•  Vascular reactivity (CVR) is not controlled in the activation benchmark.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4828032"/>
            <a:ext cx="5029200" cy="256032"/>
          </a:xfrm>
          <a:prstGeom prst="rect">
            <a:avLst/>
          </a:prstGeom>
          <a:noFill/>
        </p:spPr>
        <p:txBody>
          <a:bodyPr wrap="square" anchor="t">
            <a:spAutoFit/>
          </a:bodyPr>
          <a:lstStyle/>
          <a:p>
            <a:pPr algn="l">
              <a:lnSpc>
                <a:spcPct val="100000"/>
              </a:lnSpc>
            </a:pPr>
            <a:r>
              <a:rPr sz="800" b="0" i="0">
                <a:solidFill>
                  <a:srgbClr val="B8B8B8"/>
                </a:solidFill>
                <a:latin typeface="Poppins"/>
              </a:rPr>
              <a:t>THE GAMMAS · NMA COMPUTATIONAL NEUROSCIENCE 2026</a:t>
            </a:r>
          </a:p>
        </p:txBody>
      </p:sp>
      <p:sp>
        <p:nvSpPr>
          <p:cNvPr id="3" name="TextBox 2"/>
          <p:cNvSpPr txBox="1"/>
          <p:nvPr/>
        </p:nvSpPr>
        <p:spPr>
          <a:xfrm>
            <a:off x="8138160" y="4828032"/>
            <a:ext cx="594360" cy="256032"/>
          </a:xfrm>
          <a:prstGeom prst="rect">
            <a:avLst/>
          </a:prstGeom>
          <a:noFill/>
        </p:spPr>
        <p:txBody>
          <a:bodyPr wrap="square" anchor="t">
            <a:spAutoFit/>
          </a:bodyPr>
          <a:lstStyle/>
          <a:p>
            <a:pPr algn="r">
              <a:lnSpc>
                <a:spcPct val="100000"/>
              </a:lnSpc>
            </a:pPr>
            <a:r>
              <a:rPr sz="800" b="0" i="0">
                <a:solidFill>
                  <a:srgbClr val="B8B8B8"/>
                </a:solidFill>
                <a:latin typeface="Poppins"/>
              </a:rPr>
              <a:t>8 / 11</a:t>
            </a:r>
          </a:p>
        </p:txBody>
      </p:sp>
      <p:sp>
        <p:nvSpPr>
          <p:cNvPr id="4" name="TextBox 3"/>
          <p:cNvSpPr txBox="1"/>
          <p:nvPr/>
        </p:nvSpPr>
        <p:spPr>
          <a:xfrm>
            <a:off x="411480" y="128016"/>
            <a:ext cx="8321040" cy="219456"/>
          </a:xfrm>
          <a:prstGeom prst="rect">
            <a:avLst/>
          </a:prstGeom>
          <a:noFill/>
        </p:spPr>
        <p:txBody>
          <a:bodyPr wrap="square" anchor="t">
            <a:spAutoFit/>
          </a:bodyPr>
          <a:lstStyle/>
          <a:p>
            <a:pPr algn="r">
              <a:lnSpc>
                <a:spcPct val="100000"/>
              </a:lnSpc>
            </a:pPr>
            <a:r>
              <a:rPr sz="850" b="0" i="1">
                <a:solidFill>
                  <a:srgbClr val="B8B8B8"/>
                </a:solidFill>
                <a:latin typeface="Poppins"/>
              </a:rPr>
              <a:t>BACKUP · OPEN ONLY IF ASKED</a:t>
            </a:r>
          </a:p>
        </p:txBody>
      </p:sp>
      <p:sp>
        <p:nvSpPr>
          <p:cNvPr id="5" name="TextBox 4"/>
          <p:cNvSpPr txBox="1"/>
          <p:nvPr/>
        </p:nvSpPr>
        <p:spPr>
          <a:xfrm>
            <a:off x="411480" y="384048"/>
            <a:ext cx="8321040" cy="822960"/>
          </a:xfrm>
          <a:prstGeom prst="rect">
            <a:avLst/>
          </a:prstGeom>
          <a:noFill/>
        </p:spPr>
        <p:txBody>
          <a:bodyPr wrap="square" anchor="t">
            <a:spAutoFit/>
          </a:bodyPr>
          <a:lstStyle/>
          <a:p>
            <a:pPr algn="l">
              <a:lnSpc>
                <a:spcPct val="100000"/>
              </a:lnSpc>
            </a:pPr>
            <a:r>
              <a:rPr sz="2400" b="1" i="0">
                <a:solidFill>
                  <a:srgbClr val="202729"/>
                </a:solidFill>
                <a:latin typeface="Poppins"/>
              </a:rPr>
              <a:t>Group direction was real; the individual link was weak</a:t>
            </a:r>
          </a:p>
        </p:txBody>
      </p:sp>
      <p:sp>
        <p:nvSpPr>
          <p:cNvPr id="7" name="TextBox 6"/>
          <p:cNvSpPr txBox="1"/>
          <p:nvPr/>
        </p:nvSpPr>
        <p:spPr>
          <a:xfrm>
            <a:off x="5532120" y="1463040"/>
            <a:ext cx="3200400" cy="1828800"/>
          </a:xfrm>
          <a:prstGeom prst="rect">
            <a:avLst/>
          </a:prstGeom>
          <a:noFill/>
        </p:spPr>
        <p:txBody>
          <a:bodyPr wrap="square">
            <a:spAutoFit/>
          </a:bodyPr>
          <a:lstStyle/>
          <a:p>
            <a:pPr>
              <a:spcAft>
                <a:spcPts val="1200"/>
              </a:spcAft>
            </a:pPr>
            <a:r>
              <a:rPr sz="1300" b="0">
                <a:solidFill>
                  <a:srgbClr val="202729"/>
                </a:solidFill>
                <a:latin typeface="Poppins"/>
              </a:rPr>
              <a:t>•  Group mean: 0-back 0.3271 → 2-back 0.3035</a:t>
            </a:r>
          </a:p>
          <a:p>
            <a:pPr>
              <a:spcAft>
                <a:spcPts val="1200"/>
              </a:spcAft>
            </a:pPr>
            <a:r>
              <a:rPr sz="1300" b="0">
                <a:solidFill>
                  <a:srgbClr val="202729"/>
                </a:solidFill>
                <a:latin typeface="Poppins"/>
              </a:rPr>
              <a:t>•  Paired change: Δ = −0.0236; p = 3.45 × 10⁻⁵</a:t>
            </a:r>
          </a:p>
          <a:p>
            <a:pPr>
              <a:spcAft>
                <a:spcPts val="1200"/>
              </a:spcAft>
            </a:pPr>
            <a:r>
              <a:rPr sz="1300" b="0">
                <a:solidFill>
                  <a:srgbClr val="202729"/>
                </a:solidFill>
                <a:latin typeface="Poppins"/>
              </a:rPr>
              <a:t>•  Across participants: r = −0.105; p = .054</a:t>
            </a:r>
          </a:p>
        </p:txBody>
      </p:sp>
      <p:sp>
        <p:nvSpPr>
          <p:cNvPr id="8" name="Rectangle 7"/>
          <p:cNvSpPr/>
          <p:nvPr/>
        </p:nvSpPr>
        <p:spPr>
          <a:xfrm>
            <a:off x="5532120" y="3383280"/>
            <a:ext cx="3200400" cy="18288"/>
          </a:xfrm>
          <a:prstGeom prst="rect">
            <a:avLst/>
          </a:prstGeom>
          <a:solidFill>
            <a:srgbClr val="202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32120" y="3520440"/>
            <a:ext cx="3200400" cy="914400"/>
          </a:xfrm>
          <a:prstGeom prst="rect">
            <a:avLst/>
          </a:prstGeom>
          <a:noFill/>
        </p:spPr>
        <p:txBody>
          <a:bodyPr wrap="square" anchor="t">
            <a:spAutoFit/>
          </a:bodyPr>
          <a:lstStyle/>
          <a:p>
            <a:pPr algn="l">
              <a:lnSpc>
                <a:spcPct val="100000"/>
              </a:lnSpc>
            </a:pPr>
            <a:r>
              <a:rPr sz="1350" b="1" i="0">
                <a:solidFill>
                  <a:srgbClr val="202729"/>
                </a:solidFill>
                <a:latin typeface="Poppins"/>
              </a:rPr>
              <a:t>A mean load effect did not convincingly predict who performed better.</a:t>
            </a:r>
          </a:p>
        </p:txBody>
      </p:sp>
      <p:pic>
        <p:nvPicPr>
          <p:cNvPr id="10" name="Picture 9" descr="segregation-refinement.png"/>
          <p:cNvPicPr>
            <a:picLocks noChangeAspect="1"/>
          </p:cNvPicPr>
          <p:nvPr/>
        </p:nvPicPr>
        <p:blipFill>
          <a:blip r:embed="rId5"/>
          <a:stretch>
            <a:fillRect/>
          </a:stretch>
        </p:blipFill>
        <p:spPr>
          <a:xfrm>
            <a:off x="411480" y="1244600"/>
            <a:ext cx="5969000" cy="335787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4828032"/>
            <a:ext cx="5029200" cy="256032"/>
          </a:xfrm>
          <a:prstGeom prst="rect">
            <a:avLst/>
          </a:prstGeom>
          <a:noFill/>
        </p:spPr>
        <p:txBody>
          <a:bodyPr wrap="square" anchor="t">
            <a:spAutoFit/>
          </a:bodyPr>
          <a:lstStyle/>
          <a:p>
            <a:pPr algn="l">
              <a:lnSpc>
                <a:spcPct val="100000"/>
              </a:lnSpc>
            </a:pPr>
            <a:r>
              <a:rPr sz="800" b="0" i="0">
                <a:solidFill>
                  <a:srgbClr val="B8B8B8"/>
                </a:solidFill>
                <a:latin typeface="Poppins"/>
              </a:rPr>
              <a:t>THE GAMMAS · NMA COMPUTATIONAL NEUROSCIENCE 2026</a:t>
            </a:r>
          </a:p>
        </p:txBody>
      </p:sp>
      <p:sp>
        <p:nvSpPr>
          <p:cNvPr id="3" name="TextBox 2"/>
          <p:cNvSpPr txBox="1"/>
          <p:nvPr/>
        </p:nvSpPr>
        <p:spPr>
          <a:xfrm>
            <a:off x="8138160" y="4828032"/>
            <a:ext cx="594360" cy="256032"/>
          </a:xfrm>
          <a:prstGeom prst="rect">
            <a:avLst/>
          </a:prstGeom>
          <a:noFill/>
        </p:spPr>
        <p:txBody>
          <a:bodyPr wrap="square" anchor="t">
            <a:spAutoFit/>
          </a:bodyPr>
          <a:lstStyle/>
          <a:p>
            <a:pPr algn="r">
              <a:lnSpc>
                <a:spcPct val="100000"/>
              </a:lnSpc>
            </a:pPr>
            <a:r>
              <a:rPr sz="800" b="0" i="0">
                <a:solidFill>
                  <a:srgbClr val="B8B8B8"/>
                </a:solidFill>
                <a:latin typeface="Poppins"/>
              </a:rPr>
              <a:t>9 / 11</a:t>
            </a:r>
          </a:p>
        </p:txBody>
      </p:sp>
      <p:sp>
        <p:nvSpPr>
          <p:cNvPr id="4" name="TextBox 3"/>
          <p:cNvSpPr txBox="1"/>
          <p:nvPr/>
        </p:nvSpPr>
        <p:spPr>
          <a:xfrm>
            <a:off x="411480" y="128016"/>
            <a:ext cx="8321040" cy="219456"/>
          </a:xfrm>
          <a:prstGeom prst="rect">
            <a:avLst/>
          </a:prstGeom>
          <a:noFill/>
        </p:spPr>
        <p:txBody>
          <a:bodyPr wrap="square" anchor="t">
            <a:spAutoFit/>
          </a:bodyPr>
          <a:lstStyle/>
          <a:p>
            <a:pPr algn="r">
              <a:lnSpc>
                <a:spcPct val="100000"/>
              </a:lnSpc>
            </a:pPr>
            <a:r>
              <a:rPr sz="850" b="0" i="1">
                <a:solidFill>
                  <a:srgbClr val="B8B8B8"/>
                </a:solidFill>
                <a:latin typeface="Poppins"/>
              </a:rPr>
              <a:t>BACKUP · OPEN ONLY IF ASKED</a:t>
            </a:r>
          </a:p>
        </p:txBody>
      </p:sp>
      <p:sp>
        <p:nvSpPr>
          <p:cNvPr id="5" name="TextBox 4"/>
          <p:cNvSpPr txBox="1"/>
          <p:nvPr/>
        </p:nvSpPr>
        <p:spPr>
          <a:xfrm>
            <a:off x="411480" y="384048"/>
            <a:ext cx="8321040" cy="822960"/>
          </a:xfrm>
          <a:prstGeom prst="rect">
            <a:avLst/>
          </a:prstGeom>
          <a:noFill/>
        </p:spPr>
        <p:txBody>
          <a:bodyPr wrap="square" anchor="t">
            <a:spAutoFit/>
          </a:bodyPr>
          <a:lstStyle/>
          <a:p>
            <a:pPr algn="l">
              <a:lnSpc>
                <a:spcPct val="100000"/>
              </a:lnSpc>
            </a:pPr>
            <a:r>
              <a:rPr sz="2400" b="1" i="0">
                <a:solidFill>
                  <a:srgbClr val="202729"/>
                </a:solidFill>
                <a:latin typeface="Poppins"/>
              </a:rPr>
              <a:t>The checks behind the primary result</a:t>
            </a:r>
          </a:p>
        </p:txBody>
      </p:sp>
      <p:sp>
        <p:nvSpPr>
          <p:cNvPr id="7" name="TextBox 6"/>
          <p:cNvSpPr txBox="1"/>
          <p:nvPr/>
        </p:nvSpPr>
        <p:spPr>
          <a:xfrm>
            <a:off x="5532120" y="1463040"/>
            <a:ext cx="3200400" cy="1828800"/>
          </a:xfrm>
          <a:prstGeom prst="rect">
            <a:avLst/>
          </a:prstGeom>
          <a:noFill/>
        </p:spPr>
        <p:txBody>
          <a:bodyPr wrap="square">
            <a:spAutoFit/>
          </a:bodyPr>
          <a:lstStyle/>
          <a:p>
            <a:pPr>
              <a:spcAft>
                <a:spcPts val="1200"/>
              </a:spcAft>
            </a:pPr>
            <a:r>
              <a:rPr sz="1300" b="0">
                <a:solidFill>
                  <a:srgbClr val="202729"/>
                </a:solidFill>
                <a:latin typeface="Poppins"/>
              </a:rPr>
              <a:t>•  Fixed holdout: r = 0.312 in 67 unseen participants</a:t>
            </a:r>
          </a:p>
          <a:p>
            <a:pPr>
              <a:spcAft>
                <a:spcPts val="1200"/>
              </a:spcAft>
            </a:pPr>
            <a:r>
              <a:rPr sz="1300" b="0">
                <a:solidFill>
                  <a:srgbClr val="202729"/>
                </a:solidFill>
                <a:latin typeface="Poppins"/>
              </a:rPr>
              <a:t>•  Full-refit null (seed 42): r = 0.405; p = 1/1001 ≈ .001</a:t>
            </a:r>
          </a:p>
          <a:p>
            <a:pPr>
              <a:spcAft>
                <a:spcPts val="1200"/>
              </a:spcAft>
            </a:pPr>
            <a:r>
              <a:rPr sz="1300" b="0">
                <a:solidFill>
                  <a:srgbClr val="202729"/>
                </a:solidFill>
                <a:latin typeface="Poppins"/>
              </a:rPr>
              <a:t>•  B→A A-label permutation, fixed B predictions: p = 1/1001 ≈ .001</a:t>
            </a:r>
          </a:p>
          <a:p>
            <a:pPr>
              <a:spcAft>
                <a:spcPts val="1200"/>
              </a:spcAft>
            </a:pPr>
            <a:r>
              <a:rPr sz="1300" b="0">
                <a:solidFill>
                  <a:srgbClr val="202729"/>
                </a:solidFill>
                <a:latin typeface="Poppins"/>
              </a:rPr>
              <a:t>•  Reconfiguration over 0-back FC: ΔR² = +0.0344 ± 0.0225 → no clear gain</a:t>
            </a:r>
          </a:p>
        </p:txBody>
      </p:sp>
      <p:sp>
        <p:nvSpPr>
          <p:cNvPr id="8" name="Rectangle 7"/>
          <p:cNvSpPr/>
          <p:nvPr/>
        </p:nvSpPr>
        <p:spPr>
          <a:xfrm>
            <a:off x="5532120" y="3383280"/>
            <a:ext cx="3200400" cy="18288"/>
          </a:xfrm>
          <a:prstGeom prst="rect">
            <a:avLst/>
          </a:prstGeom>
          <a:solidFill>
            <a:srgbClr val="202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32120" y="3520440"/>
            <a:ext cx="3200400" cy="914400"/>
          </a:xfrm>
          <a:prstGeom prst="rect">
            <a:avLst/>
          </a:prstGeom>
          <a:noFill/>
        </p:spPr>
        <p:txBody>
          <a:bodyPr wrap="square" anchor="t">
            <a:spAutoFit/>
          </a:bodyPr>
          <a:lstStyle/>
          <a:p>
            <a:pPr algn="l">
              <a:lnSpc>
                <a:spcPct val="100000"/>
              </a:lnSpc>
            </a:pPr>
            <a:r>
              <a:rPr sz="1350" b="1" i="0">
                <a:solidFill>
                  <a:srgbClr val="202729"/>
                </a:solidFill>
                <a:latin typeface="Poppins"/>
              </a:rPr>
              <a:t>The permutation p belongs only to seed-42 r = 0.405; the holdout is a separate split.</a:t>
            </a:r>
          </a:p>
        </p:txBody>
      </p:sp>
      <p:pic>
        <p:nvPicPr>
          <p:cNvPr id="10" name="Picture 9" descr="null-and-holdout.png"/>
          <p:cNvPicPr>
            <a:picLocks noChangeAspect="1"/>
          </p:cNvPicPr>
          <p:nvPr/>
        </p:nvPicPr>
        <p:blipFill>
          <a:blip r:embed="rId5"/>
          <a:stretch>
            <a:fillRect/>
          </a:stretch>
        </p:blipFill>
        <p:spPr>
          <a:xfrm>
            <a:off x="411480" y="1244600"/>
            <a:ext cx="5969000" cy="335787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11480" y="4828032"/>
            <a:ext cx="5029200" cy="256032"/>
          </a:xfrm>
          <a:prstGeom prst="rect">
            <a:avLst/>
          </a:prstGeom>
          <a:noFill/>
        </p:spPr>
        <p:txBody>
          <a:bodyPr wrap="square" anchor="t">
            <a:spAutoFit/>
          </a:bodyPr>
          <a:lstStyle/>
          <a:p>
            <a:pPr algn="l">
              <a:lnSpc>
                <a:spcPct val="100000"/>
              </a:lnSpc>
            </a:pPr>
            <a:r>
              <a:rPr sz="800" b="0" i="0">
                <a:solidFill>
                  <a:srgbClr val="B8B8B8"/>
                </a:solidFill>
                <a:latin typeface="Poppins"/>
              </a:rPr>
              <a:t>THE GAMMAS · NMA COMPUTATIONAL NEUROSCIENCE 2026</a:t>
            </a:r>
          </a:p>
        </p:txBody>
      </p:sp>
      <p:sp>
        <p:nvSpPr>
          <p:cNvPr id="3" name="TextBox 2"/>
          <p:cNvSpPr txBox="1"/>
          <p:nvPr/>
        </p:nvSpPr>
        <p:spPr>
          <a:xfrm>
            <a:off x="8138160" y="4828032"/>
            <a:ext cx="594360" cy="256032"/>
          </a:xfrm>
          <a:prstGeom prst="rect">
            <a:avLst/>
          </a:prstGeom>
          <a:noFill/>
        </p:spPr>
        <p:txBody>
          <a:bodyPr wrap="square" anchor="t">
            <a:spAutoFit/>
          </a:bodyPr>
          <a:lstStyle/>
          <a:p>
            <a:pPr algn="r">
              <a:lnSpc>
                <a:spcPct val="100000"/>
              </a:lnSpc>
            </a:pPr>
            <a:r>
              <a:rPr sz="800" b="0" i="0">
                <a:solidFill>
                  <a:srgbClr val="B8B8B8"/>
                </a:solidFill>
                <a:latin typeface="Poppins"/>
              </a:rPr>
              <a:t>10 / 11</a:t>
            </a:r>
          </a:p>
        </p:txBody>
      </p:sp>
      <p:sp>
        <p:nvSpPr>
          <p:cNvPr id="4" name="TextBox 3"/>
          <p:cNvSpPr txBox="1"/>
          <p:nvPr/>
        </p:nvSpPr>
        <p:spPr>
          <a:xfrm>
            <a:off x="411480" y="128016"/>
            <a:ext cx="8321040" cy="219456"/>
          </a:xfrm>
          <a:prstGeom prst="rect">
            <a:avLst/>
          </a:prstGeom>
          <a:noFill/>
        </p:spPr>
        <p:txBody>
          <a:bodyPr wrap="square" anchor="t">
            <a:spAutoFit/>
          </a:bodyPr>
          <a:lstStyle/>
          <a:p>
            <a:pPr algn="r">
              <a:lnSpc>
                <a:spcPct val="100000"/>
              </a:lnSpc>
            </a:pPr>
            <a:r>
              <a:rPr sz="850" b="0" i="1">
                <a:solidFill>
                  <a:srgbClr val="B8B8B8"/>
                </a:solidFill>
                <a:latin typeface="Poppins"/>
              </a:rPr>
              <a:t>BACKUP · OPEN ONLY IF ASKED</a:t>
            </a:r>
          </a:p>
        </p:txBody>
      </p:sp>
      <p:sp>
        <p:nvSpPr>
          <p:cNvPr id="5" name="TextBox 4"/>
          <p:cNvSpPr txBox="1"/>
          <p:nvPr/>
        </p:nvSpPr>
        <p:spPr>
          <a:xfrm>
            <a:off x="411480" y="384048"/>
            <a:ext cx="8321040" cy="822960"/>
          </a:xfrm>
          <a:prstGeom prst="rect">
            <a:avLst/>
          </a:prstGeom>
          <a:noFill/>
        </p:spPr>
        <p:txBody>
          <a:bodyPr wrap="square" anchor="t">
            <a:spAutoFit/>
          </a:bodyPr>
          <a:lstStyle/>
          <a:p>
            <a:pPr algn="l">
              <a:lnSpc>
                <a:spcPct val="100000"/>
              </a:lnSpc>
            </a:pPr>
            <a:r>
              <a:rPr sz="2400" b="1" i="0">
                <a:solidFill>
                  <a:srgbClr val="202729"/>
                </a:solidFill>
                <a:latin typeface="Poppins"/>
              </a:rPr>
              <a:t>Four tests could resolve the remaining question</a:t>
            </a:r>
          </a:p>
        </p:txBody>
      </p:sp>
      <p:sp>
        <p:nvSpPr>
          <p:cNvPr id="6" name="TextBox 5"/>
          <p:cNvSpPr txBox="1"/>
          <p:nvPr/>
        </p:nvSpPr>
        <p:spPr>
          <a:xfrm>
            <a:off x="548640" y="1554480"/>
            <a:ext cx="8046720" cy="2011680"/>
          </a:xfrm>
          <a:prstGeom prst="rect">
            <a:avLst/>
          </a:prstGeom>
          <a:noFill/>
        </p:spPr>
        <p:txBody>
          <a:bodyPr wrap="square">
            <a:spAutoFit/>
          </a:bodyPr>
          <a:lstStyle/>
          <a:p>
            <a:pPr>
              <a:spcAft>
                <a:spcPts val="1600"/>
              </a:spcAft>
            </a:pPr>
            <a:r>
              <a:rPr sz="1500" b="0">
                <a:solidFill>
                  <a:srgbClr val="202729"/>
                </a:solidFill>
                <a:latin typeface="Poppins"/>
              </a:rPr>
              <a:t>•  1. Match activation and FC dimensionality in nested participant-level CV.</a:t>
            </a:r>
          </a:p>
          <a:p>
            <a:pPr>
              <a:spcAft>
                <a:spcPts val="1600"/>
              </a:spcAft>
            </a:pPr>
            <a:r>
              <a:rPr sz="1500" b="0">
                <a:solidFill>
                  <a:srgbClr val="202729"/>
                </a:solidFill>
                <a:latin typeface="Poppins"/>
              </a:rPr>
              <a:t>•  2. Separate task coactivation from coupling with a prespecified estimator.</a:t>
            </a:r>
          </a:p>
          <a:p>
            <a:pPr>
              <a:spcAft>
                <a:spcPts val="1600"/>
              </a:spcAft>
            </a:pPr>
            <a:r>
              <a:rPr sz="1500" b="0">
                <a:solidFill>
                  <a:srgbClr val="202729"/>
                </a:solidFill>
                <a:latin typeface="Poppins"/>
              </a:rPr>
              <a:t>•  3. Test independent-site, repeat-session, family-aware generalization.</a:t>
            </a:r>
          </a:p>
          <a:p>
            <a:pPr>
              <a:spcAft>
                <a:spcPts val="1600"/>
              </a:spcAft>
            </a:pPr>
            <a:r>
              <a:rPr sz="1500" b="0">
                <a:solidFill>
                  <a:srgbClr val="202729"/>
                </a:solidFill>
                <a:latin typeface="Poppins"/>
              </a:rPr>
              <a:t>•  4. Control the activation contrast for vascular reactivity (CVR).</a:t>
            </a:r>
          </a:p>
        </p:txBody>
      </p:sp>
      <p:sp>
        <p:nvSpPr>
          <p:cNvPr id="7" name="Rectangle 6"/>
          <p:cNvSpPr/>
          <p:nvPr/>
        </p:nvSpPr>
        <p:spPr>
          <a:xfrm>
            <a:off x="548640" y="3520440"/>
            <a:ext cx="8046720" cy="18288"/>
          </a:xfrm>
          <a:prstGeom prst="rect">
            <a:avLst/>
          </a:prstGeom>
          <a:solidFill>
            <a:srgbClr val="202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657600"/>
            <a:ext cx="8046720" cy="640080"/>
          </a:xfrm>
          <a:prstGeom prst="rect">
            <a:avLst/>
          </a:prstGeom>
          <a:noFill/>
        </p:spPr>
        <p:txBody>
          <a:bodyPr wrap="square" anchor="t">
            <a:spAutoFit/>
          </a:bodyPr>
          <a:lstStyle/>
          <a:p>
            <a:pPr algn="l">
              <a:lnSpc>
                <a:spcPct val="100000"/>
              </a:lnSpc>
            </a:pPr>
            <a:r>
              <a:rPr sz="1350" b="1" i="0">
                <a:solidFill>
                  <a:srgbClr val="202729"/>
                </a:solidFill>
                <a:latin typeface="Poppins"/>
              </a:rPr>
              <a:t>Decision criterion: FC must add reliable held-out value beyond activation and single-condition FC.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11480" y="4828032"/>
            <a:ext cx="5029200" cy="256032"/>
          </a:xfrm>
          <a:prstGeom prst="rect">
            <a:avLst/>
          </a:prstGeom>
          <a:noFill/>
        </p:spPr>
        <p:txBody>
          <a:bodyPr wrap="square" anchor="t">
            <a:spAutoFit/>
          </a:bodyPr>
          <a:lstStyle/>
          <a:p>
            <a:pPr algn="l">
              <a:lnSpc>
                <a:spcPct val="100000"/>
              </a:lnSpc>
            </a:pPr>
            <a:r>
              <a:rPr sz="800" b="0" i="0">
                <a:solidFill>
                  <a:srgbClr val="B8B8B8"/>
                </a:solidFill>
                <a:latin typeface="Poppins"/>
              </a:rPr>
              <a:t>THE GAMMAS · NMA COMPUTATIONAL NEUROSCIENCE 2026</a:t>
            </a:r>
          </a:p>
        </p:txBody>
      </p:sp>
      <p:sp>
        <p:nvSpPr>
          <p:cNvPr id="3" name="TextBox 2"/>
          <p:cNvSpPr txBox="1"/>
          <p:nvPr/>
        </p:nvSpPr>
        <p:spPr>
          <a:xfrm>
            <a:off x="8138160" y="4828032"/>
            <a:ext cx="594360" cy="256032"/>
          </a:xfrm>
          <a:prstGeom prst="rect">
            <a:avLst/>
          </a:prstGeom>
          <a:noFill/>
        </p:spPr>
        <p:txBody>
          <a:bodyPr wrap="square" anchor="t">
            <a:spAutoFit/>
          </a:bodyPr>
          <a:lstStyle/>
          <a:p>
            <a:pPr algn="r">
              <a:lnSpc>
                <a:spcPct val="100000"/>
              </a:lnSpc>
            </a:pPr>
            <a:r>
              <a:rPr sz="800" b="0" i="0">
                <a:solidFill>
                  <a:srgbClr val="B8B8B8"/>
                </a:solidFill>
                <a:latin typeface="Poppins"/>
              </a:rPr>
              <a:t>11 / 11</a:t>
            </a:r>
          </a:p>
        </p:txBody>
      </p:sp>
      <p:sp>
        <p:nvSpPr>
          <p:cNvPr id="4" name="TextBox 3"/>
          <p:cNvSpPr txBox="1"/>
          <p:nvPr/>
        </p:nvSpPr>
        <p:spPr>
          <a:xfrm>
            <a:off x="411480" y="128016"/>
            <a:ext cx="8321040" cy="219456"/>
          </a:xfrm>
          <a:prstGeom prst="rect">
            <a:avLst/>
          </a:prstGeom>
          <a:noFill/>
        </p:spPr>
        <p:txBody>
          <a:bodyPr wrap="square" anchor="t">
            <a:spAutoFit/>
          </a:bodyPr>
          <a:lstStyle/>
          <a:p>
            <a:pPr algn="r">
              <a:lnSpc>
                <a:spcPct val="100000"/>
              </a:lnSpc>
            </a:pPr>
            <a:r>
              <a:rPr sz="850" b="0" i="1">
                <a:solidFill>
                  <a:srgbClr val="B8B8B8"/>
                </a:solidFill>
                <a:latin typeface="Poppins"/>
              </a:rPr>
              <a:t>BACKUP · Q&amp;A ONLY</a:t>
            </a:r>
          </a:p>
        </p:txBody>
      </p:sp>
      <p:sp>
        <p:nvSpPr>
          <p:cNvPr id="5" name="TextBox 4"/>
          <p:cNvSpPr txBox="1"/>
          <p:nvPr/>
        </p:nvSpPr>
        <p:spPr>
          <a:xfrm>
            <a:off x="411480" y="384048"/>
            <a:ext cx="8321040" cy="822960"/>
          </a:xfrm>
          <a:prstGeom prst="rect">
            <a:avLst/>
          </a:prstGeom>
          <a:noFill/>
        </p:spPr>
        <p:txBody>
          <a:bodyPr wrap="square" anchor="t">
            <a:spAutoFit/>
          </a:bodyPr>
          <a:lstStyle/>
          <a:p>
            <a:pPr algn="l">
              <a:lnSpc>
                <a:spcPct val="100000"/>
              </a:lnSpc>
            </a:pPr>
            <a:r>
              <a:rPr sz="2400" b="1" i="0">
                <a:solidFill>
                  <a:srgbClr val="202729"/>
                </a:solidFill>
                <a:latin typeface="Poppins"/>
              </a:rPr>
              <a:t>References and statistical guardrails</a:t>
            </a:r>
          </a:p>
        </p:txBody>
      </p:sp>
      <p:sp>
        <p:nvSpPr>
          <p:cNvPr id="6" name="TextBox 5"/>
          <p:cNvSpPr txBox="1"/>
          <p:nvPr/>
        </p:nvSpPr>
        <p:spPr>
          <a:xfrm>
            <a:off x="411480" y="1234440"/>
            <a:ext cx="5029200" cy="274320"/>
          </a:xfrm>
          <a:prstGeom prst="rect">
            <a:avLst/>
          </a:prstGeom>
          <a:noFill/>
        </p:spPr>
        <p:txBody>
          <a:bodyPr wrap="square" anchor="t">
            <a:spAutoFit/>
          </a:bodyPr>
          <a:lstStyle/>
          <a:p>
            <a:pPr algn="l">
              <a:lnSpc>
                <a:spcPct val="100000"/>
              </a:lnSpc>
            </a:pPr>
            <a:r>
              <a:rPr sz="1200" b="1" i="0">
                <a:solidFill>
                  <a:srgbClr val="705C40"/>
                </a:solidFill>
                <a:latin typeface="Poppins"/>
              </a:rPr>
              <a:t>Selected references</a:t>
            </a:r>
          </a:p>
        </p:txBody>
      </p:sp>
      <p:sp>
        <p:nvSpPr>
          <p:cNvPr id="7" name="TextBox 6"/>
          <p:cNvSpPr txBox="1"/>
          <p:nvPr/>
        </p:nvSpPr>
        <p:spPr>
          <a:xfrm>
            <a:off x="411480" y="1536192"/>
            <a:ext cx="5029200" cy="3291840"/>
          </a:xfrm>
          <a:prstGeom prst="rect">
            <a:avLst/>
          </a:prstGeom>
          <a:noFill/>
        </p:spPr>
        <p:txBody>
          <a:bodyPr wrap="square">
            <a:spAutoFit/>
          </a:bodyPr>
          <a:lstStyle/>
          <a:p>
            <a:pPr>
              <a:spcAft>
                <a:spcPts val="800"/>
              </a:spcAft>
            </a:pPr>
            <a:r>
              <a:rPr sz="950" b="0">
                <a:solidFill>
                  <a:srgbClr val="202729"/>
                </a:solidFill>
                <a:latin typeface="Poppins"/>
              </a:rPr>
              <a:t>•  Avery et al. (2020) · Distributed patterns of FC predict WM · J. Cognitive Neuroscience · PMC8004893</a:t>
            </a:r>
          </a:p>
          <a:p>
            <a:pPr>
              <a:spcAft>
                <a:spcPts val="800"/>
              </a:spcAft>
            </a:pPr>
            <a:r>
              <a:rPr sz="950" b="0">
                <a:solidFill>
                  <a:srgbClr val="202729"/>
                </a:solidFill>
                <a:latin typeface="Poppins"/>
              </a:rPr>
              <a:t>•  Chan et al. (2014) · Decreased segregation of brain systems · PNAS</a:t>
            </a:r>
          </a:p>
          <a:p>
            <a:pPr>
              <a:spcAft>
                <a:spcPts val="800"/>
              </a:spcAft>
            </a:pPr>
            <a:r>
              <a:rPr sz="950" b="0">
                <a:solidFill>
                  <a:srgbClr val="202729"/>
                </a:solidFill>
                <a:latin typeface="Poppins"/>
              </a:rPr>
              <a:t>•  Murphy et al. (2020) · Multimodal network dynamics underpinning WM · Nature Communications · 10.1038/s41467-020-15541-0</a:t>
            </a:r>
          </a:p>
          <a:p>
            <a:pPr>
              <a:spcAft>
                <a:spcPts val="800"/>
              </a:spcAft>
            </a:pPr>
            <a:r>
              <a:rPr sz="950" b="0">
                <a:solidFill>
                  <a:srgbClr val="202729"/>
                </a:solidFill>
                <a:latin typeface="Poppins"/>
              </a:rPr>
              <a:t>•  Masharipov et al. (2024) · Task-modulated FC methods · Communications Biology · 10.1038/s42003-024-07088-3</a:t>
            </a:r>
          </a:p>
          <a:p>
            <a:pPr>
              <a:spcAft>
                <a:spcPts val="800"/>
              </a:spcAft>
            </a:pPr>
            <a:r>
              <a:rPr sz="950" b="0">
                <a:solidFill>
                  <a:srgbClr val="202729"/>
                </a:solidFill>
                <a:latin typeface="Poppins"/>
              </a:rPr>
              <a:t>•  Hedge et al. (2018) · The reliability paradox · Behavior Research Methods · 10.3758/s13428-017-0935-1</a:t>
            </a:r>
          </a:p>
          <a:p>
            <a:pPr>
              <a:spcAft>
                <a:spcPts val="800"/>
              </a:spcAft>
            </a:pPr>
            <a:r>
              <a:rPr sz="950" b="0">
                <a:solidFill>
                  <a:srgbClr val="202729"/>
                </a:solidFill>
                <a:latin typeface="Poppins"/>
              </a:rPr>
              <a:t>•  Logothetis (2008) · What we can do and what we cannot do with fMRI · Nature</a:t>
            </a:r>
          </a:p>
          <a:p>
            <a:pPr>
              <a:spcAft>
                <a:spcPts val="800"/>
              </a:spcAft>
            </a:pPr>
            <a:r>
              <a:rPr sz="950" b="0">
                <a:solidFill>
                  <a:srgbClr val="202729"/>
                </a:solidFill>
                <a:latin typeface="Poppins"/>
              </a:rPr>
              <a:t>•  Full annotated bibliography: manuscript/references.md</a:t>
            </a:r>
          </a:p>
        </p:txBody>
      </p:sp>
      <p:sp>
        <p:nvSpPr>
          <p:cNvPr id="8" name="TextBox 7"/>
          <p:cNvSpPr txBox="1"/>
          <p:nvPr/>
        </p:nvSpPr>
        <p:spPr>
          <a:xfrm>
            <a:off x="5623560" y="1234440"/>
            <a:ext cx="3108960" cy="274320"/>
          </a:xfrm>
          <a:prstGeom prst="rect">
            <a:avLst/>
          </a:prstGeom>
          <a:noFill/>
        </p:spPr>
        <p:txBody>
          <a:bodyPr wrap="square" anchor="t">
            <a:spAutoFit/>
          </a:bodyPr>
          <a:lstStyle/>
          <a:p>
            <a:pPr algn="l">
              <a:lnSpc>
                <a:spcPct val="100000"/>
              </a:lnSpc>
            </a:pPr>
            <a:r>
              <a:rPr sz="1200" b="1" i="0">
                <a:solidFill>
                  <a:srgbClr val="705C40"/>
                </a:solidFill>
                <a:latin typeface="Poppins"/>
              </a:rPr>
              <a:t>Statistical guardrails</a:t>
            </a:r>
          </a:p>
        </p:txBody>
      </p:sp>
      <p:sp>
        <p:nvSpPr>
          <p:cNvPr id="9" name="TextBox 8"/>
          <p:cNvSpPr txBox="1"/>
          <p:nvPr/>
        </p:nvSpPr>
        <p:spPr>
          <a:xfrm>
            <a:off x="5623560" y="1536192"/>
            <a:ext cx="3108960" cy="2194560"/>
          </a:xfrm>
          <a:prstGeom prst="rect">
            <a:avLst/>
          </a:prstGeom>
          <a:noFill/>
        </p:spPr>
        <p:txBody>
          <a:bodyPr wrap="square">
            <a:spAutoFit/>
          </a:bodyPr>
          <a:lstStyle/>
          <a:p>
            <a:pPr>
              <a:spcAft>
                <a:spcPts val="1000"/>
              </a:spcAft>
            </a:pPr>
            <a:r>
              <a:rPr sz="950" b="0">
                <a:solidFill>
                  <a:srgbClr val="202729"/>
                </a:solidFill>
                <a:latin typeface="Poppins"/>
              </a:rPr>
              <a:t>•  r = 0.366 ± 0.024 = mean ± split SD across 20 repeated-CV partitions.</a:t>
            </a:r>
          </a:p>
          <a:p>
            <a:pPr>
              <a:spcAft>
                <a:spcPts val="1000"/>
              </a:spcAft>
            </a:pPr>
            <a:r>
              <a:rPr sz="950" b="0">
                <a:solidFill>
                  <a:srgbClr val="202729"/>
                </a:solidFill>
                <a:latin typeface="Poppins"/>
              </a:rPr>
              <a:t>•  seed-42 r = 0.405; p ≈ .001 (1/1001) = full-refit permutation.</a:t>
            </a:r>
          </a:p>
          <a:p>
            <a:pPr>
              <a:spcAft>
                <a:spcPts val="1000"/>
              </a:spcAft>
            </a:pPr>
            <a:r>
              <a:rPr sz="950" b="0">
                <a:solidFill>
                  <a:srgbClr val="202729"/>
                </a:solidFill>
                <a:latin typeface="Poppins"/>
              </a:rPr>
              <a:t>•  B→A r = 0.398; 95% CI [0.25, 0.53] = identity-disjoint same-HCP transfer.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