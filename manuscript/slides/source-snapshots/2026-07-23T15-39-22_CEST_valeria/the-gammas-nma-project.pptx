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Poppins"/>
      <p:regular r:id="rId25"/>
      <p:bold r:id="rId26"/>
      <p:italic r:id="rId27"/>
      <p:boldItalic r:id="rId28"/>
    </p:embeddedFont>
    <p:embeddedFont>
      <p:font typeface="Poppins Light"/>
      <p:regular r:id="rId29"/>
      <p:bold r:id="rId30"/>
      <p:italic r:id="rId31"/>
      <p:boldItalic r:id="rId32"/>
    </p:embeddedFont>
    <p:embeddedFont>
      <p:font typeface="Poppins Medium"/>
      <p:regular r:id="rId33"/>
      <p:bold r:id="rId34"/>
      <p:italic r:id="rId35"/>
      <p:boldItalic r:id="rId36"/>
    </p:embeddedFont>
    <p:embeddedFont>
      <p:font typeface="Poppi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Valeria Moraga Ramír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Ligh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5.xml"/><Relationship Id="rId33" Type="http://schemas.openxmlformats.org/officeDocument/2006/relationships/font" Target="fonts/PoppinsMedium-regular.fntdata"/><Relationship Id="rId10" Type="http://schemas.openxmlformats.org/officeDocument/2006/relationships/slide" Target="slides/slide4.xml"/><Relationship Id="rId32" Type="http://schemas.openxmlformats.org/officeDocument/2006/relationships/font" Target="fonts/PoppinsLight-boldItalic.fntdata"/><Relationship Id="rId13" Type="http://schemas.openxmlformats.org/officeDocument/2006/relationships/slide" Target="slides/slide7.xml"/><Relationship Id="rId35" Type="http://schemas.openxmlformats.org/officeDocument/2006/relationships/font" Target="fonts/PoppinsMedium-italic.fntdata"/><Relationship Id="rId12" Type="http://schemas.openxmlformats.org/officeDocument/2006/relationships/slide" Target="slides/slide6.xml"/><Relationship Id="rId34" Type="http://schemas.openxmlformats.org/officeDocument/2006/relationships/font" Target="fonts/PoppinsMedium-bold.fntdata"/><Relationship Id="rId15" Type="http://schemas.openxmlformats.org/officeDocument/2006/relationships/slide" Target="slides/slide9.xml"/><Relationship Id="rId37" Type="http://schemas.openxmlformats.org/officeDocument/2006/relationships/font" Target="fonts/PoppinsSemiBold-regular.fntdata"/><Relationship Id="rId14" Type="http://schemas.openxmlformats.org/officeDocument/2006/relationships/slide" Target="slides/slide8.xml"/><Relationship Id="rId36" Type="http://schemas.openxmlformats.org/officeDocument/2006/relationships/font" Target="fonts/PoppinsMedium-boldItalic.fntdata"/><Relationship Id="rId17" Type="http://schemas.openxmlformats.org/officeDocument/2006/relationships/slide" Target="slides/slide11.xml"/><Relationship Id="rId39" Type="http://schemas.openxmlformats.org/officeDocument/2006/relationships/font" Target="fonts/PoppinsSemiBold-italic.fntdata"/><Relationship Id="rId16" Type="http://schemas.openxmlformats.org/officeDocument/2006/relationships/slide" Target="slides/slide10.xml"/><Relationship Id="rId38" Type="http://schemas.openxmlformats.org/officeDocument/2006/relationships/font" Target="fonts/PoppinsSemiBold-bold.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20T09:22:12.486">
    <p:pos x="321" y="792"/>
    <p:text>Could be also: Behaviour of Functional Connectivity in Working-Memory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7-22T14:46:46.023">
    <p:pos x="6000" y="0"/>
    <p:text>The 78-feature FC reconfiguration fingerprint predicts WM performance: repeated-CV r ≈ 0.366.
The FC model transfers to cohort A: B → A r ≈ 0.398
Reconfiguration does not show a clear incremental gain over 0-back FC: ΔR² ≈ +0.034 ± 0.023
Regional activation predicts more strongly: r ≈ 0.60 pooled and r ≈ 0.48 across held-out people and runs
Adding FC over activation shows no clear improvement in this analysis: ΔR² ≈ −0.003.</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e51dc41796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e51dc41796_2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56a045bc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f56a045bc0_0_5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56a045bc0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f56a045bc0_0_4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59a3f1fbc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59a3f1fbc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55a497b0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55a497b0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59a3f1fbc_0_1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f59a3f1fbc_0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59a3f1fbc_0_1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f59a3f1fbc_0_1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59a3f1fbc_0_2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f59a3f1fbc_0_2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59a3f1fbc_0_2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59a3f1fbc_0_2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59a3f1fbc_0_2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f59a3f1fbc_0_2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59a3f1fbc_0_2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f59a3f1fbc_0_2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56a045bc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f56a045bc0_0_3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56a045b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f56a045b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f58e38d1a4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f58e38d1a4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56a045b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f56a045b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f58e38d1a4_2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g3f58e38d1a4_2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58e38d1a4_2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f58e38d1a4_2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59a3f1fbc_0_3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f59a3f1fbc_0_3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05C40"/>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rgbClr val="D9D9D9"/>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4" name="Google Shape;14;p2"/>
          <p:cNvPicPr preferRelativeResize="0"/>
          <p:nvPr/>
        </p:nvPicPr>
        <p:blipFill rotWithShape="1">
          <a:blip r:embed="rId2">
            <a:alphaModFix/>
          </a:blip>
          <a:srcRect b="0" l="0" r="0" t="0"/>
          <a:stretch/>
        </p:blipFill>
        <p:spPr>
          <a:xfrm>
            <a:off x="586650" y="4221433"/>
            <a:ext cx="2857500" cy="6882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0" y="2998150"/>
            <a:ext cx="9144000" cy="0"/>
          </a:xfrm>
          <a:prstGeom prst="straightConnector1">
            <a:avLst/>
          </a:prstGeom>
          <a:noFill/>
          <a:ln cap="flat" cmpd="sng" w="19050">
            <a:solidFill>
              <a:srgbClr val="D9D9D9"/>
            </a:solidFill>
            <a:prstDash val="solid"/>
            <a:round/>
            <a:headEnd len="sm" w="sm" type="none"/>
            <a:tailEnd len="sm" w="sm" type="none"/>
          </a:ln>
        </p:spPr>
      </p:cxnSp>
      <p:sp>
        <p:nvSpPr>
          <p:cNvPr id="17" name="Google Shape;17;p3"/>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3"/>
          <p:cNvPicPr preferRelativeResize="0"/>
          <p:nvPr/>
        </p:nvPicPr>
        <p:blipFill rotWithShape="1">
          <a:blip r:embed="rId2">
            <a:alphaModFix/>
          </a:blip>
          <a:srcRect b="0" l="0" r="0" t="0"/>
          <a:stretch/>
        </p:blipFill>
        <p:spPr>
          <a:xfrm>
            <a:off x="586650" y="4221433"/>
            <a:ext cx="2857500" cy="68826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uromatch Academy" type="tx">
  <p:cSld name="TITLE_AND_BODY">
    <p:spTree>
      <p:nvGrpSpPr>
        <p:cNvPr id="20" name="Shape 20"/>
        <p:cNvGrpSpPr/>
        <p:nvPr/>
      </p:nvGrpSpPr>
      <p:grpSpPr>
        <a:xfrm>
          <a:off x="0" y="0"/>
          <a:ext cx="0" cy="0"/>
          <a:chOff x="0" y="0"/>
          <a:chExt cx="0" cy="0"/>
        </a:xfrm>
      </p:grpSpPr>
      <p:sp>
        <p:nvSpPr>
          <p:cNvPr id="21" name="Google Shape;21;p4"/>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4" name="Google Shape;24;p4"/>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25" name="Google Shape;25;p4"/>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i="0" sz="1200" u="none" cap="none" strike="noStrike">
              <a:solidFill>
                <a:srgbClr val="000000"/>
              </a:solidFill>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i="0" sz="1200" u="none" cap="none" strike="noStrike">
              <a:solidFill>
                <a:srgbClr val="000000"/>
              </a:solidFill>
              <a:latin typeface="Poppins SemiBold"/>
              <a:ea typeface="Poppins SemiBold"/>
              <a:cs typeface="Poppins SemiBold"/>
              <a:sym typeface="Poppins SemiBold"/>
            </a:endParaRPr>
          </a:p>
        </p:txBody>
      </p:sp>
      <p:pic>
        <p:nvPicPr>
          <p:cNvPr id="27" name="Google Shape;27;p4"/>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5"/>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5"/>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Speaker name ⦁ Topic of day</a:t>
            </a:r>
            <a:endParaRPr b="1" i="0" sz="1200" u="none" cap="none" strike="noStrike">
              <a:solidFill>
                <a:srgbClr val="000000"/>
              </a:solidFill>
              <a:latin typeface="Arial"/>
              <a:ea typeface="Arial"/>
              <a:cs typeface="Arial"/>
              <a:sym typeface="Arial"/>
            </a:endParaRPr>
          </a:p>
        </p:txBody>
      </p:sp>
      <p:sp>
        <p:nvSpPr>
          <p:cNvPr id="34" name="Google Shape;34;p5"/>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5"/>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Week 2 ⦁ Day 1 ⦁ Tutorial 3</a:t>
            </a:r>
            <a:endParaRPr b="1" i="0" sz="1200" u="none" cap="none" strike="noStrike">
              <a:solidFill>
                <a:srgbClr val="000000"/>
              </a:solidFill>
              <a:latin typeface="Arial"/>
              <a:ea typeface="Arial"/>
              <a:cs typeface="Arial"/>
              <a:sym typeface="Arial"/>
            </a:endParaRPr>
          </a:p>
        </p:txBody>
      </p:sp>
      <p:pic>
        <p:nvPicPr>
          <p:cNvPr id="36" name="Google Shape;36;p5"/>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6"/>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6"/>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41" name="Google Shape;41;p6"/>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6"/>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43" name="Google Shape;43;p6"/>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7" name="Google Shape;47;p7"/>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7"/>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49" name="Google Shape;49;p7"/>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7"/>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51" name="Google Shape;51;p7"/>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D9D9D9"/>
        </a:solidFill>
      </p:bgPr>
    </p:bg>
    <p:spTree>
      <p:nvGrpSpPr>
        <p:cNvPr id="52" name="Shape 52"/>
        <p:cNvGrpSpPr/>
        <p:nvPr/>
      </p:nvGrpSpPr>
      <p:grpSpPr>
        <a:xfrm>
          <a:off x="0" y="0"/>
          <a:ext cx="0" cy="0"/>
          <a:chOff x="0" y="0"/>
          <a:chExt cx="0" cy="0"/>
        </a:xfrm>
      </p:grpSpPr>
      <p:sp>
        <p:nvSpPr>
          <p:cNvPr id="53" name="Google Shape;53;p8"/>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4" name="Google Shape;5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5" name="Google Shape;55;p8"/>
          <p:cNvPicPr preferRelativeResize="0"/>
          <p:nvPr/>
        </p:nvPicPr>
        <p:blipFill rotWithShape="1">
          <a:blip r:embed="rId2">
            <a:alphaModFix/>
          </a:blip>
          <a:srcRect b="0" l="0" r="0" t="0"/>
          <a:stretch/>
        </p:blipFill>
        <p:spPr>
          <a:xfrm>
            <a:off x="586650" y="4221433"/>
            <a:ext cx="2857500" cy="68826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8" name="Google Shape;58;p9"/>
          <p:cNvCxnSpPr/>
          <p:nvPr/>
        </p:nvCxnSpPr>
        <p:spPr>
          <a:xfrm>
            <a:off x="5029675" y="4495500"/>
            <a:ext cx="468300" cy="0"/>
          </a:xfrm>
          <a:prstGeom prst="straightConnector1">
            <a:avLst/>
          </a:prstGeom>
          <a:noFill/>
          <a:ln cap="flat" cmpd="sng" w="19050">
            <a:solidFill>
              <a:srgbClr val="D9D9D9"/>
            </a:solidFill>
            <a:prstDash val="solid"/>
            <a:round/>
            <a:headEnd len="sm" w="sm" type="none"/>
            <a:tailEnd len="sm" w="sm" type="none"/>
          </a:ln>
        </p:spPr>
      </p:cxnSp>
      <p:sp>
        <p:nvSpPr>
          <p:cNvPr id="59" name="Google Shape;59;p9"/>
          <p:cNvSpPr txBox="1"/>
          <p:nvPr>
            <p:ph type="title"/>
          </p:nvPr>
        </p:nvSpPr>
        <p:spPr>
          <a:xfrm>
            <a:off x="265500" y="1205825"/>
            <a:ext cx="4045200" cy="150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0" name="Google Shape;60;p9"/>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1" name="Google Shape;61;p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62" name="Google Shape;62;p9"/>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9"/>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How we built this</a:t>
            </a:r>
            <a:endParaRPr b="1" i="0" sz="1200" u="none" cap="none" strike="noStrike">
              <a:solidFill>
                <a:srgbClr val="000000"/>
              </a:solidFill>
              <a:latin typeface="Arial"/>
              <a:ea typeface="Arial"/>
              <a:cs typeface="Arial"/>
              <a:sym typeface="Arial"/>
            </a:endParaRPr>
          </a:p>
        </p:txBody>
      </p:sp>
      <p:sp>
        <p:nvSpPr>
          <p:cNvPr id="64" name="Google Shape;64;p9"/>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9"/>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Professional Development Session</a:t>
            </a:r>
            <a:endParaRPr b="1"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pic>
        <p:nvPicPr>
          <p:cNvPr id="66" name="Google Shape;66;p9"/>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sp>
        <p:nvSpPr>
          <p:cNvPr id="68" name="Google Shape;68;p10"/>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69" name="Google Shape;69;p10"/>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0" name="Google Shape;70;p10"/>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Speaker name ⦁ Topic of day</a:t>
            </a:r>
            <a:endParaRPr b="1" i="0" sz="1200" u="none" cap="none" strike="noStrike">
              <a:solidFill>
                <a:srgbClr val="000000"/>
              </a:solidFill>
              <a:latin typeface="Arial"/>
              <a:ea typeface="Arial"/>
              <a:cs typeface="Arial"/>
              <a:sym typeface="Arial"/>
            </a:endParaRPr>
          </a:p>
        </p:txBody>
      </p:sp>
      <p:sp>
        <p:nvSpPr>
          <p:cNvPr id="72" name="Google Shape;72;p10"/>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0"/>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Week 2 ⦁ Day 1 ⦁ Tutorial 3</a:t>
            </a:r>
            <a:endParaRPr b="1" i="0" sz="1200" u="none" cap="none" strike="noStrike">
              <a:solidFill>
                <a:srgbClr val="000000"/>
              </a:solidFill>
              <a:latin typeface="Arial"/>
              <a:ea typeface="Arial"/>
              <a:cs typeface="Arial"/>
              <a:sym typeface="Arial"/>
            </a:endParaRPr>
          </a:p>
        </p:txBody>
      </p:sp>
      <p:pic>
        <p:nvPicPr>
          <p:cNvPr id="74" name="Google Shape;74;p10"/>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1"/>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1"/>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78" name="Google Shape;78;p11"/>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1"/>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80" name="Google Shape;80;p11"/>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81" name="Shape 81"/>
        <p:cNvGrpSpPr/>
        <p:nvPr/>
      </p:nvGrpSpPr>
      <p:grpSpPr>
        <a:xfrm>
          <a:off x="0" y="0"/>
          <a:ext cx="0" cy="0"/>
          <a:chOff x="0" y="0"/>
          <a:chExt cx="0" cy="0"/>
        </a:xfrm>
      </p:grpSpPr>
      <p:sp>
        <p:nvSpPr>
          <p:cNvPr id="82" name="Google Shape;82;p12"/>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2"/>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84" name="Google Shape;84;p12"/>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2"/>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86" name="Google Shape;86;p12"/>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87" name="Google Shape;87;p12"/>
          <p:cNvGrpSpPr/>
          <p:nvPr/>
        </p:nvGrpSpPr>
        <p:grpSpPr>
          <a:xfrm>
            <a:off x="-454575" y="145445"/>
            <a:ext cx="10053697" cy="924524"/>
            <a:chOff x="0" y="-47625"/>
            <a:chExt cx="5295600" cy="1100100"/>
          </a:xfrm>
        </p:grpSpPr>
        <p:sp>
          <p:nvSpPr>
            <p:cNvPr id="88" name="Google Shape;88;p12"/>
            <p:cNvSpPr/>
            <p:nvPr/>
          </p:nvSpPr>
          <p:spPr>
            <a:xfrm>
              <a:off x="0" y="0"/>
              <a:ext cx="5295481" cy="1052333"/>
            </a:xfrm>
            <a:custGeom>
              <a:rect b="b" l="l" r="r" t="t"/>
              <a:pathLst>
                <a:path extrusionOk="0" h="1052333" w="5295481">
                  <a:moveTo>
                    <a:pt x="0" y="0"/>
                  </a:moveTo>
                  <a:lnTo>
                    <a:pt x="5295481" y="0"/>
                  </a:lnTo>
                  <a:lnTo>
                    <a:pt x="5295481" y="1052333"/>
                  </a:lnTo>
                  <a:lnTo>
                    <a:pt x="0" y="1052333"/>
                  </a:lnTo>
                  <a:close/>
                </a:path>
              </a:pathLst>
            </a:custGeom>
            <a:solidFill>
              <a:srgbClr val="EAD6B8"/>
            </a:solidFill>
            <a:ln>
              <a:noFill/>
            </a:ln>
          </p:spPr>
        </p:sp>
        <p:sp>
          <p:nvSpPr>
            <p:cNvPr id="89" name="Google Shape;89;p12"/>
            <p:cNvSpPr txBox="1"/>
            <p:nvPr/>
          </p:nvSpPr>
          <p:spPr>
            <a:xfrm>
              <a:off x="0" y="-47625"/>
              <a:ext cx="5295600" cy="11001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spTree>
      <p:nvGrpSpPr>
        <p:cNvPr id="90" name="Shape 90"/>
        <p:cNvGrpSpPr/>
        <p:nvPr/>
      </p:nvGrpSpPr>
      <p:grpSpPr>
        <a:xfrm>
          <a:off x="0" y="0"/>
          <a:ext cx="0" cy="0"/>
          <a:chOff x="0" y="0"/>
          <a:chExt cx="0" cy="0"/>
        </a:xfrm>
      </p:grpSpPr>
      <p:sp>
        <p:nvSpPr>
          <p:cNvPr id="91" name="Google Shape;91;p13"/>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3"/>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93" name="Google Shape;93;p13"/>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3"/>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95" name="Google Shape;95;p13"/>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96" name="Google Shape;96;p13"/>
          <p:cNvGrpSpPr/>
          <p:nvPr/>
        </p:nvGrpSpPr>
        <p:grpSpPr>
          <a:xfrm>
            <a:off x="-373366" y="370011"/>
            <a:ext cx="695990" cy="4313202"/>
            <a:chOff x="0" y="-47625"/>
            <a:chExt cx="366600" cy="2271900"/>
          </a:xfrm>
        </p:grpSpPr>
        <p:sp>
          <p:nvSpPr>
            <p:cNvPr id="97" name="Google Shape;97;p13"/>
            <p:cNvSpPr/>
            <p:nvPr/>
          </p:nvSpPr>
          <p:spPr>
            <a:xfrm>
              <a:off x="0" y="0"/>
              <a:ext cx="366483" cy="2224275"/>
            </a:xfrm>
            <a:custGeom>
              <a:rect b="b" l="l" r="r" t="t"/>
              <a:pathLst>
                <a:path extrusionOk="0" h="2224275" w="366483">
                  <a:moveTo>
                    <a:pt x="0" y="0"/>
                  </a:moveTo>
                  <a:lnTo>
                    <a:pt x="366483" y="0"/>
                  </a:lnTo>
                  <a:lnTo>
                    <a:pt x="366483" y="2224275"/>
                  </a:lnTo>
                  <a:lnTo>
                    <a:pt x="0" y="2224275"/>
                  </a:lnTo>
                  <a:close/>
                </a:path>
              </a:pathLst>
            </a:custGeom>
            <a:solidFill>
              <a:srgbClr val="EAD6B8"/>
            </a:solidFill>
            <a:ln>
              <a:noFill/>
            </a:ln>
          </p:spPr>
        </p:sp>
        <p:sp>
          <p:nvSpPr>
            <p:cNvPr id="98" name="Google Shape;98;p13"/>
            <p:cNvSpPr txBox="1"/>
            <p:nvPr/>
          </p:nvSpPr>
          <p:spPr>
            <a:xfrm>
              <a:off x="0" y="-47625"/>
              <a:ext cx="366600" cy="22719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3">
    <p:spTree>
      <p:nvGrpSpPr>
        <p:cNvPr id="99" name="Shape 99"/>
        <p:cNvGrpSpPr/>
        <p:nvPr/>
      </p:nvGrpSpPr>
      <p:grpSpPr>
        <a:xfrm>
          <a:off x="0" y="0"/>
          <a:ext cx="0" cy="0"/>
          <a:chOff x="0" y="0"/>
          <a:chExt cx="0" cy="0"/>
        </a:xfrm>
      </p:grpSpPr>
      <p:sp>
        <p:nvSpPr>
          <p:cNvPr id="100" name="Google Shape;100;p14"/>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4"/>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02" name="Google Shape;102;p14"/>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4"/>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04" name="Google Shape;104;p14"/>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4">
  <p:cSld name="BLANK_4">
    <p:spTree>
      <p:nvGrpSpPr>
        <p:cNvPr id="105" name="Shape 105"/>
        <p:cNvGrpSpPr/>
        <p:nvPr/>
      </p:nvGrpSpPr>
      <p:grpSpPr>
        <a:xfrm>
          <a:off x="0" y="0"/>
          <a:ext cx="0" cy="0"/>
          <a:chOff x="0" y="0"/>
          <a:chExt cx="0" cy="0"/>
        </a:xfrm>
      </p:grpSpPr>
      <p:sp>
        <p:nvSpPr>
          <p:cNvPr id="106" name="Google Shape;106;p15"/>
          <p:cNvSpPr/>
          <p:nvPr/>
        </p:nvSpPr>
        <p:spPr>
          <a:xfrm>
            <a:off x="0" y="4832150"/>
            <a:ext cx="9144000" cy="311700"/>
          </a:xfrm>
          <a:prstGeom prst="rect">
            <a:avLst/>
          </a:prstGeom>
          <a:solidFill>
            <a:srgbClr val="E4D6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5"/>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08" name="Google Shape;108;p15"/>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5"/>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10" name="Google Shape;110;p15"/>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111" name="Google Shape;111;p15"/>
          <p:cNvGrpSpPr/>
          <p:nvPr/>
        </p:nvGrpSpPr>
        <p:grpSpPr>
          <a:xfrm>
            <a:off x="3840825" y="-328700"/>
            <a:ext cx="5895982" cy="4662856"/>
            <a:chOff x="0" y="-47625"/>
            <a:chExt cx="3105600" cy="3008100"/>
          </a:xfrm>
        </p:grpSpPr>
        <p:sp>
          <p:nvSpPr>
            <p:cNvPr id="112" name="Google Shape;112;p15"/>
            <p:cNvSpPr/>
            <p:nvPr/>
          </p:nvSpPr>
          <p:spPr>
            <a:xfrm>
              <a:off x="0" y="0"/>
              <a:ext cx="3105469" cy="2960376"/>
            </a:xfrm>
            <a:custGeom>
              <a:rect b="b" l="l" r="r" t="t"/>
              <a:pathLst>
                <a:path extrusionOk="0" h="2960376" w="3105469">
                  <a:moveTo>
                    <a:pt x="0" y="0"/>
                  </a:moveTo>
                  <a:lnTo>
                    <a:pt x="3105469" y="0"/>
                  </a:lnTo>
                  <a:lnTo>
                    <a:pt x="3105469" y="2960376"/>
                  </a:lnTo>
                  <a:lnTo>
                    <a:pt x="0" y="2960376"/>
                  </a:lnTo>
                  <a:close/>
                </a:path>
              </a:pathLst>
            </a:custGeom>
            <a:solidFill>
              <a:srgbClr val="EAD6B8"/>
            </a:solidFill>
            <a:ln>
              <a:noFill/>
            </a:ln>
          </p:spPr>
        </p:sp>
        <p:sp>
          <p:nvSpPr>
            <p:cNvPr id="113" name="Google Shape;113;p15"/>
            <p:cNvSpPr txBox="1"/>
            <p:nvPr/>
          </p:nvSpPr>
          <p:spPr>
            <a:xfrm>
              <a:off x="0" y="-47625"/>
              <a:ext cx="3105600" cy="30081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5">
  <p:cSld name="BLANK_5">
    <p:spTree>
      <p:nvGrpSpPr>
        <p:cNvPr id="114" name="Shape 114"/>
        <p:cNvGrpSpPr/>
        <p:nvPr/>
      </p:nvGrpSpPr>
      <p:grpSpPr>
        <a:xfrm>
          <a:off x="0" y="0"/>
          <a:ext cx="0" cy="0"/>
          <a:chOff x="0" y="0"/>
          <a:chExt cx="0" cy="0"/>
        </a:xfrm>
      </p:grpSpPr>
      <p:sp>
        <p:nvSpPr>
          <p:cNvPr id="115" name="Google Shape;115;p16"/>
          <p:cNvSpPr/>
          <p:nvPr/>
        </p:nvSpPr>
        <p:spPr>
          <a:xfrm>
            <a:off x="0" y="4832150"/>
            <a:ext cx="9144000" cy="311700"/>
          </a:xfrm>
          <a:prstGeom prst="rect">
            <a:avLst/>
          </a:prstGeom>
          <a:solidFill>
            <a:srgbClr val="E4D6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6"/>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17" name="Google Shape;117;p16"/>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16"/>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19" name="Google Shape;119;p16"/>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120" name="Google Shape;120;p16"/>
          <p:cNvGrpSpPr/>
          <p:nvPr/>
        </p:nvGrpSpPr>
        <p:grpSpPr>
          <a:xfrm>
            <a:off x="-771525" y="1178383"/>
            <a:ext cx="4331054" cy="2668342"/>
            <a:chOff x="0" y="-47625"/>
            <a:chExt cx="2281303" cy="1405500"/>
          </a:xfrm>
        </p:grpSpPr>
        <p:sp>
          <p:nvSpPr>
            <p:cNvPr id="121" name="Google Shape;121;p16"/>
            <p:cNvSpPr/>
            <p:nvPr/>
          </p:nvSpPr>
          <p:spPr>
            <a:xfrm>
              <a:off x="0" y="0"/>
              <a:ext cx="2281303" cy="1357780"/>
            </a:xfrm>
            <a:custGeom>
              <a:rect b="b" l="l" r="r" t="t"/>
              <a:pathLst>
                <a:path extrusionOk="0" h="1357780" w="2281303">
                  <a:moveTo>
                    <a:pt x="0" y="0"/>
                  </a:moveTo>
                  <a:lnTo>
                    <a:pt x="2281303" y="0"/>
                  </a:lnTo>
                  <a:lnTo>
                    <a:pt x="2281303" y="1357780"/>
                  </a:lnTo>
                  <a:lnTo>
                    <a:pt x="0" y="1357780"/>
                  </a:lnTo>
                  <a:close/>
                </a:path>
              </a:pathLst>
            </a:custGeom>
            <a:solidFill>
              <a:srgbClr val="EAD6B8"/>
            </a:solidFill>
            <a:ln>
              <a:noFill/>
            </a:ln>
          </p:spPr>
        </p:sp>
        <p:sp>
          <p:nvSpPr>
            <p:cNvPr id="122" name="Google Shape;122;p16"/>
            <p:cNvSpPr txBox="1"/>
            <p:nvPr/>
          </p:nvSpPr>
          <p:spPr>
            <a:xfrm>
              <a:off x="0" y="-47625"/>
              <a:ext cx="2281200" cy="14055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6">
  <p:cSld name="BLANK_6">
    <p:spTree>
      <p:nvGrpSpPr>
        <p:cNvPr id="123" name="Shape 123"/>
        <p:cNvGrpSpPr/>
        <p:nvPr/>
      </p:nvGrpSpPr>
      <p:grpSpPr>
        <a:xfrm>
          <a:off x="0" y="0"/>
          <a:ext cx="0" cy="0"/>
          <a:chOff x="0" y="0"/>
          <a:chExt cx="0" cy="0"/>
        </a:xfrm>
      </p:grpSpPr>
      <p:sp>
        <p:nvSpPr>
          <p:cNvPr id="124" name="Google Shape;124;p17"/>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7"/>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26" name="Google Shape;126;p17"/>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7"/>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28" name="Google Shape;128;p17"/>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5 1">
  <p:cSld name="Blank 5 (g3f59a947f59_8_0)">
    <p:spTree>
      <p:nvGrpSpPr>
        <p:cNvPr id="129" name="Shape 129"/>
        <p:cNvGrpSpPr/>
        <p:nvPr/>
      </p:nvGrpSpPr>
      <p:grpSpPr>
        <a:xfrm>
          <a:off x="0" y="0"/>
          <a:ext cx="0" cy="0"/>
          <a:chOff x="0" y="0"/>
          <a:chExt cx="0" cy="0"/>
        </a:xfrm>
      </p:grpSpPr>
      <p:sp>
        <p:nvSpPr>
          <p:cNvPr id="130" name="Google Shape;130;p18"/>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59a947f59_22_0)">
  <p:cSld name="Generated (g3f59a947f59_22_0)">
    <p:spTree>
      <p:nvGrpSpPr>
        <p:cNvPr id="131" name="Shape 1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chemeClr val="accent3"/>
              </a:buClr>
              <a:buSzPts val="1800"/>
              <a:buFont typeface="Arial"/>
              <a:buChar char="●"/>
              <a:defRPr b="0" i="0" sz="1800" u="none" cap="none" strike="noStrike">
                <a:solidFill>
                  <a:schemeClr val="accent3"/>
                </a:solidFill>
                <a:latin typeface="Arial"/>
                <a:ea typeface="Arial"/>
                <a:cs typeface="Arial"/>
                <a:sym typeface="Arial"/>
              </a:defRPr>
            </a:lvl1pPr>
            <a:lvl2pPr indent="-317500" lvl="1" marL="9144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2pPr>
            <a:lvl3pPr indent="-317500" lvl="2" marL="13716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3pPr>
            <a:lvl4pPr indent="-317500" lvl="3" marL="18288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4pPr>
            <a:lvl5pPr indent="-317500" lvl="4" marL="22860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5pPr>
            <a:lvl6pPr indent="-317500" lvl="5" marL="27432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6pPr>
            <a:lvl7pPr indent="-317500" lvl="6" marL="32004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7pPr>
            <a:lvl8pPr indent="-317500" lvl="7" marL="36576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8pPr>
            <a:lvl9pPr indent="-317500" lvl="8" marL="4114800" marR="0" algn="l">
              <a:lnSpc>
                <a:spcPct val="115000"/>
              </a:lnSpc>
              <a:spcBef>
                <a:spcPts val="1600"/>
              </a:spcBef>
              <a:spcAft>
                <a:spcPts val="160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comments" Target="../comments/comment2.xml"/><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0"/>
          <p:cNvPicPr preferRelativeResize="0"/>
          <p:nvPr/>
        </p:nvPicPr>
        <p:blipFill>
          <a:blip r:embed="rId4">
            <a:alphaModFix amt="10000"/>
          </a:blip>
          <a:stretch>
            <a:fillRect/>
          </a:stretch>
        </p:blipFill>
        <p:spPr>
          <a:xfrm>
            <a:off x="0" y="0"/>
            <a:ext cx="9144003" cy="5143501"/>
          </a:xfrm>
          <a:prstGeom prst="rect">
            <a:avLst/>
          </a:prstGeom>
          <a:noFill/>
          <a:ln>
            <a:noFill/>
          </a:ln>
        </p:spPr>
      </p:pic>
      <p:sp>
        <p:nvSpPr>
          <p:cNvPr id="137" name="Google Shape;137;p20"/>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4500">
                <a:latin typeface="Poppins"/>
                <a:ea typeface="Poppins"/>
                <a:cs typeface="Poppins"/>
                <a:sym typeface="Poppins"/>
              </a:rPr>
              <a:t>Functional Connectivity Reconfiguration</a:t>
            </a:r>
            <a:endParaRPr sz="4500">
              <a:latin typeface="Poppins"/>
              <a:ea typeface="Poppins"/>
              <a:cs typeface="Poppins"/>
              <a:sym typeface="Poppins"/>
            </a:endParaRPr>
          </a:p>
          <a:p>
            <a:pPr indent="0" lvl="0" marL="0" rtl="0" algn="l">
              <a:lnSpc>
                <a:spcPct val="100000"/>
              </a:lnSpc>
              <a:spcBef>
                <a:spcPts val="0"/>
              </a:spcBef>
              <a:spcAft>
                <a:spcPts val="0"/>
              </a:spcAft>
              <a:buSzPts val="4800"/>
              <a:buNone/>
            </a:pPr>
            <a:r>
              <a:rPr lang="en" sz="4500">
                <a:latin typeface="Poppins"/>
                <a:ea typeface="Poppins"/>
                <a:cs typeface="Poppins"/>
                <a:sym typeface="Poppins"/>
              </a:rPr>
              <a:t>in N-back Working-Memory</a:t>
            </a:r>
            <a:endParaRPr sz="4500">
              <a:latin typeface="Poppins"/>
              <a:ea typeface="Poppins"/>
              <a:cs typeface="Poppins"/>
              <a:sym typeface="Poppins"/>
            </a:endParaRPr>
          </a:p>
        </p:txBody>
      </p:sp>
      <p:sp>
        <p:nvSpPr>
          <p:cNvPr id="138" name="Google Shape;138;p20"/>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500">
                <a:latin typeface="Poppins Light"/>
                <a:ea typeface="Poppins Light"/>
                <a:cs typeface="Poppins Light"/>
                <a:sym typeface="Poppins Light"/>
              </a:rPr>
              <a:t>By: Arefeh Lali Dehaghi, Goutham Arcod, Jaime Pineda, Kerem Akyurt, Valeria Moraga</a:t>
            </a:r>
            <a:endParaRPr sz="1500">
              <a:latin typeface="Poppins Light"/>
              <a:ea typeface="Poppins Light"/>
              <a:cs typeface="Poppins Light"/>
              <a:sym typeface="Poppins Light"/>
            </a:endParaRPr>
          </a:p>
          <a:p>
            <a:pPr indent="0" lvl="0" marL="0" rtl="0" algn="l">
              <a:lnSpc>
                <a:spcPct val="100000"/>
              </a:lnSpc>
              <a:spcBef>
                <a:spcPts val="0"/>
              </a:spcBef>
              <a:spcAft>
                <a:spcPts val="0"/>
              </a:spcAft>
              <a:buSzPts val="2400"/>
              <a:buNone/>
            </a:pPr>
            <a:r>
              <a:rPr lang="en" sz="1500">
                <a:latin typeface="Poppins Light"/>
                <a:ea typeface="Poppins Light"/>
                <a:cs typeface="Poppins Light"/>
                <a:sym typeface="Poppins Light"/>
              </a:rPr>
              <a:t>Ifrit Ras el Hanout - </a:t>
            </a:r>
            <a:r>
              <a:rPr lang="en" sz="1500">
                <a:latin typeface="Poppins Light"/>
                <a:ea typeface="Poppins Light"/>
                <a:cs typeface="Poppins Light"/>
                <a:sym typeface="Poppins Light"/>
              </a:rPr>
              <a:t>The Gammas</a:t>
            </a:r>
            <a:endParaRPr sz="1500">
              <a:latin typeface="Poppins Light"/>
              <a:ea typeface="Poppins Light"/>
              <a:cs typeface="Poppins Light"/>
              <a:sym typeface="Poppi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p:nvPr/>
        </p:nvSpPr>
        <p:spPr>
          <a:xfrm>
            <a:off x="514350" y="1587571"/>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3">
              <a:alphaModFix/>
            </a:blip>
            <a:stretch>
              <a:fillRect b="-106951" l="-17039" r="-21109" t="-411"/>
            </a:stretch>
          </a:blipFill>
          <a:ln>
            <a:noFill/>
          </a:ln>
        </p:spPr>
      </p:sp>
      <p:sp>
        <p:nvSpPr>
          <p:cNvPr id="144" name="Google Shape;144;p21"/>
          <p:cNvSpPr/>
          <p:nvPr/>
        </p:nvSpPr>
        <p:spPr>
          <a:xfrm>
            <a:off x="1373688" y="3176933"/>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4">
              <a:alphaModFix/>
            </a:blip>
            <a:stretch>
              <a:fillRect b="-46110" l="0" r="0" t="-3889"/>
            </a:stretch>
          </a:blipFill>
          <a:ln>
            <a:noFill/>
          </a:ln>
        </p:spPr>
      </p:sp>
      <p:sp>
        <p:nvSpPr>
          <p:cNvPr id="145" name="Google Shape;145;p21"/>
          <p:cNvSpPr/>
          <p:nvPr/>
        </p:nvSpPr>
        <p:spPr>
          <a:xfrm>
            <a:off x="6120555" y="1587571"/>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5">
              <a:alphaModFix/>
            </a:blip>
            <a:stretch>
              <a:fillRect b="-36310" l="-79308" r="-24899" t="0"/>
            </a:stretch>
          </a:blipFill>
          <a:ln>
            <a:noFill/>
          </a:ln>
        </p:spPr>
      </p:sp>
      <p:sp>
        <p:nvSpPr>
          <p:cNvPr id="146" name="Google Shape;146;p21"/>
          <p:cNvSpPr/>
          <p:nvPr/>
        </p:nvSpPr>
        <p:spPr>
          <a:xfrm>
            <a:off x="3383692" y="1737983"/>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6">
              <a:alphaModFix/>
            </a:blip>
            <a:stretch>
              <a:fillRect b="-127169" l="-118245" r="-122715" t="0"/>
            </a:stretch>
          </a:blipFill>
          <a:ln>
            <a:noFill/>
          </a:ln>
        </p:spPr>
      </p:sp>
      <p:sp>
        <p:nvSpPr>
          <p:cNvPr id="147" name="Google Shape;147;p21"/>
          <p:cNvSpPr txBox="1"/>
          <p:nvPr/>
        </p:nvSpPr>
        <p:spPr>
          <a:xfrm>
            <a:off x="1647860" y="234595"/>
            <a:ext cx="5848500" cy="7233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700">
                <a:latin typeface="Poppins"/>
                <a:ea typeface="Poppins"/>
                <a:cs typeface="Poppins"/>
                <a:sym typeface="Poppins"/>
              </a:rPr>
              <a:t>Meet our team!</a:t>
            </a:r>
            <a:endParaRPr sz="700"/>
          </a:p>
        </p:txBody>
      </p:sp>
      <p:sp>
        <p:nvSpPr>
          <p:cNvPr id="148" name="Google Shape;148;p21"/>
          <p:cNvSpPr txBox="1"/>
          <p:nvPr/>
        </p:nvSpPr>
        <p:spPr>
          <a:xfrm>
            <a:off x="1533940" y="1777700"/>
            <a:ext cx="1754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Clr>
                <a:srgbClr val="000000"/>
              </a:buClr>
              <a:buFont typeface="Arial"/>
              <a:buNone/>
            </a:pPr>
            <a:r>
              <a:rPr lang="en">
                <a:latin typeface="Poppins SemiBold"/>
                <a:ea typeface="Poppins SemiBold"/>
                <a:cs typeface="Poppins SemiBold"/>
                <a:sym typeface="Poppins SemiBold"/>
              </a:rPr>
              <a:t>Arefeh Lali Dehaghi</a:t>
            </a:r>
            <a:endParaRPr sz="700">
              <a:latin typeface="Poppins SemiBold"/>
              <a:ea typeface="Poppins SemiBold"/>
              <a:cs typeface="Poppins SemiBold"/>
              <a:sym typeface="Poppins SemiBold"/>
            </a:endParaRPr>
          </a:p>
        </p:txBody>
      </p:sp>
      <p:sp>
        <p:nvSpPr>
          <p:cNvPr id="149" name="Google Shape;149;p21"/>
          <p:cNvSpPr txBox="1"/>
          <p:nvPr/>
        </p:nvSpPr>
        <p:spPr>
          <a:xfrm>
            <a:off x="4337045" y="1777706"/>
            <a:ext cx="1460700" cy="517200"/>
          </a:xfrm>
          <a:prstGeom prst="rect">
            <a:avLst/>
          </a:prstGeom>
          <a:noFill/>
          <a:ln>
            <a:noFill/>
          </a:ln>
        </p:spPr>
        <p:txBody>
          <a:bodyPr anchorCtr="0" anchor="t" bIns="0" lIns="0" spcFirstLastPara="1" rIns="0" wrap="square" tIns="0">
            <a:spAutoFit/>
          </a:bodyPr>
          <a:lstStyle/>
          <a:p>
            <a:pPr indent="0" lvl="0" marL="0" rtl="0" algn="l">
              <a:lnSpc>
                <a:spcPct val="139992"/>
              </a:lnSpc>
              <a:spcBef>
                <a:spcPts val="0"/>
              </a:spcBef>
              <a:spcAft>
                <a:spcPts val="0"/>
              </a:spcAft>
              <a:buNone/>
            </a:pPr>
            <a:r>
              <a:rPr lang="en">
                <a:latin typeface="Poppins SemiBold"/>
                <a:ea typeface="Poppins SemiBold"/>
                <a:cs typeface="Poppins SemiBold"/>
                <a:sym typeface="Poppins SemiBold"/>
              </a:rPr>
              <a:t>Valeria Moraga</a:t>
            </a:r>
            <a:endParaRPr sz="700">
              <a:latin typeface="Poppins SemiBold"/>
              <a:ea typeface="Poppins SemiBold"/>
              <a:cs typeface="Poppins SemiBold"/>
              <a:sym typeface="Poppins SemiBold"/>
            </a:endParaRPr>
          </a:p>
          <a:p>
            <a:pPr indent="0" lvl="0" marL="0" marR="0" rtl="0" algn="l">
              <a:lnSpc>
                <a:spcPct val="139992"/>
              </a:lnSpc>
              <a:spcBef>
                <a:spcPts val="0"/>
              </a:spcBef>
              <a:spcAft>
                <a:spcPts val="0"/>
              </a:spcAft>
              <a:buNone/>
            </a:pPr>
            <a:r>
              <a:t/>
            </a:r>
            <a:endParaRPr>
              <a:latin typeface="Poppins SemiBold"/>
              <a:ea typeface="Poppins SemiBold"/>
              <a:cs typeface="Poppins SemiBold"/>
              <a:sym typeface="Poppins SemiBold"/>
            </a:endParaRPr>
          </a:p>
        </p:txBody>
      </p:sp>
      <p:sp>
        <p:nvSpPr>
          <p:cNvPr id="150" name="Google Shape;150;p21"/>
          <p:cNvSpPr txBox="1"/>
          <p:nvPr/>
        </p:nvSpPr>
        <p:spPr>
          <a:xfrm>
            <a:off x="2393281" y="33670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Clr>
                <a:srgbClr val="000000"/>
              </a:buClr>
              <a:buFont typeface="Arial"/>
              <a:buNone/>
            </a:pPr>
            <a:r>
              <a:rPr lang="en">
                <a:latin typeface="Poppins SemiBold"/>
                <a:ea typeface="Poppins SemiBold"/>
                <a:cs typeface="Poppins SemiBold"/>
                <a:sym typeface="Poppins SemiBold"/>
              </a:rPr>
              <a:t>Kerem Akyurt</a:t>
            </a:r>
            <a:endParaRPr sz="700">
              <a:latin typeface="Poppins SemiBold"/>
              <a:ea typeface="Poppins SemiBold"/>
              <a:cs typeface="Poppins SemiBold"/>
              <a:sym typeface="Poppins SemiBold"/>
            </a:endParaRPr>
          </a:p>
        </p:txBody>
      </p:sp>
      <p:sp>
        <p:nvSpPr>
          <p:cNvPr id="151" name="Google Shape;151;p21"/>
          <p:cNvSpPr txBox="1"/>
          <p:nvPr/>
        </p:nvSpPr>
        <p:spPr>
          <a:xfrm>
            <a:off x="1533943" y="20598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Actor</a:t>
            </a:r>
            <a:endParaRPr sz="700">
              <a:latin typeface="Poppins"/>
              <a:ea typeface="Poppins"/>
              <a:cs typeface="Poppins"/>
              <a:sym typeface="Poppins"/>
            </a:endParaRPr>
          </a:p>
        </p:txBody>
      </p:sp>
      <p:sp>
        <p:nvSpPr>
          <p:cNvPr id="152" name="Google Shape;152;p21"/>
          <p:cNvSpPr txBox="1"/>
          <p:nvPr/>
        </p:nvSpPr>
        <p:spPr>
          <a:xfrm>
            <a:off x="4337045" y="20598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Doctor</a:t>
            </a:r>
            <a:endParaRPr sz="700">
              <a:latin typeface="Poppins"/>
              <a:ea typeface="Poppins"/>
              <a:cs typeface="Poppins"/>
              <a:sym typeface="Poppins"/>
            </a:endParaRPr>
          </a:p>
        </p:txBody>
      </p:sp>
      <p:sp>
        <p:nvSpPr>
          <p:cNvPr id="153" name="Google Shape;153;p21"/>
          <p:cNvSpPr txBox="1"/>
          <p:nvPr/>
        </p:nvSpPr>
        <p:spPr>
          <a:xfrm>
            <a:off x="2393281" y="36491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Accountant</a:t>
            </a:r>
            <a:endParaRPr sz="700">
              <a:latin typeface="Poppins"/>
              <a:ea typeface="Poppins"/>
              <a:cs typeface="Poppins"/>
              <a:sym typeface="Poppins"/>
            </a:endParaRPr>
          </a:p>
        </p:txBody>
      </p:sp>
      <p:sp>
        <p:nvSpPr>
          <p:cNvPr id="154" name="Google Shape;154;p21"/>
          <p:cNvSpPr txBox="1"/>
          <p:nvPr/>
        </p:nvSpPr>
        <p:spPr>
          <a:xfrm>
            <a:off x="7140147" y="17777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lang="en">
                <a:latin typeface="Poppins SemiBold"/>
                <a:ea typeface="Poppins SemiBold"/>
                <a:cs typeface="Poppins SemiBold"/>
                <a:sym typeface="Poppins SemiBold"/>
              </a:rPr>
              <a:t>Jaime Pineda</a:t>
            </a:r>
            <a:endParaRPr sz="700">
              <a:latin typeface="Poppins SemiBold"/>
              <a:ea typeface="Poppins SemiBold"/>
              <a:cs typeface="Poppins SemiBold"/>
              <a:sym typeface="Poppins SemiBold"/>
            </a:endParaRPr>
          </a:p>
        </p:txBody>
      </p:sp>
      <p:sp>
        <p:nvSpPr>
          <p:cNvPr id="155" name="Google Shape;155;p21"/>
          <p:cNvSpPr txBox="1"/>
          <p:nvPr/>
        </p:nvSpPr>
        <p:spPr>
          <a:xfrm>
            <a:off x="6006872" y="33670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lang="en">
                <a:latin typeface="Poppins SemiBold"/>
                <a:ea typeface="Poppins SemiBold"/>
                <a:cs typeface="Poppins SemiBold"/>
                <a:sym typeface="Poppins SemiBold"/>
              </a:rPr>
              <a:t>Goutham Arcod</a:t>
            </a:r>
            <a:endParaRPr sz="700">
              <a:latin typeface="Poppins SemiBold"/>
              <a:ea typeface="Poppins SemiBold"/>
              <a:cs typeface="Poppins SemiBold"/>
              <a:sym typeface="Poppins SemiBold"/>
            </a:endParaRPr>
          </a:p>
        </p:txBody>
      </p:sp>
      <p:sp>
        <p:nvSpPr>
          <p:cNvPr id="156" name="Google Shape;156;p21"/>
          <p:cNvSpPr txBox="1"/>
          <p:nvPr/>
        </p:nvSpPr>
        <p:spPr>
          <a:xfrm>
            <a:off x="7140147" y="20598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Chef</a:t>
            </a:r>
            <a:endParaRPr sz="700">
              <a:latin typeface="Poppins"/>
              <a:ea typeface="Poppins"/>
              <a:cs typeface="Poppins"/>
              <a:sym typeface="Poppins"/>
            </a:endParaRPr>
          </a:p>
        </p:txBody>
      </p:sp>
      <p:sp>
        <p:nvSpPr>
          <p:cNvPr id="157" name="Google Shape;157;p21"/>
          <p:cNvSpPr txBox="1"/>
          <p:nvPr/>
        </p:nvSpPr>
        <p:spPr>
          <a:xfrm>
            <a:off x="6006872" y="36491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Journalist</a:t>
            </a:r>
            <a:endParaRPr sz="700">
              <a:latin typeface="Poppins"/>
              <a:ea typeface="Poppins"/>
              <a:cs typeface="Poppins"/>
              <a:sym typeface="Poppins"/>
            </a:endParaRPr>
          </a:p>
        </p:txBody>
      </p:sp>
      <p:sp>
        <p:nvSpPr>
          <p:cNvPr id="158" name="Google Shape;158;p21"/>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pic>
        <p:nvPicPr>
          <p:cNvPr id="159" name="Google Shape;159;p21" title="1600874202282.jpeg"/>
          <p:cNvPicPr preferRelativeResize="0"/>
          <p:nvPr/>
        </p:nvPicPr>
        <p:blipFill>
          <a:blip r:embed="rId7">
            <a:alphaModFix/>
          </a:blip>
          <a:stretch>
            <a:fillRect/>
          </a:stretch>
        </p:blipFill>
        <p:spPr>
          <a:xfrm>
            <a:off x="5072687" y="3377100"/>
            <a:ext cx="825175" cy="825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p:nvPr/>
        </p:nvSpPr>
        <p:spPr>
          <a:xfrm>
            <a:off x="0" y="4832150"/>
            <a:ext cx="9144000" cy="311700"/>
          </a:xfrm>
          <a:prstGeom prst="rect">
            <a:avLst/>
          </a:prstGeom>
          <a:solidFill>
            <a:srgbClr val="E4D6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2"/>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66" name="Google Shape;166;p22"/>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67" name="Google Shape;167;p22"/>
          <p:cNvPicPr preferRelativeResize="0"/>
          <p:nvPr/>
        </p:nvPicPr>
        <p:blipFill rotWithShape="1">
          <a:blip r:embed="rId3">
            <a:alphaModFix/>
          </a:blip>
          <a:srcRect b="0" l="0" r="0" t="0"/>
          <a:stretch/>
        </p:blipFill>
        <p:spPr>
          <a:xfrm>
            <a:off x="4456188" y="4832150"/>
            <a:ext cx="313980" cy="311700"/>
          </a:xfrm>
          <a:prstGeom prst="rect">
            <a:avLst/>
          </a:prstGeom>
          <a:noFill/>
          <a:ln>
            <a:noFill/>
          </a:ln>
        </p:spPr>
      </p:pic>
      <p:sp>
        <p:nvSpPr>
          <p:cNvPr id="168" name="Google Shape;168;p22"/>
          <p:cNvSpPr txBox="1"/>
          <p:nvPr/>
        </p:nvSpPr>
        <p:spPr>
          <a:xfrm>
            <a:off x="514350" y="285750"/>
            <a:ext cx="8115300" cy="1139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1100">
                <a:solidFill>
                  <a:srgbClr val="B99470"/>
                </a:solidFill>
                <a:latin typeface="Poppins SemiBold"/>
                <a:ea typeface="Poppins SemiBold"/>
                <a:cs typeface="Poppins SemiBold"/>
                <a:sym typeface="Poppins SemiBold"/>
              </a:rPr>
              <a:t>Introduction</a:t>
            </a:r>
            <a:endParaRPr b="0" sz="1100">
              <a:solidFill>
                <a:srgbClr val="B99470"/>
              </a:solidFill>
              <a:latin typeface="Poppins SemiBold"/>
              <a:ea typeface="Poppins SemiBold"/>
              <a:cs typeface="Poppins SemiBold"/>
              <a:sym typeface="Poppins SemiBold"/>
            </a:endParaRPr>
          </a:p>
          <a:p>
            <a:pPr indent="0" lvl="0" marL="0" rtl="0" algn="l">
              <a:spcBef>
                <a:spcPts val="150"/>
              </a:spcBef>
              <a:spcAft>
                <a:spcPts val="0"/>
              </a:spcAft>
              <a:buNone/>
            </a:pPr>
            <a:r>
              <a:rPr b="1" lang="en" sz="2200">
                <a:solidFill>
                  <a:srgbClr val="705C40"/>
                </a:solidFill>
                <a:latin typeface="Poppins"/>
                <a:ea typeface="Poppins"/>
                <a:cs typeface="Poppins"/>
                <a:sym typeface="Poppins"/>
              </a:rPr>
              <a:t>Does load-related brain connectivity predict working-memory performance?</a:t>
            </a:r>
            <a:endParaRPr b="0" sz="1100">
              <a:solidFill>
                <a:srgbClr val="B99470"/>
              </a:solidFill>
              <a:latin typeface="Poppins SemiBold"/>
              <a:ea typeface="Poppins SemiBold"/>
              <a:cs typeface="Poppins SemiBold"/>
              <a:sym typeface="Poppins SemiBold"/>
            </a:endParaRPr>
          </a:p>
          <a:p>
            <a:pPr indent="0" lvl="0" marL="0" rtl="0" algn="l">
              <a:spcBef>
                <a:spcPts val="450"/>
              </a:spcBef>
              <a:spcAft>
                <a:spcPts val="0"/>
              </a:spcAft>
              <a:buNone/>
            </a:pPr>
            <a:r>
              <a:rPr b="0" lang="en" sz="1400">
                <a:solidFill>
                  <a:srgbClr val="705C40"/>
                </a:solidFill>
                <a:latin typeface="Poppins SemiBold"/>
                <a:ea typeface="Poppins SemiBold"/>
                <a:cs typeface="Poppins SemiBold"/>
                <a:sym typeface="Poppins SemiBold"/>
              </a:rPr>
              <a:t>We predicted two things:</a:t>
            </a:r>
            <a:endParaRPr b="0" sz="1400">
              <a:solidFill>
                <a:srgbClr val="705C40"/>
              </a:solidFill>
              <a:latin typeface="Poppins SemiBold"/>
              <a:ea typeface="Poppins SemiBold"/>
              <a:cs typeface="Poppins SemiBold"/>
              <a:sym typeface="Poppins SemiBold"/>
            </a:endParaRPr>
          </a:p>
        </p:txBody>
      </p:sp>
      <p:sp>
        <p:nvSpPr>
          <p:cNvPr id="169" name="Google Shape;169;p22"/>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grpSp>
        <p:nvGrpSpPr>
          <p:cNvPr id="170" name="Google Shape;170;p22"/>
          <p:cNvGrpSpPr/>
          <p:nvPr/>
        </p:nvGrpSpPr>
        <p:grpSpPr>
          <a:xfrm>
            <a:off x="514350" y="1524000"/>
            <a:ext cx="3867300" cy="2286000"/>
            <a:chOff x="0" y="0"/>
            <a:chExt cx="3867300" cy="2286000"/>
          </a:xfrm>
        </p:grpSpPr>
        <p:sp>
          <p:nvSpPr>
            <p:cNvPr id="171" name="Google Shape;171;p22"/>
            <p:cNvSpPr/>
            <p:nvPr/>
          </p:nvSpPr>
          <p:spPr>
            <a:xfrm>
              <a:off x="0" y="0"/>
              <a:ext cx="3867300" cy="2286000"/>
            </a:xfrm>
            <a:prstGeom prst="roundRect">
              <a:avLst>
                <a:gd fmla="val 5000" name="adj"/>
              </a:avLst>
            </a:prstGeom>
            <a:solidFill>
              <a:srgbClr val="EAD6B8">
                <a:alpha val="30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2"/>
            <p:cNvSpPr txBox="1"/>
            <p:nvPr/>
          </p:nvSpPr>
          <p:spPr>
            <a:xfrm>
              <a:off x="0" y="0"/>
              <a:ext cx="3867300" cy="2286000"/>
            </a:xfrm>
            <a:prstGeom prst="rect">
              <a:avLst/>
            </a:prstGeom>
            <a:solidFill>
              <a:srgbClr val="000000">
                <a:alpha val="0"/>
              </a:srgbClr>
            </a:solidFill>
            <a:ln>
              <a:noFill/>
            </a:ln>
          </p:spPr>
          <p:txBody>
            <a:bodyPr anchorCtr="0" anchor="ctr" bIns="228600" lIns="228600" spcFirstLastPara="1" rIns="228600" wrap="square" tIns="228600">
              <a:noAutofit/>
            </a:bodyPr>
            <a:lstStyle/>
            <a:p>
              <a:pPr indent="0" lvl="0" marL="0" rtl="0" algn="l">
                <a:spcBef>
                  <a:spcPts val="0"/>
                </a:spcBef>
                <a:spcAft>
                  <a:spcPts val="0"/>
                </a:spcAft>
                <a:buNone/>
              </a:pPr>
              <a:r>
                <a:rPr b="1" lang="en" sz="1800">
                  <a:solidFill>
                    <a:srgbClr val="705C40"/>
                  </a:solidFill>
                  <a:latin typeface="Poppins"/>
                  <a:ea typeface="Poppins"/>
                  <a:cs typeface="Poppins"/>
                  <a:sym typeface="Poppins"/>
                </a:rPr>
                <a:t>Pattern</a:t>
              </a:r>
              <a:endParaRPr b="1" sz="1800">
                <a:solidFill>
                  <a:srgbClr val="705C40"/>
                </a:solidFill>
                <a:latin typeface="Poppins"/>
                <a:ea typeface="Poppins"/>
                <a:cs typeface="Poppins"/>
                <a:sym typeface="Poppins"/>
              </a:endParaRPr>
            </a:p>
            <a:p>
              <a:pPr indent="0" lvl="0" marL="0" rtl="0" algn="l">
                <a:spcBef>
                  <a:spcPts val="900"/>
                </a:spcBef>
                <a:spcAft>
                  <a:spcPts val="0"/>
                </a:spcAft>
                <a:buNone/>
              </a:pPr>
              <a:r>
                <a:rPr b="0" lang="en" sz="1300">
                  <a:solidFill>
                    <a:srgbClr val="202729"/>
                  </a:solidFill>
                  <a:latin typeface="Poppins"/>
                  <a:ea typeface="Poppins"/>
                  <a:cs typeface="Poppins"/>
                  <a:sym typeface="Poppins"/>
                </a:rPr>
                <a:t>A 78-feature FC fingerprint of the 2-back − 0-back change predicts performance.</a:t>
              </a:r>
              <a:endParaRPr b="0" sz="1300">
                <a:solidFill>
                  <a:srgbClr val="202729"/>
                </a:solidFill>
                <a:latin typeface="Poppins"/>
                <a:ea typeface="Poppins"/>
                <a:cs typeface="Poppins"/>
                <a:sym typeface="Poppins"/>
              </a:endParaRPr>
            </a:p>
            <a:p>
              <a:pPr indent="0" lvl="0" marL="0" rtl="0" algn="l">
                <a:spcBef>
                  <a:spcPts val="1200"/>
                </a:spcBef>
                <a:spcAft>
                  <a:spcPts val="0"/>
                </a:spcAft>
                <a:buNone/>
              </a:pPr>
              <a:r>
                <a:rPr b="0" lang="en" sz="1100">
                  <a:solidFill>
                    <a:srgbClr val="B99470"/>
                  </a:solidFill>
                  <a:latin typeface="Poppins SemiBold"/>
                  <a:ea typeface="Poppins SemiBold"/>
                  <a:cs typeface="Poppins SemiBold"/>
                  <a:sym typeface="Poppins SemiBold"/>
                </a:rPr>
                <a:t>Distributed pattern</a:t>
              </a:r>
              <a:endParaRPr b="0" sz="1100">
                <a:solidFill>
                  <a:srgbClr val="B99470"/>
                </a:solidFill>
                <a:latin typeface="Poppins SemiBold"/>
                <a:ea typeface="Poppins SemiBold"/>
                <a:cs typeface="Poppins SemiBold"/>
                <a:sym typeface="Poppins SemiBold"/>
              </a:endParaRPr>
            </a:p>
          </p:txBody>
        </p:sp>
      </p:grpSp>
      <p:grpSp>
        <p:nvGrpSpPr>
          <p:cNvPr id="173" name="Google Shape;173;p22"/>
          <p:cNvGrpSpPr/>
          <p:nvPr/>
        </p:nvGrpSpPr>
        <p:grpSpPr>
          <a:xfrm>
            <a:off x="4762500" y="1524000"/>
            <a:ext cx="3867300" cy="2286000"/>
            <a:chOff x="0" y="0"/>
            <a:chExt cx="3867300" cy="2286000"/>
          </a:xfrm>
        </p:grpSpPr>
        <p:sp>
          <p:nvSpPr>
            <p:cNvPr id="174" name="Google Shape;174;p22"/>
            <p:cNvSpPr/>
            <p:nvPr/>
          </p:nvSpPr>
          <p:spPr>
            <a:xfrm>
              <a:off x="0" y="0"/>
              <a:ext cx="3867300" cy="2286000"/>
            </a:xfrm>
            <a:prstGeom prst="roundRect">
              <a:avLst>
                <a:gd fmla="val 5000" name="adj"/>
              </a:avLst>
            </a:prstGeom>
            <a:solidFill>
              <a:srgbClr val="EAD6B8">
                <a:alpha val="30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2"/>
            <p:cNvSpPr txBox="1"/>
            <p:nvPr/>
          </p:nvSpPr>
          <p:spPr>
            <a:xfrm>
              <a:off x="0" y="0"/>
              <a:ext cx="3867300" cy="2286000"/>
            </a:xfrm>
            <a:prstGeom prst="rect">
              <a:avLst/>
            </a:prstGeom>
            <a:solidFill>
              <a:srgbClr val="000000">
                <a:alpha val="0"/>
              </a:srgbClr>
            </a:solidFill>
            <a:ln>
              <a:noFill/>
            </a:ln>
          </p:spPr>
          <p:txBody>
            <a:bodyPr anchorCtr="0" anchor="ctr" bIns="228600" lIns="228600" spcFirstLastPara="1" rIns="228600" wrap="square" tIns="228600">
              <a:noAutofit/>
            </a:bodyPr>
            <a:lstStyle/>
            <a:p>
              <a:pPr indent="0" lvl="0" marL="0" rtl="0" algn="l">
                <a:spcBef>
                  <a:spcPts val="0"/>
                </a:spcBef>
                <a:spcAft>
                  <a:spcPts val="0"/>
                </a:spcAft>
                <a:buNone/>
              </a:pPr>
              <a:r>
                <a:rPr b="1" lang="en" sz="1800">
                  <a:solidFill>
                    <a:srgbClr val="705C40"/>
                  </a:solidFill>
                  <a:latin typeface="Poppins"/>
                  <a:ea typeface="Poppins"/>
                  <a:cs typeface="Poppins"/>
                  <a:sym typeface="Poppins"/>
                </a:rPr>
                <a:t>Direction</a:t>
              </a:r>
              <a:endParaRPr b="1" sz="1800">
                <a:solidFill>
                  <a:srgbClr val="705C40"/>
                </a:solidFill>
                <a:latin typeface="Poppins"/>
                <a:ea typeface="Poppins"/>
                <a:cs typeface="Poppins"/>
                <a:sym typeface="Poppins"/>
              </a:endParaRPr>
            </a:p>
            <a:p>
              <a:pPr indent="0" lvl="0" marL="0" rtl="0" algn="l">
                <a:spcBef>
                  <a:spcPts val="900"/>
                </a:spcBef>
                <a:spcAft>
                  <a:spcPts val="0"/>
                </a:spcAft>
                <a:buNone/>
              </a:pPr>
              <a:r>
                <a:rPr b="0" lang="en" sz="1300">
                  <a:solidFill>
                    <a:srgbClr val="202729"/>
                  </a:solidFill>
                  <a:latin typeface="Poppins"/>
                  <a:ea typeface="Poppins"/>
                  <a:cs typeface="Poppins"/>
                  <a:sym typeface="Poppins"/>
                </a:rPr>
                <a:t>Higher load shifts networks toward integration; larger shifts accompany better performance.</a:t>
              </a:r>
              <a:endParaRPr b="0" sz="1300">
                <a:solidFill>
                  <a:srgbClr val="202729"/>
                </a:solidFill>
                <a:latin typeface="Poppins"/>
                <a:ea typeface="Poppins"/>
                <a:cs typeface="Poppins"/>
                <a:sym typeface="Poppins"/>
              </a:endParaRPr>
            </a:p>
            <a:p>
              <a:pPr indent="0" lvl="0" marL="0" rtl="0" algn="l">
                <a:spcBef>
                  <a:spcPts val="1200"/>
                </a:spcBef>
                <a:spcAft>
                  <a:spcPts val="0"/>
                </a:spcAft>
                <a:buNone/>
              </a:pPr>
              <a:r>
                <a:rPr b="0" lang="en" sz="1100">
                  <a:solidFill>
                    <a:srgbClr val="B99470"/>
                  </a:solidFill>
                  <a:latin typeface="Poppins SemiBold"/>
                  <a:ea typeface="Poppins SemiBold"/>
                  <a:cs typeface="Poppins SemiBold"/>
                  <a:sym typeface="Poppins SemiBold"/>
                </a:rPr>
                <a:t>One-number direction</a:t>
              </a:r>
              <a:endParaRPr b="0" sz="1100">
                <a:solidFill>
                  <a:srgbClr val="B99470"/>
                </a:solidFill>
                <a:latin typeface="Poppins SemiBold"/>
                <a:ea typeface="Poppins SemiBold"/>
                <a:cs typeface="Poppins SemiBold"/>
                <a:sym typeface="Poppins SemiBold"/>
              </a:endParaRPr>
            </a:p>
          </p:txBody>
        </p:sp>
      </p:grpSp>
      <p:grpSp>
        <p:nvGrpSpPr>
          <p:cNvPr id="176" name="Google Shape;176;p22"/>
          <p:cNvGrpSpPr/>
          <p:nvPr/>
        </p:nvGrpSpPr>
        <p:grpSpPr>
          <a:xfrm>
            <a:off x="509588" y="3995738"/>
            <a:ext cx="8124900" cy="390600"/>
            <a:chOff x="-4762" y="-4762"/>
            <a:chExt cx="8124900" cy="390600"/>
          </a:xfrm>
        </p:grpSpPr>
        <p:pic>
          <p:nvPicPr>
            <p:cNvPr id="177" name="Google Shape;177;p22"/>
            <p:cNvPicPr preferRelativeResize="0"/>
            <p:nvPr/>
          </p:nvPicPr>
          <p:blipFill rotWithShape="1">
            <a:blip r:embed="rId4">
              <a:alphaModFix/>
            </a:blip>
            <a:srcRect b="0" l="0" r="0" t="0"/>
            <a:stretch/>
          </p:blipFill>
          <p:spPr>
            <a:xfrm>
              <a:off x="-4762" y="-4762"/>
              <a:ext cx="8124900" cy="390600"/>
            </a:xfrm>
            <a:prstGeom prst="rect">
              <a:avLst/>
            </a:prstGeom>
            <a:noFill/>
            <a:ln>
              <a:noFill/>
            </a:ln>
          </p:spPr>
        </p:pic>
        <p:sp>
          <p:nvSpPr>
            <p:cNvPr id="178" name="Google Shape;178;p22"/>
            <p:cNvSpPr txBox="1"/>
            <p:nvPr/>
          </p:nvSpPr>
          <p:spPr>
            <a:xfrm>
              <a:off x="0" y="0"/>
              <a:ext cx="81153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705C40"/>
                  </a:solidFill>
                  <a:latin typeface="Poppins SemiBold"/>
                  <a:ea typeface="Poppins SemiBold"/>
                  <a:cs typeface="Poppins SemiBold"/>
                  <a:sym typeface="Poppins SemiBold"/>
                </a:rPr>
                <a:t>A distributed pattern and a one-number direction </a:t>
              </a:r>
              <a:r>
                <a:rPr lang="en" sz="1200">
                  <a:solidFill>
                    <a:srgbClr val="705C40"/>
                  </a:solidFill>
                  <a:latin typeface="Poppins SemiBold"/>
                  <a:ea typeface="Poppins SemiBold"/>
                  <a:cs typeface="Poppins SemiBold"/>
                  <a:sym typeface="Poppins SemiBold"/>
                </a:rPr>
                <a:t>are</a:t>
              </a:r>
              <a:r>
                <a:rPr b="0" lang="en" sz="1200">
                  <a:solidFill>
                    <a:srgbClr val="705C40"/>
                  </a:solidFill>
                  <a:latin typeface="Poppins SemiBold"/>
                  <a:ea typeface="Poppins SemiBold"/>
                  <a:cs typeface="Poppins SemiBold"/>
                  <a:sym typeface="Poppins SemiBold"/>
                </a:rPr>
                <a:t> different claims</a:t>
              </a:r>
              <a:endParaRPr b="0" sz="1200">
                <a:solidFill>
                  <a:srgbClr val="705C40"/>
                </a:solidFill>
                <a:latin typeface="Poppins SemiBold"/>
                <a:ea typeface="Poppins SemiBold"/>
                <a:cs typeface="Poppins SemiBold"/>
                <a:sym typeface="Poppins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3"/>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23"/>
          <p:cNvSpPr txBox="1"/>
          <p:nvPr/>
        </p:nvSpPr>
        <p:spPr>
          <a:xfrm>
            <a:off x="304800" y="266700"/>
            <a:ext cx="85344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705C40"/>
                </a:solidFill>
                <a:latin typeface="Poppins"/>
                <a:ea typeface="Poppins"/>
                <a:cs typeface="Poppins"/>
                <a:sym typeface="Poppins"/>
              </a:rPr>
              <a:t>We evaluated a 78-feature FC difference in held-out people</a:t>
            </a:r>
            <a:endParaRPr b="1" sz="2000">
              <a:solidFill>
                <a:srgbClr val="705C40"/>
              </a:solidFill>
              <a:latin typeface="Poppins"/>
              <a:ea typeface="Poppins"/>
              <a:cs typeface="Poppins"/>
              <a:sym typeface="Poppins"/>
            </a:endParaRPr>
          </a:p>
        </p:txBody>
      </p:sp>
      <p:sp>
        <p:nvSpPr>
          <p:cNvPr id="185" name="Google Shape;185;p23"/>
          <p:cNvSpPr txBox="1"/>
          <p:nvPr/>
        </p:nvSpPr>
        <p:spPr>
          <a:xfrm>
            <a:off x="304800" y="704850"/>
            <a:ext cx="8534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1018">
                <a:solidFill>
                  <a:srgbClr val="705C40"/>
                </a:solidFill>
                <a:latin typeface="Poppins SemiBold"/>
                <a:ea typeface="Poppins SemiBold"/>
                <a:cs typeface="Poppins SemiBold"/>
                <a:sym typeface="Poppins SemiBold"/>
              </a:rPr>
              <a:t>FC reconfiguration = how much each network pair changes its coupling when memory load goes from 0-back to 2-back.</a:t>
            </a:r>
            <a:endParaRPr b="0" i="1" sz="1018">
              <a:solidFill>
                <a:srgbClr val="705C40"/>
              </a:solidFill>
              <a:latin typeface="Poppins SemiBold"/>
              <a:ea typeface="Poppins SemiBold"/>
              <a:cs typeface="Poppins SemiBold"/>
              <a:sym typeface="Poppins SemiBold"/>
            </a:endParaRPr>
          </a:p>
        </p:txBody>
      </p:sp>
      <p:grpSp>
        <p:nvGrpSpPr>
          <p:cNvPr id="186" name="Google Shape;186;p23"/>
          <p:cNvGrpSpPr/>
          <p:nvPr/>
        </p:nvGrpSpPr>
        <p:grpSpPr>
          <a:xfrm>
            <a:off x="304800" y="1047750"/>
            <a:ext cx="1857300" cy="1428900"/>
            <a:chOff x="0" y="0"/>
            <a:chExt cx="1857300" cy="1428900"/>
          </a:xfrm>
        </p:grpSpPr>
        <p:sp>
          <p:nvSpPr>
            <p:cNvPr id="187" name="Google Shape;187;p23"/>
            <p:cNvSpPr/>
            <p:nvPr/>
          </p:nvSpPr>
          <p:spPr>
            <a:xfrm>
              <a:off x="0" y="0"/>
              <a:ext cx="1857300" cy="1428900"/>
            </a:xfrm>
            <a:prstGeom prst="roundRect">
              <a:avLst>
                <a:gd fmla="val 5332"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23"/>
            <p:cNvSpPr/>
            <p:nvPr/>
          </p:nvSpPr>
          <p:spPr>
            <a:xfrm>
              <a:off x="0" y="0"/>
              <a:ext cx="1857300" cy="266700"/>
            </a:xfrm>
            <a:custGeom>
              <a:rect b="b" l="l" r="r" t="t"/>
              <a:pathLst>
                <a:path extrusionOk="0" h="120000" w="120000">
                  <a:moveTo>
                    <a:pt x="0" y="34286"/>
                  </a:moveTo>
                  <a:quadBezTo>
                    <a:pt x="0" y="0"/>
                    <a:pt x="4923" y="0"/>
                  </a:quadBezTo>
                  <a:lnTo>
                    <a:pt x="115077" y="0"/>
                  </a:lnTo>
                  <a:quadBezTo>
                    <a:pt x="120000" y="0"/>
                    <a:pt x="120000" y="34286"/>
                  </a:quadBezTo>
                  <a:lnTo>
                    <a:pt x="120000" y="120000"/>
                  </a:lnTo>
                  <a:lnTo>
                    <a:pt x="0" y="120000"/>
                  </a:lnTo>
                  <a:close/>
                </a:path>
              </a:pathLst>
            </a:cu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3"/>
            <p:cNvSpPr txBox="1"/>
            <p:nvPr/>
          </p:nvSpPr>
          <p:spPr>
            <a:xfrm>
              <a:off x="95250" y="57150"/>
              <a:ext cx="1666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25" u="none" strike="noStrike">
                  <a:solidFill>
                    <a:srgbClr val="FFFFFF"/>
                  </a:solidFill>
                  <a:latin typeface="Poppins SemiBold"/>
                  <a:ea typeface="Poppins SemiBold"/>
                  <a:cs typeface="Poppins SemiBold"/>
                  <a:sym typeface="Poppins SemiBold"/>
                </a:rPr>
                <a:t>1. Cohort</a:t>
              </a:r>
              <a:endParaRPr b="0" i="0" sz="825" u="none" strike="noStrike">
                <a:solidFill>
                  <a:srgbClr val="FFFFFF"/>
                </a:solidFill>
                <a:latin typeface="Poppins SemiBold"/>
                <a:ea typeface="Poppins SemiBold"/>
                <a:cs typeface="Poppins SemiBold"/>
                <a:sym typeface="Poppins SemiBold"/>
              </a:endParaRPr>
            </a:p>
          </p:txBody>
        </p:sp>
        <p:sp>
          <p:nvSpPr>
            <p:cNvPr id="190" name="Google Shape;190;p23"/>
            <p:cNvSpPr txBox="1"/>
            <p:nvPr/>
          </p:nvSpPr>
          <p:spPr>
            <a:xfrm>
              <a:off x="95250" y="361950"/>
              <a:ext cx="1666800" cy="971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825" u="none" strike="noStrike">
                  <a:solidFill>
                    <a:srgbClr val="705C40"/>
                  </a:solidFill>
                  <a:latin typeface="Poppins"/>
                  <a:ea typeface="Poppins"/>
                  <a:cs typeface="Poppins"/>
                  <a:sym typeface="Poppins"/>
                </a:rPr>
                <a:t>336</a:t>
              </a:r>
              <a:r>
                <a:rPr b="0" i="0" lang="en" sz="825" u="none" strike="noStrike">
                  <a:solidFill>
                    <a:srgbClr val="202729"/>
                  </a:solidFill>
                  <a:latin typeface="Poppins Medium"/>
                  <a:ea typeface="Poppins Medium"/>
                  <a:cs typeface="Poppins Medium"/>
                  <a:sym typeface="Poppins Medium"/>
                </a:rPr>
                <a:t> participants</a:t>
              </a:r>
              <a:br>
                <a:rPr b="1" i="0" lang="en" sz="825" u="none" strike="noStrike">
                  <a:solidFill>
                    <a:srgbClr val="705C40"/>
                  </a:solidFill>
                  <a:latin typeface="Poppins"/>
                  <a:ea typeface="Poppins"/>
                  <a:cs typeface="Poppins"/>
                  <a:sym typeface="Poppins"/>
                </a:rPr>
              </a:br>
              <a:r>
                <a:rPr b="0" i="0" lang="en" sz="825" u="none" strike="noStrike">
                  <a:solidFill>
                    <a:srgbClr val="202729"/>
                  </a:solidFill>
                  <a:latin typeface="Poppins Medium"/>
                  <a:ea typeface="Poppins Medium"/>
                  <a:cs typeface="Poppins Medium"/>
                  <a:sym typeface="Poppins Medium"/>
                </a:rPr>
                <a:t>HCP N-back dataset</a:t>
              </a:r>
              <a:br>
                <a:rPr b="1" i="0" lang="en" sz="825" u="none" strike="noStrike">
                  <a:solidFill>
                    <a:srgbClr val="705C40"/>
                  </a:solidFill>
                  <a:latin typeface="Poppins"/>
                  <a:ea typeface="Poppins"/>
                  <a:cs typeface="Poppins"/>
                  <a:sym typeface="Poppins"/>
                </a:rPr>
              </a:br>
              <a:r>
                <a:rPr b="0" i="0" lang="en" sz="825" u="none" strike="noStrike">
                  <a:solidFill>
                    <a:srgbClr val="202729"/>
                  </a:solidFill>
                  <a:latin typeface="Poppins Medium"/>
                  <a:ea typeface="Poppins Medium"/>
                  <a:cs typeface="Poppins Medium"/>
                  <a:sym typeface="Poppins Medium"/>
                </a:rPr>
                <a:t>2 WM runs per subject</a:t>
              </a:r>
              <a:br>
                <a:rPr b="1" i="0" lang="en" sz="825" u="none" strike="noStrike">
                  <a:solidFill>
                    <a:srgbClr val="705C40"/>
                  </a:solidFill>
                  <a:latin typeface="Poppins"/>
                  <a:ea typeface="Poppins"/>
                  <a:cs typeface="Poppins"/>
                  <a:sym typeface="Poppins"/>
                </a:rPr>
              </a:br>
              <a:r>
                <a:rPr b="0" i="0" lang="en" sz="825" u="none" strike="noStrike">
                  <a:solidFill>
                    <a:srgbClr val="202729"/>
                  </a:solidFill>
                  <a:latin typeface="Poppins Medium"/>
                  <a:ea typeface="Poppins Medium"/>
                  <a:cs typeface="Poppins Medium"/>
                  <a:sym typeface="Poppins Medium"/>
                </a:rPr>
                <a:t>360 Glasser ROIs</a:t>
              </a:r>
              <a:br>
                <a:rPr b="1" i="0" lang="en" sz="825" u="none" strike="noStrike">
                  <a:solidFill>
                    <a:srgbClr val="705C40"/>
                  </a:solidFill>
                  <a:latin typeface="Poppins"/>
                  <a:ea typeface="Poppins"/>
                  <a:cs typeface="Poppins"/>
                  <a:sym typeface="Poppins"/>
                </a:rPr>
              </a:br>
              <a:r>
                <a:rPr b="0" i="0" lang="en" sz="750" u="none" strike="noStrike">
                  <a:solidFill>
                    <a:srgbClr val="616161"/>
                  </a:solidFill>
                  <a:latin typeface="Poppins"/>
                  <a:ea typeface="Poppins"/>
                  <a:cs typeface="Poppins"/>
                  <a:sym typeface="Poppins"/>
                </a:rPr>
                <a:t>TR = 0.72 s</a:t>
              </a:r>
              <a:endParaRPr b="1" i="0" sz="825" u="none" strike="noStrike">
                <a:solidFill>
                  <a:srgbClr val="705C40"/>
                </a:solidFill>
                <a:latin typeface="Poppins"/>
                <a:ea typeface="Poppins"/>
                <a:cs typeface="Poppins"/>
                <a:sym typeface="Poppins"/>
              </a:endParaRPr>
            </a:p>
          </p:txBody>
        </p:sp>
      </p:grpSp>
      <p:grpSp>
        <p:nvGrpSpPr>
          <p:cNvPr id="191" name="Google Shape;191;p23"/>
          <p:cNvGrpSpPr/>
          <p:nvPr/>
        </p:nvGrpSpPr>
        <p:grpSpPr>
          <a:xfrm>
            <a:off x="2466975" y="1047750"/>
            <a:ext cx="1857300" cy="1428900"/>
            <a:chOff x="0" y="0"/>
            <a:chExt cx="1857300" cy="1428900"/>
          </a:xfrm>
        </p:grpSpPr>
        <p:sp>
          <p:nvSpPr>
            <p:cNvPr id="192" name="Google Shape;192;p23"/>
            <p:cNvSpPr/>
            <p:nvPr/>
          </p:nvSpPr>
          <p:spPr>
            <a:xfrm>
              <a:off x="0" y="0"/>
              <a:ext cx="1857300" cy="1428900"/>
            </a:xfrm>
            <a:prstGeom prst="roundRect">
              <a:avLst>
                <a:gd fmla="val 5332"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3"/>
            <p:cNvSpPr/>
            <p:nvPr/>
          </p:nvSpPr>
          <p:spPr>
            <a:xfrm>
              <a:off x="0" y="0"/>
              <a:ext cx="1857300" cy="266700"/>
            </a:xfrm>
            <a:custGeom>
              <a:rect b="b" l="l" r="r" t="t"/>
              <a:pathLst>
                <a:path extrusionOk="0" h="120000" w="120000">
                  <a:moveTo>
                    <a:pt x="0" y="34286"/>
                  </a:moveTo>
                  <a:quadBezTo>
                    <a:pt x="0" y="0"/>
                    <a:pt x="4923" y="0"/>
                  </a:quadBezTo>
                  <a:lnTo>
                    <a:pt x="115077" y="0"/>
                  </a:lnTo>
                  <a:quadBezTo>
                    <a:pt x="120000" y="0"/>
                    <a:pt x="120000" y="34286"/>
                  </a:quadBezTo>
                  <a:lnTo>
                    <a:pt x="120000" y="120000"/>
                  </a:lnTo>
                  <a:lnTo>
                    <a:pt x="0" y="120000"/>
                  </a:lnTo>
                  <a:close/>
                </a:path>
              </a:pathLst>
            </a:cu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23"/>
            <p:cNvSpPr txBox="1"/>
            <p:nvPr/>
          </p:nvSpPr>
          <p:spPr>
            <a:xfrm>
              <a:off x="95250" y="57150"/>
              <a:ext cx="1666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25" u="none" strike="noStrike">
                  <a:solidFill>
                    <a:srgbClr val="FFFFFF"/>
                  </a:solidFill>
                  <a:latin typeface="Poppins SemiBold"/>
                  <a:ea typeface="Poppins SemiBold"/>
                  <a:cs typeface="Poppins SemiBold"/>
                  <a:sym typeface="Poppins SemiBold"/>
                </a:rPr>
                <a:t>2. Condition frames</a:t>
              </a:r>
              <a:endParaRPr b="0" i="0" sz="825" u="none" strike="noStrike">
                <a:solidFill>
                  <a:srgbClr val="FFFFFF"/>
                </a:solidFill>
                <a:latin typeface="Poppins SemiBold"/>
                <a:ea typeface="Poppins SemiBold"/>
                <a:cs typeface="Poppins SemiBold"/>
                <a:sym typeface="Poppins SemiBold"/>
              </a:endParaRPr>
            </a:p>
          </p:txBody>
        </p:sp>
        <p:sp>
          <p:nvSpPr>
            <p:cNvPr id="195" name="Google Shape;195;p23"/>
            <p:cNvSpPr txBox="1"/>
            <p:nvPr/>
          </p:nvSpPr>
          <p:spPr>
            <a:xfrm>
              <a:off x="95250" y="361950"/>
              <a:ext cx="1666800" cy="971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825" u="none" strike="noStrike">
                  <a:solidFill>
                    <a:srgbClr val="202729"/>
                  </a:solidFill>
                  <a:latin typeface="Poppins Medium"/>
                  <a:ea typeface="Poppins Medium"/>
                  <a:cs typeface="Poppins Medium"/>
                  <a:sym typeface="Poppins Medium"/>
                </a:rPr>
                <a:t>4 s HRF shift window</a:t>
              </a:r>
              <a:br>
                <a:rPr b="0" i="0" lang="en" sz="825" u="none" strike="noStrike">
                  <a:solidFill>
                    <a:srgbClr val="202729"/>
                  </a:solidFill>
                  <a:latin typeface="Poppins Medium"/>
                  <a:ea typeface="Poppins Medium"/>
                  <a:cs typeface="Poppins Medium"/>
                  <a:sym typeface="Poppins Medium"/>
                </a:rPr>
              </a:br>
              <a:r>
                <a:rPr b="1" i="0" lang="en" sz="825" u="none" strike="noStrike">
                  <a:solidFill>
                    <a:srgbClr val="705C40"/>
                  </a:solidFill>
                  <a:latin typeface="Poppins"/>
                  <a:ea typeface="Poppins"/>
                  <a:cs typeface="Poppins"/>
                  <a:sym typeface="Poppins"/>
                </a:rPr>
                <a:t>312</a:t>
              </a:r>
              <a:r>
                <a:rPr b="0" i="0" lang="en" sz="825" u="none" strike="noStrike">
                  <a:solidFill>
                    <a:srgbClr val="202729"/>
                  </a:solidFill>
                  <a:latin typeface="Poppins Medium"/>
                  <a:ea typeface="Poppins Medium"/>
                  <a:cs typeface="Poppins Medium"/>
                  <a:sym typeface="Poppins Medium"/>
                </a:rPr>
                <a:t> frames per load</a:t>
              </a:r>
              <a:br>
                <a:rPr b="0" i="0" lang="en" sz="825" u="none" strike="noStrike">
                  <a:solidFill>
                    <a:srgbClr val="202729"/>
                  </a:solidFill>
                  <a:latin typeface="Poppins Medium"/>
                  <a:ea typeface="Poppins Medium"/>
                  <a:cs typeface="Poppins Medium"/>
                  <a:sym typeface="Poppins Medium"/>
                </a:rPr>
              </a:br>
              <a:r>
                <a:rPr b="0" i="0" lang="en" sz="825" u="none" strike="noStrike">
                  <a:solidFill>
                    <a:srgbClr val="202729"/>
                  </a:solidFill>
                  <a:latin typeface="Poppins Medium"/>
                  <a:ea typeface="Poppins Medium"/>
                  <a:cs typeface="Poppins Medium"/>
                  <a:sym typeface="Poppins Medium"/>
                </a:rPr>
                <a:t>No 0-back / 2-back temporal overlap</a:t>
              </a:r>
              <a:endParaRPr b="0" i="0" sz="825" u="none" strike="noStrike">
                <a:solidFill>
                  <a:srgbClr val="202729"/>
                </a:solidFill>
                <a:latin typeface="Poppins Medium"/>
                <a:ea typeface="Poppins Medium"/>
                <a:cs typeface="Poppins Medium"/>
                <a:sym typeface="Poppins Medium"/>
              </a:endParaRPr>
            </a:p>
          </p:txBody>
        </p:sp>
      </p:grpSp>
      <p:grpSp>
        <p:nvGrpSpPr>
          <p:cNvPr id="196" name="Google Shape;196;p23"/>
          <p:cNvGrpSpPr/>
          <p:nvPr/>
        </p:nvGrpSpPr>
        <p:grpSpPr>
          <a:xfrm>
            <a:off x="4629150" y="1047750"/>
            <a:ext cx="1857300" cy="1428900"/>
            <a:chOff x="0" y="0"/>
            <a:chExt cx="1857300" cy="1428900"/>
          </a:xfrm>
        </p:grpSpPr>
        <p:sp>
          <p:nvSpPr>
            <p:cNvPr id="197" name="Google Shape;197;p23"/>
            <p:cNvSpPr/>
            <p:nvPr/>
          </p:nvSpPr>
          <p:spPr>
            <a:xfrm>
              <a:off x="0" y="0"/>
              <a:ext cx="1857300" cy="1428900"/>
            </a:xfrm>
            <a:prstGeom prst="roundRect">
              <a:avLst>
                <a:gd fmla="val 5332"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3"/>
            <p:cNvSpPr/>
            <p:nvPr/>
          </p:nvSpPr>
          <p:spPr>
            <a:xfrm>
              <a:off x="0" y="0"/>
              <a:ext cx="1857300" cy="266700"/>
            </a:xfrm>
            <a:custGeom>
              <a:rect b="b" l="l" r="r" t="t"/>
              <a:pathLst>
                <a:path extrusionOk="0" h="120000" w="120000">
                  <a:moveTo>
                    <a:pt x="0" y="34286"/>
                  </a:moveTo>
                  <a:quadBezTo>
                    <a:pt x="0" y="0"/>
                    <a:pt x="4923" y="0"/>
                  </a:quadBezTo>
                  <a:lnTo>
                    <a:pt x="115077" y="0"/>
                  </a:lnTo>
                  <a:quadBezTo>
                    <a:pt x="120000" y="0"/>
                    <a:pt x="120000" y="34286"/>
                  </a:quadBezTo>
                  <a:lnTo>
                    <a:pt x="120000" y="120000"/>
                  </a:lnTo>
                  <a:lnTo>
                    <a:pt x="0" y="120000"/>
                  </a:lnTo>
                  <a:close/>
                </a:path>
              </a:pathLst>
            </a:cu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3"/>
            <p:cNvSpPr txBox="1"/>
            <p:nvPr/>
          </p:nvSpPr>
          <p:spPr>
            <a:xfrm>
              <a:off x="95250" y="57150"/>
              <a:ext cx="1666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25" u="none" strike="noStrike">
                  <a:solidFill>
                    <a:srgbClr val="FFFFFF"/>
                  </a:solidFill>
                  <a:latin typeface="Poppins SemiBold"/>
                  <a:ea typeface="Poppins SemiBold"/>
                  <a:cs typeface="Poppins SemiBold"/>
                  <a:sym typeface="Poppins SemiBold"/>
                </a:rPr>
                <a:t>3. FC per condition</a:t>
              </a:r>
              <a:endParaRPr b="0" i="0" sz="825" u="none" strike="noStrike">
                <a:solidFill>
                  <a:srgbClr val="FFFFFF"/>
                </a:solidFill>
                <a:latin typeface="Poppins SemiBold"/>
                <a:ea typeface="Poppins SemiBold"/>
                <a:cs typeface="Poppins SemiBold"/>
                <a:sym typeface="Poppins SemiBold"/>
              </a:endParaRPr>
            </a:p>
          </p:txBody>
        </p:sp>
        <p:sp>
          <p:nvSpPr>
            <p:cNvPr id="200" name="Google Shape;200;p23"/>
            <p:cNvSpPr txBox="1"/>
            <p:nvPr/>
          </p:nvSpPr>
          <p:spPr>
            <a:xfrm>
              <a:off x="95250" y="361950"/>
              <a:ext cx="1666800" cy="971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825" u="none" strike="noStrike">
                  <a:solidFill>
                    <a:srgbClr val="202729"/>
                  </a:solidFill>
                  <a:latin typeface="Poppins Medium"/>
                  <a:ea typeface="Poppins Medium"/>
                  <a:cs typeface="Poppins Medium"/>
                  <a:sym typeface="Poppins Medium"/>
                </a:rPr>
                <a:t>360 × 360 Pearson correlation matrix</a:t>
              </a:r>
              <a:br>
                <a:rPr b="0" i="0" lang="en" sz="825" u="none" strike="noStrike">
                  <a:solidFill>
                    <a:srgbClr val="202729"/>
                  </a:solidFill>
                  <a:latin typeface="Poppins Medium"/>
                  <a:ea typeface="Poppins Medium"/>
                  <a:cs typeface="Poppins Medium"/>
                  <a:sym typeface="Poppins Medium"/>
                </a:rPr>
              </a:br>
              <a:r>
                <a:rPr b="0" i="0" lang="en" sz="750" u="none" strike="noStrike">
                  <a:solidFill>
                    <a:srgbClr val="616161"/>
                  </a:solidFill>
                  <a:latin typeface="Poppins"/>
                  <a:ea typeface="Poppins"/>
                  <a:cs typeface="Poppins"/>
                  <a:sym typeface="Poppins"/>
                </a:rPr>
                <a:t>Computed separately for 0-back and 2-back</a:t>
              </a:r>
              <a:endParaRPr b="0" i="0" sz="825" u="none" strike="noStrike">
                <a:solidFill>
                  <a:srgbClr val="202729"/>
                </a:solidFill>
                <a:latin typeface="Poppins Medium"/>
                <a:ea typeface="Poppins Medium"/>
                <a:cs typeface="Poppins Medium"/>
                <a:sym typeface="Poppins Medium"/>
              </a:endParaRPr>
            </a:p>
          </p:txBody>
        </p:sp>
      </p:grpSp>
      <p:grpSp>
        <p:nvGrpSpPr>
          <p:cNvPr id="201" name="Google Shape;201;p23"/>
          <p:cNvGrpSpPr/>
          <p:nvPr/>
        </p:nvGrpSpPr>
        <p:grpSpPr>
          <a:xfrm>
            <a:off x="6791325" y="1047750"/>
            <a:ext cx="1857300" cy="1428900"/>
            <a:chOff x="0" y="0"/>
            <a:chExt cx="1857300" cy="1428900"/>
          </a:xfrm>
        </p:grpSpPr>
        <p:sp>
          <p:nvSpPr>
            <p:cNvPr id="202" name="Google Shape;202;p23"/>
            <p:cNvSpPr/>
            <p:nvPr/>
          </p:nvSpPr>
          <p:spPr>
            <a:xfrm>
              <a:off x="0" y="0"/>
              <a:ext cx="1857300" cy="1428900"/>
            </a:xfrm>
            <a:prstGeom prst="roundRect">
              <a:avLst>
                <a:gd fmla="val 5332"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3"/>
            <p:cNvSpPr/>
            <p:nvPr/>
          </p:nvSpPr>
          <p:spPr>
            <a:xfrm>
              <a:off x="0" y="0"/>
              <a:ext cx="1857300" cy="266700"/>
            </a:xfrm>
            <a:custGeom>
              <a:rect b="b" l="l" r="r" t="t"/>
              <a:pathLst>
                <a:path extrusionOk="0" h="120000" w="120000">
                  <a:moveTo>
                    <a:pt x="0" y="34286"/>
                  </a:moveTo>
                  <a:quadBezTo>
                    <a:pt x="0" y="0"/>
                    <a:pt x="4923" y="0"/>
                  </a:quadBezTo>
                  <a:lnTo>
                    <a:pt x="115077" y="0"/>
                  </a:lnTo>
                  <a:quadBezTo>
                    <a:pt x="120000" y="0"/>
                    <a:pt x="120000" y="34286"/>
                  </a:quadBezTo>
                  <a:lnTo>
                    <a:pt x="120000" y="120000"/>
                  </a:lnTo>
                  <a:lnTo>
                    <a:pt x="0" y="120000"/>
                  </a:lnTo>
                  <a:close/>
                </a:path>
              </a:pathLst>
            </a:cu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3"/>
            <p:cNvSpPr txBox="1"/>
            <p:nvPr/>
          </p:nvSpPr>
          <p:spPr>
            <a:xfrm>
              <a:off x="95250" y="57150"/>
              <a:ext cx="1666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25" u="none" strike="noStrike">
                  <a:solidFill>
                    <a:srgbClr val="FFFFFF"/>
                  </a:solidFill>
                  <a:latin typeface="Poppins SemiBold"/>
                  <a:ea typeface="Poppins SemiBold"/>
                  <a:cs typeface="Poppins SemiBold"/>
                  <a:sym typeface="Poppins SemiBold"/>
                </a:rPr>
                <a:t>4. Network fingerprint</a:t>
              </a:r>
              <a:endParaRPr b="0" i="0" sz="825" u="none" strike="noStrike">
                <a:solidFill>
                  <a:srgbClr val="FFFFFF"/>
                </a:solidFill>
                <a:latin typeface="Poppins SemiBold"/>
                <a:ea typeface="Poppins SemiBold"/>
                <a:cs typeface="Poppins SemiBold"/>
                <a:sym typeface="Poppins SemiBold"/>
              </a:endParaRPr>
            </a:p>
          </p:txBody>
        </p:sp>
        <p:sp>
          <p:nvSpPr>
            <p:cNvPr id="205" name="Google Shape;205;p23"/>
            <p:cNvSpPr txBox="1"/>
            <p:nvPr/>
          </p:nvSpPr>
          <p:spPr>
            <a:xfrm>
              <a:off x="95250" y="361950"/>
              <a:ext cx="1666800" cy="971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825" u="none" strike="noStrike">
                  <a:solidFill>
                    <a:srgbClr val="705C40"/>
                  </a:solidFill>
                  <a:latin typeface="Poppins"/>
                  <a:ea typeface="Poppins"/>
                  <a:cs typeface="Poppins"/>
                  <a:sym typeface="Poppins"/>
                </a:rPr>
                <a:t>78 total values</a:t>
              </a:r>
              <a:r>
                <a:rPr b="0" i="0" lang="en" sz="825" u="none" strike="noStrike">
                  <a:solidFill>
                    <a:srgbClr val="202729"/>
                  </a:solidFill>
                  <a:latin typeface="Poppins Medium"/>
                  <a:ea typeface="Poppins Medium"/>
                  <a:cs typeface="Poppins Medium"/>
                  <a:sym typeface="Poppins Medium"/>
                </a:rPr>
                <a:t> over Cole-Anticevic networks:</a:t>
              </a:r>
              <a:br>
                <a:rPr b="1" i="0" lang="en" sz="825" u="none" strike="noStrike">
                  <a:solidFill>
                    <a:srgbClr val="705C40"/>
                  </a:solidFill>
                  <a:latin typeface="Poppins"/>
                  <a:ea typeface="Poppins"/>
                  <a:cs typeface="Poppins"/>
                  <a:sym typeface="Poppins"/>
                </a:rPr>
              </a:br>
              <a:r>
                <a:rPr b="0" i="0" lang="en" sz="825" u="none" strike="noStrike">
                  <a:solidFill>
                    <a:srgbClr val="202729"/>
                  </a:solidFill>
                  <a:latin typeface="Poppins Medium"/>
                  <a:ea typeface="Poppins Medium"/>
                  <a:cs typeface="Poppins Medium"/>
                  <a:sym typeface="Poppins Medium"/>
                </a:rPr>
                <a:t>• 12 within-network</a:t>
              </a:r>
              <a:br>
                <a:rPr b="1" i="0" lang="en" sz="825" u="none" strike="noStrike">
                  <a:solidFill>
                    <a:srgbClr val="705C40"/>
                  </a:solidFill>
                  <a:latin typeface="Poppins"/>
                  <a:ea typeface="Poppins"/>
                  <a:cs typeface="Poppins"/>
                  <a:sym typeface="Poppins"/>
                </a:rPr>
              </a:br>
              <a:r>
                <a:rPr b="0" i="0" lang="en" sz="825" u="none" strike="noStrike">
                  <a:solidFill>
                    <a:srgbClr val="202729"/>
                  </a:solidFill>
                  <a:latin typeface="Poppins Medium"/>
                  <a:ea typeface="Poppins Medium"/>
                  <a:cs typeface="Poppins Medium"/>
                  <a:sym typeface="Poppins Medium"/>
                </a:rPr>
                <a:t>• 66 between-network</a:t>
              </a:r>
              <a:endParaRPr b="1" i="0" sz="825" u="none" strike="noStrike">
                <a:solidFill>
                  <a:srgbClr val="705C40"/>
                </a:solidFill>
                <a:latin typeface="Poppins"/>
                <a:ea typeface="Poppins"/>
                <a:cs typeface="Poppins"/>
                <a:sym typeface="Poppins"/>
              </a:endParaRPr>
            </a:p>
          </p:txBody>
        </p:sp>
      </p:grpSp>
      <p:pic>
        <p:nvPicPr>
          <p:cNvPr id="206" name="Google Shape;206;p23"/>
          <p:cNvPicPr preferRelativeResize="0"/>
          <p:nvPr/>
        </p:nvPicPr>
        <p:blipFill rotWithShape="1">
          <a:blip r:embed="rId3">
            <a:alphaModFix/>
          </a:blip>
          <a:srcRect b="0" l="30" r="20" t="0"/>
          <a:stretch/>
        </p:blipFill>
        <p:spPr>
          <a:xfrm>
            <a:off x="2400300" y="2505075"/>
            <a:ext cx="5324400" cy="285900"/>
          </a:xfrm>
          <a:prstGeom prst="rect">
            <a:avLst/>
          </a:prstGeom>
          <a:noFill/>
          <a:ln>
            <a:noFill/>
          </a:ln>
        </p:spPr>
      </p:pic>
      <p:grpSp>
        <p:nvGrpSpPr>
          <p:cNvPr id="207" name="Google Shape;207;p23"/>
          <p:cNvGrpSpPr/>
          <p:nvPr/>
        </p:nvGrpSpPr>
        <p:grpSpPr>
          <a:xfrm>
            <a:off x="1390650" y="2809875"/>
            <a:ext cx="2524200" cy="1066800"/>
            <a:chOff x="0" y="0"/>
            <a:chExt cx="2524200" cy="1066800"/>
          </a:xfrm>
        </p:grpSpPr>
        <p:sp>
          <p:nvSpPr>
            <p:cNvPr id="208" name="Google Shape;208;p23"/>
            <p:cNvSpPr/>
            <p:nvPr/>
          </p:nvSpPr>
          <p:spPr>
            <a:xfrm>
              <a:off x="0" y="0"/>
              <a:ext cx="2524200" cy="1066800"/>
            </a:xfrm>
            <a:prstGeom prst="roundRect">
              <a:avLst>
                <a:gd fmla="val 7142"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3"/>
            <p:cNvSpPr/>
            <p:nvPr/>
          </p:nvSpPr>
          <p:spPr>
            <a:xfrm>
              <a:off x="0" y="0"/>
              <a:ext cx="2524200" cy="266700"/>
            </a:xfrm>
            <a:custGeom>
              <a:rect b="b" l="l" r="r" t="t"/>
              <a:pathLst>
                <a:path extrusionOk="0" h="120000" w="120000">
                  <a:moveTo>
                    <a:pt x="0" y="34286"/>
                  </a:moveTo>
                  <a:quadBezTo>
                    <a:pt x="0" y="0"/>
                    <a:pt x="3623" y="0"/>
                  </a:quadBezTo>
                  <a:lnTo>
                    <a:pt x="116377" y="0"/>
                  </a:lnTo>
                  <a:quadBezTo>
                    <a:pt x="120000" y="0"/>
                    <a:pt x="120000" y="34286"/>
                  </a:quadBezTo>
                  <a:lnTo>
                    <a:pt x="120000" y="120000"/>
                  </a:lnTo>
                  <a:lnTo>
                    <a:pt x="0" y="120000"/>
                  </a:lnTo>
                  <a:close/>
                </a:path>
              </a:pathLst>
            </a:cu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3"/>
            <p:cNvSpPr txBox="1"/>
            <p:nvPr/>
          </p:nvSpPr>
          <p:spPr>
            <a:xfrm>
              <a:off x="114300" y="57150"/>
              <a:ext cx="22956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25" u="none" strike="noStrike">
                  <a:solidFill>
                    <a:srgbClr val="FFFFFF"/>
                  </a:solidFill>
                  <a:latin typeface="Poppins SemiBold"/>
                  <a:ea typeface="Poppins SemiBold"/>
                  <a:cs typeface="Poppins SemiBold"/>
                  <a:sym typeface="Poppins SemiBold"/>
                </a:rPr>
                <a:t>5. Reconfiguration</a:t>
              </a:r>
              <a:endParaRPr b="0" i="0" sz="825" u="none" strike="noStrike">
                <a:solidFill>
                  <a:srgbClr val="FFFFFF"/>
                </a:solidFill>
                <a:latin typeface="Poppins SemiBold"/>
                <a:ea typeface="Poppins SemiBold"/>
                <a:cs typeface="Poppins SemiBold"/>
                <a:sym typeface="Poppins SemiBold"/>
              </a:endParaRPr>
            </a:p>
          </p:txBody>
        </p:sp>
        <p:sp>
          <p:nvSpPr>
            <p:cNvPr id="211" name="Google Shape;211;p23"/>
            <p:cNvSpPr txBox="1"/>
            <p:nvPr/>
          </p:nvSpPr>
          <p:spPr>
            <a:xfrm>
              <a:off x="114300" y="342900"/>
              <a:ext cx="22956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825" u="none" strike="noStrike">
                  <a:solidFill>
                    <a:srgbClr val="705C40"/>
                  </a:solidFill>
                  <a:latin typeface="Poppins"/>
                  <a:ea typeface="Poppins"/>
                  <a:cs typeface="Poppins"/>
                  <a:sym typeface="Poppins"/>
                </a:rPr>
                <a:t>fingerprint(2-back) − fingerprint(0-back)</a:t>
              </a:r>
              <a:br>
                <a:rPr b="1" i="0" lang="en" sz="825" u="none" strike="noStrike">
                  <a:solidFill>
                    <a:srgbClr val="705C40"/>
                  </a:solidFill>
                  <a:latin typeface="Poppins"/>
                  <a:ea typeface="Poppins"/>
                  <a:cs typeface="Poppins"/>
                  <a:sym typeface="Poppins"/>
                </a:rPr>
              </a:br>
              <a:r>
                <a:rPr b="0" i="0" lang="en" sz="825" u="none" strike="noStrike">
                  <a:solidFill>
                    <a:srgbClr val="202729"/>
                  </a:solidFill>
                  <a:latin typeface="Poppins Medium"/>
                  <a:ea typeface="Poppins Medium"/>
                  <a:cs typeface="Poppins Medium"/>
                  <a:sym typeface="Poppins Medium"/>
                </a:rPr>
                <a:t>Resulting feature matrix:</a:t>
              </a:r>
              <a:br>
                <a:rPr b="1" i="0" lang="en" sz="825" u="none" strike="noStrike">
                  <a:solidFill>
                    <a:srgbClr val="705C40"/>
                  </a:solidFill>
                  <a:latin typeface="Poppins"/>
                  <a:ea typeface="Poppins"/>
                  <a:cs typeface="Poppins"/>
                  <a:sym typeface="Poppins"/>
                </a:rPr>
              </a:br>
              <a:r>
                <a:rPr b="1" i="0" lang="en" sz="825" u="none" strike="noStrike">
                  <a:solidFill>
                    <a:srgbClr val="705C40"/>
                  </a:solidFill>
                  <a:latin typeface="Poppins"/>
                  <a:ea typeface="Poppins"/>
                  <a:cs typeface="Poppins"/>
                  <a:sym typeface="Poppins"/>
                </a:rPr>
                <a:t>336 participants × 78 features</a:t>
              </a:r>
              <a:endParaRPr b="1" i="0" sz="825" u="none" strike="noStrike">
                <a:solidFill>
                  <a:srgbClr val="705C40"/>
                </a:solidFill>
                <a:latin typeface="Poppins"/>
                <a:ea typeface="Poppins"/>
                <a:cs typeface="Poppins"/>
                <a:sym typeface="Poppins"/>
              </a:endParaRPr>
            </a:p>
          </p:txBody>
        </p:sp>
      </p:grpSp>
      <p:grpSp>
        <p:nvGrpSpPr>
          <p:cNvPr id="212" name="Google Shape;212;p23"/>
          <p:cNvGrpSpPr/>
          <p:nvPr/>
        </p:nvGrpSpPr>
        <p:grpSpPr>
          <a:xfrm>
            <a:off x="4410075" y="2809875"/>
            <a:ext cx="2524200" cy="1066800"/>
            <a:chOff x="0" y="0"/>
            <a:chExt cx="2524200" cy="1066800"/>
          </a:xfrm>
        </p:grpSpPr>
        <p:sp>
          <p:nvSpPr>
            <p:cNvPr id="213" name="Google Shape;213;p23"/>
            <p:cNvSpPr/>
            <p:nvPr/>
          </p:nvSpPr>
          <p:spPr>
            <a:xfrm>
              <a:off x="0" y="0"/>
              <a:ext cx="2524200" cy="1066800"/>
            </a:xfrm>
            <a:prstGeom prst="roundRect">
              <a:avLst>
                <a:gd fmla="val 7142"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3"/>
            <p:cNvSpPr/>
            <p:nvPr/>
          </p:nvSpPr>
          <p:spPr>
            <a:xfrm>
              <a:off x="0" y="0"/>
              <a:ext cx="2524200" cy="266700"/>
            </a:xfrm>
            <a:custGeom>
              <a:rect b="b" l="l" r="r" t="t"/>
              <a:pathLst>
                <a:path extrusionOk="0" h="120000" w="120000">
                  <a:moveTo>
                    <a:pt x="0" y="34286"/>
                  </a:moveTo>
                  <a:quadBezTo>
                    <a:pt x="0" y="0"/>
                    <a:pt x="3623" y="0"/>
                  </a:quadBezTo>
                  <a:lnTo>
                    <a:pt x="116377" y="0"/>
                  </a:lnTo>
                  <a:quadBezTo>
                    <a:pt x="120000" y="0"/>
                    <a:pt x="120000" y="34286"/>
                  </a:quadBezTo>
                  <a:lnTo>
                    <a:pt x="120000" y="120000"/>
                  </a:lnTo>
                  <a:lnTo>
                    <a:pt x="0" y="120000"/>
                  </a:lnTo>
                  <a:close/>
                </a:path>
              </a:pathLst>
            </a:cu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3"/>
            <p:cNvSpPr txBox="1"/>
            <p:nvPr/>
          </p:nvSpPr>
          <p:spPr>
            <a:xfrm>
              <a:off x="114300" y="57150"/>
              <a:ext cx="22956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25" u="none" strike="noStrike">
                  <a:solidFill>
                    <a:srgbClr val="FFFFFF"/>
                  </a:solidFill>
                  <a:latin typeface="Poppins SemiBold"/>
                  <a:ea typeface="Poppins SemiBold"/>
                  <a:cs typeface="Poppins SemiBold"/>
                  <a:sym typeface="Poppins SemiBold"/>
                </a:rPr>
                <a:t>6. Model pipeline</a:t>
              </a:r>
              <a:endParaRPr b="0" i="0" sz="825" u="none" strike="noStrike">
                <a:solidFill>
                  <a:srgbClr val="FFFFFF"/>
                </a:solidFill>
                <a:latin typeface="Poppins SemiBold"/>
                <a:ea typeface="Poppins SemiBold"/>
                <a:cs typeface="Poppins SemiBold"/>
                <a:sym typeface="Poppins SemiBold"/>
              </a:endParaRPr>
            </a:p>
          </p:txBody>
        </p:sp>
        <p:sp>
          <p:nvSpPr>
            <p:cNvPr id="216" name="Google Shape;216;p23"/>
            <p:cNvSpPr txBox="1"/>
            <p:nvPr/>
          </p:nvSpPr>
          <p:spPr>
            <a:xfrm>
              <a:off x="114300" y="342900"/>
              <a:ext cx="22956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825" u="none" strike="noStrike">
                  <a:solidFill>
                    <a:srgbClr val="705C40"/>
                  </a:solidFill>
                  <a:latin typeface="Poppins"/>
                  <a:ea typeface="Poppins"/>
                  <a:cs typeface="Poppins"/>
                  <a:sym typeface="Poppins"/>
                </a:rPr>
                <a:t>StandardScaler + RidgeCV</a:t>
              </a:r>
              <a:br>
                <a:rPr b="1" i="0" lang="en" sz="825" u="none" strike="noStrike">
                  <a:solidFill>
                    <a:srgbClr val="705C40"/>
                  </a:solidFill>
                  <a:latin typeface="Poppins"/>
                  <a:ea typeface="Poppins"/>
                  <a:cs typeface="Poppins"/>
                  <a:sym typeface="Poppins"/>
                </a:rPr>
              </a:br>
              <a:r>
                <a:rPr b="0" i="0" lang="en" sz="825" u="none" strike="noStrike">
                  <a:solidFill>
                    <a:srgbClr val="202729"/>
                  </a:solidFill>
                  <a:latin typeface="Poppins Medium"/>
                  <a:ea typeface="Poppins Medium"/>
                  <a:cs typeface="Poppins Medium"/>
                  <a:sym typeface="Poppins Medium"/>
                </a:rPr>
                <a:t>Cross-validated regression model.</a:t>
              </a:r>
              <a:br>
                <a:rPr b="1" i="0" lang="en" sz="825" u="none" strike="noStrike">
                  <a:solidFill>
                    <a:srgbClr val="705C40"/>
                  </a:solidFill>
                  <a:latin typeface="Poppins"/>
                  <a:ea typeface="Poppins"/>
                  <a:cs typeface="Poppins"/>
                  <a:sym typeface="Poppins"/>
                </a:rPr>
              </a:br>
              <a:r>
                <a:rPr b="0" i="0" lang="en" sz="750" u="none" strike="noStrike">
                  <a:solidFill>
                    <a:srgbClr val="616161"/>
                  </a:solidFill>
                  <a:latin typeface="Poppins"/>
                  <a:ea typeface="Poppins"/>
                  <a:cs typeface="Poppins"/>
                  <a:sym typeface="Poppins"/>
                </a:rPr>
                <a:t>Fitted strictly inside each training fold.</a:t>
              </a:r>
              <a:endParaRPr b="1" i="0" sz="825" u="none" strike="noStrike">
                <a:solidFill>
                  <a:srgbClr val="705C40"/>
                </a:solidFill>
                <a:latin typeface="Poppins"/>
                <a:ea typeface="Poppins"/>
                <a:cs typeface="Poppins"/>
                <a:sym typeface="Poppins"/>
              </a:endParaRPr>
            </a:p>
          </p:txBody>
        </p:sp>
      </p:grpSp>
      <p:pic>
        <p:nvPicPr>
          <p:cNvPr id="217" name="Google Shape;217;p23"/>
          <p:cNvPicPr preferRelativeResize="0"/>
          <p:nvPr/>
        </p:nvPicPr>
        <p:blipFill rotWithShape="1">
          <a:blip r:embed="rId4">
            <a:alphaModFix/>
          </a:blip>
          <a:srcRect b="259" l="0" r="0" t="259"/>
          <a:stretch/>
        </p:blipFill>
        <p:spPr>
          <a:xfrm>
            <a:off x="5657850" y="3905250"/>
            <a:ext cx="19200" cy="57300"/>
          </a:xfrm>
          <a:prstGeom prst="rect">
            <a:avLst/>
          </a:prstGeom>
          <a:noFill/>
          <a:ln>
            <a:noFill/>
          </a:ln>
        </p:spPr>
      </p:pic>
      <p:grpSp>
        <p:nvGrpSpPr>
          <p:cNvPr id="218" name="Google Shape;218;p23"/>
          <p:cNvGrpSpPr/>
          <p:nvPr/>
        </p:nvGrpSpPr>
        <p:grpSpPr>
          <a:xfrm>
            <a:off x="304800" y="4000500"/>
            <a:ext cx="8534400" cy="685800"/>
            <a:chOff x="0" y="0"/>
            <a:chExt cx="8534400" cy="685800"/>
          </a:xfrm>
        </p:grpSpPr>
        <p:sp>
          <p:nvSpPr>
            <p:cNvPr id="219" name="Google Shape;219;p23"/>
            <p:cNvSpPr/>
            <p:nvPr/>
          </p:nvSpPr>
          <p:spPr>
            <a:xfrm>
              <a:off x="0" y="0"/>
              <a:ext cx="8534400" cy="685800"/>
            </a:xfrm>
            <a:prstGeom prst="roundRect">
              <a:avLst>
                <a:gd fmla="val 11111"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23"/>
            <p:cNvSpPr/>
            <p:nvPr/>
          </p:nvSpPr>
          <p:spPr>
            <a:xfrm>
              <a:off x="0" y="0"/>
              <a:ext cx="8534400" cy="247800"/>
            </a:xfrm>
            <a:custGeom>
              <a:rect b="b" l="l" r="r" t="t"/>
              <a:pathLst>
                <a:path extrusionOk="0" h="120000" w="120000">
                  <a:moveTo>
                    <a:pt x="0" y="36923"/>
                  </a:moveTo>
                  <a:quadBezTo>
                    <a:pt x="0" y="0"/>
                    <a:pt x="1071" y="0"/>
                  </a:quadBezTo>
                  <a:lnTo>
                    <a:pt x="118929" y="0"/>
                  </a:lnTo>
                  <a:quadBezTo>
                    <a:pt x="120000" y="0"/>
                    <a:pt x="120000" y="36923"/>
                  </a:quadBezTo>
                  <a:lnTo>
                    <a:pt x="120000" y="120000"/>
                  </a:lnTo>
                  <a:lnTo>
                    <a:pt x="0" y="120000"/>
                  </a:lnTo>
                  <a:close/>
                </a:path>
              </a:pathLst>
            </a:cu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3"/>
            <p:cNvSpPr txBox="1"/>
            <p:nvPr/>
          </p:nvSpPr>
          <p:spPr>
            <a:xfrm>
              <a:off x="142875" y="47625"/>
              <a:ext cx="82488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25" u="none" strike="noStrike">
                  <a:solidFill>
                    <a:srgbClr val="FFFFFF"/>
                  </a:solidFill>
                  <a:latin typeface="Poppins SemiBold"/>
                  <a:ea typeface="Poppins SemiBold"/>
                  <a:cs typeface="Poppins SemiBold"/>
                  <a:sym typeface="Poppins SemiBold"/>
                </a:rPr>
                <a:t>7. Held-out evaluation</a:t>
              </a:r>
              <a:endParaRPr b="0" i="0" sz="825" u="none" strike="noStrike">
                <a:solidFill>
                  <a:srgbClr val="FFFFFF"/>
                </a:solidFill>
                <a:latin typeface="Poppins SemiBold"/>
                <a:ea typeface="Poppins SemiBold"/>
                <a:cs typeface="Poppins SemiBold"/>
                <a:sym typeface="Poppins SemiBold"/>
              </a:endParaRPr>
            </a:p>
          </p:txBody>
        </p:sp>
        <p:sp>
          <p:nvSpPr>
            <p:cNvPr id="222" name="Google Shape;222;p23"/>
            <p:cNvSpPr txBox="1"/>
            <p:nvPr/>
          </p:nvSpPr>
          <p:spPr>
            <a:xfrm>
              <a:off x="142875" y="304800"/>
              <a:ext cx="8248800" cy="342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825" u="none" strike="noStrike">
                  <a:solidFill>
                    <a:srgbClr val="202729"/>
                  </a:solidFill>
                  <a:latin typeface="Poppins Medium"/>
                  <a:ea typeface="Poppins Medium"/>
                  <a:cs typeface="Poppins Medium"/>
                  <a:sym typeface="Poppins Medium"/>
                </a:rPr>
                <a:t>Repeated 5-fold CV • Fixed holdout partition • 1000-permutation null distribution • </a:t>
              </a:r>
              <a:r>
                <a:rPr b="1" i="0" lang="en" sz="825" u="none" strike="noStrike">
                  <a:solidFill>
                    <a:srgbClr val="705C40"/>
                  </a:solidFill>
                  <a:latin typeface="Poppins"/>
                  <a:ea typeface="Poppins"/>
                  <a:cs typeface="Poppins"/>
                  <a:sym typeface="Poppins"/>
                </a:rPr>
                <a:t>B → A transfer</a:t>
              </a:r>
              <a:r>
                <a:rPr b="0" i="0" lang="en" sz="825" u="none" strike="noStrike">
                  <a:solidFill>
                    <a:srgbClr val="202729"/>
                  </a:solidFill>
                  <a:latin typeface="Poppins Medium"/>
                  <a:ea typeface="Poppins Medium"/>
                  <a:cs typeface="Poppins Medium"/>
                  <a:sym typeface="Poppins Medium"/>
                </a:rPr>
                <a:t> (301 → 100, identity-disjoint)</a:t>
              </a:r>
              <a:br>
                <a:rPr b="0" i="0" lang="en" sz="825" u="none" strike="noStrike">
                  <a:solidFill>
                    <a:srgbClr val="202729"/>
                  </a:solidFill>
                  <a:latin typeface="Poppins Medium"/>
                  <a:ea typeface="Poppins Medium"/>
                  <a:cs typeface="Poppins Medium"/>
                  <a:sym typeface="Poppins Medium"/>
                </a:rPr>
              </a:br>
              <a:r>
                <a:rPr b="0" i="0" lang="en" sz="750" u="none" strike="noStrike">
                  <a:solidFill>
                    <a:srgbClr val="616161"/>
                  </a:solidFill>
                  <a:latin typeface="Poppins"/>
                  <a:ea typeface="Poppins"/>
                  <a:cs typeface="Poppins"/>
                  <a:sym typeface="Poppins"/>
                </a:rPr>
                <a:t>All splits hold out participants; “±” represents split SD, not CI.</a:t>
              </a:r>
              <a:endParaRPr b="0" i="0" sz="825" u="none" strike="noStrike">
                <a:solidFill>
                  <a:srgbClr val="202729"/>
                </a:solidFill>
                <a:latin typeface="Poppins Medium"/>
                <a:ea typeface="Poppins Medium"/>
                <a:cs typeface="Poppins Medium"/>
                <a:sym typeface="Poppins Medium"/>
              </a:endParaRPr>
            </a:p>
          </p:txBody>
        </p:sp>
      </p:grpSp>
      <p:sp>
        <p:nvSpPr>
          <p:cNvPr id="223" name="Google Shape;223;p23"/>
          <p:cNvSpPr/>
          <p:nvPr/>
        </p:nvSpPr>
        <p:spPr>
          <a:xfrm>
            <a:off x="0" y="4831842"/>
            <a:ext cx="9144000" cy="311700"/>
          </a:xfrm>
          <a:prstGeom prst="rect">
            <a:avLst/>
          </a:prstGeom>
          <a:solidFill>
            <a:srgbClr val="EAD6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90488" y="4843463"/>
            <a:ext cx="4092000" cy="311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225" name="Google Shape;225;p23"/>
          <p:cNvSpPr txBox="1"/>
          <p:nvPr/>
        </p:nvSpPr>
        <p:spPr>
          <a:xfrm>
            <a:off x="5043488" y="4843463"/>
            <a:ext cx="3538500" cy="3114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226" name="Google Shape;226;p23"/>
          <p:cNvPicPr preferRelativeResize="0"/>
          <p:nvPr/>
        </p:nvPicPr>
        <p:blipFill rotWithShape="1">
          <a:blip r:embed="rId5">
            <a:alphaModFix/>
          </a:blip>
          <a:srcRect b="0" l="0" r="0" t="0"/>
          <a:stretch/>
        </p:blipFill>
        <p:spPr>
          <a:xfrm>
            <a:off x="4455795" y="4832033"/>
            <a:ext cx="313800" cy="311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Analysis</a:t>
            </a:r>
            <a:endParaRPr b="1">
              <a:latin typeface="Poppins"/>
              <a:ea typeface="Poppins"/>
              <a:cs typeface="Poppins"/>
              <a:sym typeface="Poppins"/>
            </a:endParaRPr>
          </a:p>
        </p:txBody>
      </p:sp>
      <p:sp>
        <p:nvSpPr>
          <p:cNvPr id="232" name="Google Shape;232;p24"/>
          <p:cNvSpPr txBox="1"/>
          <p:nvPr>
            <p:ph idx="1" type="body"/>
          </p:nvPr>
        </p:nvSpPr>
        <p:spPr>
          <a:xfrm>
            <a:off x="6244500" y="1152475"/>
            <a:ext cx="2103900" cy="234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4"/>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2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24"/>
          <p:cNvSpPr/>
          <p:nvPr/>
        </p:nvSpPr>
        <p:spPr>
          <a:xfrm>
            <a:off x="0" y="4832147"/>
            <a:ext cx="9144000" cy="311700"/>
          </a:xfrm>
          <a:prstGeom prst="rect">
            <a:avLst/>
          </a:prstGeom>
          <a:solidFill>
            <a:srgbClr val="EAD6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90488" y="4843463"/>
            <a:ext cx="4095900" cy="311400"/>
          </a:xfrm>
          <a:prstGeom prst="rect">
            <a:avLst/>
          </a:prstGeom>
          <a:noFill/>
          <a:ln>
            <a:noFill/>
          </a:ln>
        </p:spPr>
        <p:txBody>
          <a:bodyPr anchorCtr="0" anchor="t" bIns="0" lIns="0" spcFirstLastPara="1" rIns="0" wrap="square" tIns="47625">
            <a:noAutofit/>
          </a:bodyPr>
          <a:lstStyle/>
          <a:p>
            <a:pPr indent="0" lvl="0" marL="0" rtl="0" algn="l">
              <a:spcBef>
                <a:spcPts val="0"/>
              </a:spcBef>
              <a:spcAft>
                <a:spcPts val="0"/>
              </a:spcAft>
              <a:buNone/>
            </a:pPr>
            <a:r>
              <a:rPr b="0" lang="en" sz="1200">
                <a:solidFill>
                  <a:srgbClr val="000000"/>
                </a:solidFill>
                <a:latin typeface="Poppins SemiBold"/>
                <a:ea typeface="Poppins SemiBold"/>
                <a:cs typeface="Poppins SemiBold"/>
                <a:sym typeface="Poppins SemiBold"/>
              </a:rPr>
              <a:t>FC Reconfiguration in Working-Memory</a:t>
            </a:r>
            <a:endParaRPr b="0" sz="1200">
              <a:solidFill>
                <a:srgbClr val="000000"/>
              </a:solidFill>
              <a:latin typeface="Poppins SemiBold"/>
              <a:ea typeface="Poppins SemiBold"/>
              <a:cs typeface="Poppins SemiBold"/>
              <a:sym typeface="Poppins SemiBold"/>
            </a:endParaRPr>
          </a:p>
        </p:txBody>
      </p:sp>
      <p:sp>
        <p:nvSpPr>
          <p:cNvPr id="237" name="Google Shape;237;p24"/>
          <p:cNvSpPr txBox="1"/>
          <p:nvPr/>
        </p:nvSpPr>
        <p:spPr>
          <a:xfrm>
            <a:off x="5043488" y="4843463"/>
            <a:ext cx="3538500" cy="311400"/>
          </a:xfrm>
          <a:prstGeom prst="rect">
            <a:avLst/>
          </a:prstGeom>
          <a:noFill/>
          <a:ln>
            <a:noFill/>
          </a:ln>
        </p:spPr>
        <p:txBody>
          <a:bodyPr anchorCtr="0" anchor="t" bIns="0" lIns="0" spcFirstLastPara="1" rIns="0" wrap="square" tIns="47625">
            <a:noAutofit/>
          </a:bodyPr>
          <a:lstStyle/>
          <a:p>
            <a:pPr indent="0" lvl="0" marL="0" rtl="0" algn="r">
              <a:spcBef>
                <a:spcPts val="0"/>
              </a:spcBef>
              <a:spcAft>
                <a:spcPts val="0"/>
              </a:spcAft>
              <a:buNone/>
            </a:pPr>
            <a:r>
              <a:rPr b="0" lang="en" sz="1200">
                <a:solidFill>
                  <a:srgbClr val="000000"/>
                </a:solidFill>
                <a:latin typeface="Poppins SemiBold"/>
                <a:ea typeface="Poppins SemiBold"/>
                <a:cs typeface="Poppins SemiBold"/>
                <a:sym typeface="Poppins SemiBold"/>
              </a:rPr>
              <a:t>The Gammas</a:t>
            </a:r>
            <a:endParaRPr b="0" sz="1200">
              <a:solidFill>
                <a:srgbClr val="000000"/>
              </a:solidFill>
              <a:latin typeface="Poppins SemiBold"/>
              <a:ea typeface="Poppins SemiBold"/>
              <a:cs typeface="Poppins SemiBold"/>
              <a:sym typeface="Poppins SemiBold"/>
            </a:endParaRPr>
          </a:p>
        </p:txBody>
      </p:sp>
      <p:pic>
        <p:nvPicPr>
          <p:cNvPr id="238" name="Google Shape;238;p24"/>
          <p:cNvPicPr preferRelativeResize="0"/>
          <p:nvPr/>
        </p:nvPicPr>
        <p:blipFill rotWithShape="1">
          <a:blip r:embed="rId3">
            <a:alphaModFix/>
          </a:blip>
          <a:srcRect b="0" l="0" r="0" t="0"/>
          <a:stretch/>
        </p:blipFill>
        <p:spPr>
          <a:xfrm>
            <a:off x="4456186" y="4832147"/>
            <a:ext cx="313800" cy="311700"/>
          </a:xfrm>
          <a:prstGeom prst="roundRect">
            <a:avLst>
              <a:gd fmla="val 0" name="adj"/>
            </a:avLst>
          </a:prstGeom>
          <a:noFill/>
          <a:ln>
            <a:noFill/>
          </a:ln>
        </p:spPr>
      </p:pic>
      <p:sp>
        <p:nvSpPr>
          <p:cNvPr id="239" name="Google Shape;239;p24"/>
          <p:cNvSpPr txBox="1"/>
          <p:nvPr/>
        </p:nvSpPr>
        <p:spPr>
          <a:xfrm>
            <a:off x="304800" y="266700"/>
            <a:ext cx="8534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705C40"/>
                </a:solidFill>
                <a:latin typeface="Poppins"/>
                <a:ea typeface="Poppins"/>
                <a:cs typeface="Poppins"/>
                <a:sym typeface="Poppins"/>
              </a:rPr>
              <a:t>The FC pattern predicted performance </a:t>
            </a:r>
            <a:r>
              <a:rPr b="1" lang="en" sz="1850">
                <a:solidFill>
                  <a:srgbClr val="705C40"/>
                </a:solidFill>
                <a:latin typeface="Poppins"/>
                <a:ea typeface="Poppins"/>
                <a:cs typeface="Poppins"/>
                <a:sym typeface="Poppins"/>
              </a:rPr>
              <a:t>and</a:t>
            </a:r>
            <a:r>
              <a:rPr b="1" lang="en" sz="1850">
                <a:solidFill>
                  <a:srgbClr val="705C40"/>
                </a:solidFill>
                <a:latin typeface="Poppins"/>
                <a:ea typeface="Poppins"/>
                <a:cs typeface="Poppins"/>
                <a:sym typeface="Poppins"/>
              </a:rPr>
              <a:t> transferred to a separate cohort</a:t>
            </a:r>
            <a:endParaRPr b="1" sz="1850">
              <a:solidFill>
                <a:srgbClr val="705C40"/>
              </a:solidFill>
              <a:latin typeface="Poppins"/>
              <a:ea typeface="Poppins"/>
              <a:cs typeface="Poppins"/>
              <a:sym typeface="Poppins"/>
            </a:endParaRPr>
          </a:p>
        </p:txBody>
      </p:sp>
      <p:pic>
        <p:nvPicPr>
          <p:cNvPr id="240" name="Google Shape;240;p24"/>
          <p:cNvPicPr preferRelativeResize="0"/>
          <p:nvPr/>
        </p:nvPicPr>
        <p:blipFill rotWithShape="1">
          <a:blip r:embed="rId4">
            <a:alphaModFix/>
          </a:blip>
          <a:srcRect b="0" l="0" r="0" t="0"/>
          <a:stretch/>
        </p:blipFill>
        <p:spPr>
          <a:xfrm>
            <a:off x="209550" y="1152475"/>
            <a:ext cx="4572000" cy="2571600"/>
          </a:xfrm>
          <a:prstGeom prst="roundRect">
            <a:avLst>
              <a:gd fmla="val 3750" name="adj"/>
            </a:avLst>
          </a:prstGeom>
          <a:noFill/>
          <a:ln>
            <a:noFill/>
          </a:ln>
        </p:spPr>
      </p:pic>
      <p:grpSp>
        <p:nvGrpSpPr>
          <p:cNvPr id="241" name="Google Shape;241;p24"/>
          <p:cNvGrpSpPr/>
          <p:nvPr/>
        </p:nvGrpSpPr>
        <p:grpSpPr>
          <a:xfrm>
            <a:off x="4876800" y="1000125"/>
            <a:ext cx="3962400" cy="1428900"/>
            <a:chOff x="0" y="0"/>
            <a:chExt cx="3962400" cy="1428900"/>
          </a:xfrm>
        </p:grpSpPr>
        <p:sp>
          <p:nvSpPr>
            <p:cNvPr id="242" name="Google Shape;242;p24"/>
            <p:cNvSpPr/>
            <p:nvPr/>
          </p:nvSpPr>
          <p:spPr>
            <a:xfrm>
              <a:off x="0" y="0"/>
              <a:ext cx="3962400" cy="1428900"/>
            </a:xfrm>
            <a:prstGeom prst="roundRect">
              <a:avLst>
                <a:gd fmla="val 8000"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4"/>
            <p:cNvSpPr txBox="1"/>
            <p:nvPr/>
          </p:nvSpPr>
          <p:spPr>
            <a:xfrm>
              <a:off x="190500" y="142875"/>
              <a:ext cx="3581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705C40"/>
                  </a:solidFill>
                  <a:latin typeface="Poppins"/>
                  <a:ea typeface="Poppins"/>
                  <a:cs typeface="Poppins"/>
                  <a:sym typeface="Poppins"/>
                </a:rPr>
                <a:t>B → A Transfer Result</a:t>
              </a:r>
              <a:endParaRPr b="1" sz="1200">
                <a:solidFill>
                  <a:srgbClr val="705C40"/>
                </a:solidFill>
                <a:latin typeface="Poppins"/>
                <a:ea typeface="Poppins"/>
                <a:cs typeface="Poppins"/>
                <a:sym typeface="Poppins"/>
              </a:endParaRPr>
            </a:p>
            <a:p>
              <a:pPr indent="0" lvl="0" marL="0" rtl="0" algn="l">
                <a:spcBef>
                  <a:spcPts val="150"/>
                </a:spcBef>
                <a:spcAft>
                  <a:spcPts val="0"/>
                </a:spcAft>
                <a:buNone/>
              </a:pPr>
              <a:r>
                <a:rPr b="1" lang="en" sz="2400">
                  <a:solidFill>
                    <a:srgbClr val="202729"/>
                  </a:solidFill>
                  <a:latin typeface="Poppins"/>
                  <a:ea typeface="Poppins"/>
                  <a:cs typeface="Poppins"/>
                  <a:sym typeface="Poppins"/>
                </a:rPr>
                <a:t>r = 0.398</a:t>
              </a:r>
              <a:endParaRPr b="1" sz="2400">
                <a:solidFill>
                  <a:srgbClr val="202729"/>
                </a:solidFill>
                <a:latin typeface="Poppins"/>
                <a:ea typeface="Poppins"/>
                <a:cs typeface="Poppins"/>
                <a:sym typeface="Poppins"/>
              </a:endParaRPr>
            </a:p>
            <a:p>
              <a:pPr indent="0" lvl="0" marL="0" rtl="0" algn="l">
                <a:spcBef>
                  <a:spcPts val="150"/>
                </a:spcBef>
                <a:spcAft>
                  <a:spcPts val="0"/>
                </a:spcAft>
                <a:buNone/>
              </a:pPr>
              <a:r>
                <a:rPr b="0" lang="en" sz="1000">
                  <a:solidFill>
                    <a:srgbClr val="705C40"/>
                  </a:solidFill>
                  <a:latin typeface="Poppins SemiBold"/>
                  <a:ea typeface="Poppins SemiBold"/>
                  <a:cs typeface="Poppins SemiBold"/>
                  <a:sym typeface="Poppins SemiBold"/>
                </a:rPr>
                <a:t>Bootstrap 95% CI [0.25, 0.53]</a:t>
              </a:r>
              <a:endParaRPr b="0" sz="1000">
                <a:solidFill>
                  <a:srgbClr val="705C40"/>
                </a:solidFill>
                <a:latin typeface="Poppins SemiBold"/>
                <a:ea typeface="Poppins SemiBold"/>
                <a:cs typeface="Poppins SemiBold"/>
                <a:sym typeface="Poppins SemiBold"/>
              </a:endParaRPr>
            </a:p>
            <a:p>
              <a:pPr indent="0" lvl="0" marL="0" rtl="0" algn="l">
                <a:spcBef>
                  <a:spcPts val="300"/>
                </a:spcBef>
                <a:spcAft>
                  <a:spcPts val="0"/>
                </a:spcAft>
                <a:buNone/>
              </a:pPr>
              <a:r>
                <a:rPr b="0" lang="en" sz="1000">
                  <a:solidFill>
                    <a:srgbClr val="616161"/>
                  </a:solidFill>
                  <a:latin typeface="Poppins"/>
                  <a:ea typeface="Poppins"/>
                  <a:cs typeface="Poppins"/>
                  <a:sym typeface="Poppins"/>
                </a:rPr>
                <a:t>301 B-only → 100 A (35 shared identities removed)</a:t>
              </a:r>
              <a:endParaRPr b="0" sz="1000">
                <a:solidFill>
                  <a:srgbClr val="616161"/>
                </a:solidFill>
                <a:latin typeface="Poppins"/>
                <a:ea typeface="Poppins"/>
                <a:cs typeface="Poppins"/>
                <a:sym typeface="Poppins"/>
              </a:endParaRPr>
            </a:p>
          </p:txBody>
        </p:sp>
      </p:grpSp>
      <p:grpSp>
        <p:nvGrpSpPr>
          <p:cNvPr id="244" name="Google Shape;244;p24"/>
          <p:cNvGrpSpPr/>
          <p:nvPr/>
        </p:nvGrpSpPr>
        <p:grpSpPr>
          <a:xfrm>
            <a:off x="4876800" y="2524125"/>
            <a:ext cx="3962400" cy="1047900"/>
            <a:chOff x="0" y="0"/>
            <a:chExt cx="3962400" cy="1047900"/>
          </a:xfrm>
        </p:grpSpPr>
        <p:sp>
          <p:nvSpPr>
            <p:cNvPr id="245" name="Google Shape;245;p24"/>
            <p:cNvSpPr/>
            <p:nvPr/>
          </p:nvSpPr>
          <p:spPr>
            <a:xfrm>
              <a:off x="0" y="0"/>
              <a:ext cx="3962400" cy="1047900"/>
            </a:xfrm>
            <a:prstGeom prst="roundRect">
              <a:avLst>
                <a:gd fmla="val 10909" name="adj"/>
              </a:avLst>
            </a:prstGeom>
            <a:solidFill>
              <a:srgbClr val="EAD6B8">
                <a:alpha val="25000"/>
              </a:srgbClr>
            </a:solidFill>
            <a:ln cap="flat" cmpd="sng" w="9525">
              <a:solidFill>
                <a:srgbClr val="B9947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4"/>
            <p:cNvSpPr txBox="1"/>
            <p:nvPr/>
          </p:nvSpPr>
          <p:spPr>
            <a:xfrm>
              <a:off x="190500" y="142875"/>
              <a:ext cx="3581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705C40"/>
                  </a:solidFill>
                  <a:latin typeface="Poppins"/>
                  <a:ea typeface="Poppins"/>
                  <a:cs typeface="Poppins"/>
                  <a:sym typeface="Poppins"/>
                </a:rPr>
                <a:t>Primary Repeated CV</a:t>
              </a:r>
              <a:endParaRPr b="1" sz="1200">
                <a:solidFill>
                  <a:srgbClr val="705C40"/>
                </a:solidFill>
                <a:latin typeface="Poppins"/>
                <a:ea typeface="Poppins"/>
                <a:cs typeface="Poppins"/>
                <a:sym typeface="Poppins"/>
              </a:endParaRPr>
            </a:p>
            <a:p>
              <a:pPr indent="0" lvl="0" marL="0" rtl="0" algn="l">
                <a:spcBef>
                  <a:spcPts val="150"/>
                </a:spcBef>
                <a:spcAft>
                  <a:spcPts val="0"/>
                </a:spcAft>
                <a:buNone/>
              </a:pPr>
              <a:r>
                <a:rPr b="1" lang="en" sz="2400">
                  <a:solidFill>
                    <a:srgbClr val="202729"/>
                  </a:solidFill>
                  <a:latin typeface="Poppins"/>
                  <a:ea typeface="Poppins"/>
                  <a:cs typeface="Poppins"/>
                  <a:sym typeface="Poppins"/>
                </a:rPr>
                <a:t>r = 0.366 ± 0.024</a:t>
              </a:r>
              <a:endParaRPr b="1" sz="2400">
                <a:solidFill>
                  <a:srgbClr val="202729"/>
                </a:solidFill>
                <a:latin typeface="Poppins"/>
                <a:ea typeface="Poppins"/>
                <a:cs typeface="Poppins"/>
                <a:sym typeface="Poppins"/>
              </a:endParaRPr>
            </a:p>
            <a:p>
              <a:pPr indent="0" lvl="0" marL="0" rtl="0" algn="l">
                <a:spcBef>
                  <a:spcPts val="300"/>
                </a:spcBef>
                <a:spcAft>
                  <a:spcPts val="0"/>
                </a:spcAft>
                <a:buNone/>
              </a:pPr>
              <a:r>
                <a:rPr b="0" lang="en" sz="1000">
                  <a:solidFill>
                    <a:srgbClr val="616161"/>
                  </a:solidFill>
                  <a:latin typeface="Poppins"/>
                  <a:ea typeface="Poppins"/>
                  <a:cs typeface="Poppins"/>
                  <a:sym typeface="Poppins"/>
                </a:rPr>
                <a:t>336 participants · 78 FC features</a:t>
              </a:r>
              <a:endParaRPr b="0" sz="1000">
                <a:solidFill>
                  <a:srgbClr val="616161"/>
                </a:solidFill>
                <a:latin typeface="Poppins"/>
                <a:ea typeface="Poppins"/>
                <a:cs typeface="Poppins"/>
                <a:sym typeface="Poppins"/>
              </a:endParaRPr>
            </a:p>
          </p:txBody>
        </p:sp>
      </p:grpSp>
      <p:sp>
        <p:nvSpPr>
          <p:cNvPr id="247" name="Google Shape;247;p24"/>
          <p:cNvSpPr txBox="1"/>
          <p:nvPr/>
        </p:nvSpPr>
        <p:spPr>
          <a:xfrm>
            <a:off x="4876800" y="3667125"/>
            <a:ext cx="3962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786">
                <a:solidFill>
                  <a:srgbClr val="616161"/>
                </a:solidFill>
                <a:latin typeface="Poppins"/>
                <a:ea typeface="Poppins"/>
                <a:cs typeface="Poppins"/>
                <a:sym typeface="Poppins"/>
              </a:rPr>
              <a:t>• Identity-disjoint same-HCP transfer—not independent-site validation.</a:t>
            </a:r>
            <a:endParaRPr b="0" i="1" sz="786">
              <a:solidFill>
                <a:srgbClr val="616161"/>
              </a:solidFill>
              <a:latin typeface="Poppins"/>
              <a:ea typeface="Poppins"/>
              <a:cs typeface="Poppins"/>
              <a:sym typeface="Poppins"/>
            </a:endParaRPr>
          </a:p>
          <a:p>
            <a:pPr indent="0" lvl="0" marL="0" rtl="0" algn="l">
              <a:spcBef>
                <a:spcPts val="150"/>
              </a:spcBef>
              <a:spcAft>
                <a:spcPts val="0"/>
              </a:spcAft>
              <a:buNone/>
            </a:pPr>
            <a:r>
              <a:rPr b="0" i="1" lang="en" sz="786">
                <a:solidFill>
                  <a:srgbClr val="616161"/>
                </a:solidFill>
                <a:latin typeface="Poppins"/>
                <a:ea typeface="Poppins"/>
                <a:cs typeface="Poppins"/>
                <a:sym typeface="Poppins"/>
              </a:rPr>
              <a:t>• SD summarizes sensitivity across 20 overlapping partitions, not population uncertainty.</a:t>
            </a:r>
            <a:endParaRPr b="0" i="1" sz="786">
              <a:solidFill>
                <a:srgbClr val="61616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5"/>
          <p:cNvSpPr/>
          <p:nvPr/>
        </p:nvSpPr>
        <p:spPr>
          <a:xfrm>
            <a:off x="0" y="4832033"/>
            <a:ext cx="9144000" cy="311400"/>
          </a:xfrm>
          <a:prstGeom prst="rect">
            <a:avLst/>
          </a:prstGeom>
          <a:solidFill>
            <a:srgbClr val="E4D6B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5"/>
          <p:cNvSpPr txBox="1"/>
          <p:nvPr/>
        </p:nvSpPr>
        <p:spPr>
          <a:xfrm>
            <a:off x="95250" y="4924425"/>
            <a:ext cx="4095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255" name="Google Shape;255;p25"/>
          <p:cNvSpPr txBox="1"/>
          <p:nvPr/>
        </p:nvSpPr>
        <p:spPr>
          <a:xfrm>
            <a:off x="5048250" y="4924425"/>
            <a:ext cx="35244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256" name="Google Shape;256;p25"/>
          <p:cNvPicPr preferRelativeResize="0"/>
          <p:nvPr/>
        </p:nvPicPr>
        <p:blipFill rotWithShape="1">
          <a:blip r:embed="rId3">
            <a:alphaModFix/>
          </a:blip>
          <a:srcRect b="0" l="60" r="60" t="0"/>
          <a:stretch/>
        </p:blipFill>
        <p:spPr>
          <a:xfrm>
            <a:off x="4455795" y="4832033"/>
            <a:ext cx="313500" cy="311400"/>
          </a:xfrm>
          <a:prstGeom prst="rect">
            <a:avLst/>
          </a:prstGeom>
          <a:noFill/>
          <a:ln>
            <a:noFill/>
          </a:ln>
        </p:spPr>
      </p:pic>
      <p:sp>
        <p:nvSpPr>
          <p:cNvPr id="257" name="Google Shape;257;p25"/>
          <p:cNvSpPr txBox="1"/>
          <p:nvPr/>
        </p:nvSpPr>
        <p:spPr>
          <a:xfrm>
            <a:off x="304800" y="228600"/>
            <a:ext cx="85344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88">
                <a:solidFill>
                  <a:srgbClr val="705C40"/>
                </a:solidFill>
                <a:latin typeface="Poppins"/>
                <a:ea typeface="Poppins"/>
                <a:cs typeface="Poppins"/>
                <a:sym typeface="Poppins"/>
              </a:rPr>
              <a:t>The prediction held—but a simpler regional signal predicted better</a:t>
            </a:r>
            <a:endParaRPr b="1" sz="1388">
              <a:solidFill>
                <a:srgbClr val="705C40"/>
              </a:solidFill>
              <a:latin typeface="Poppins"/>
              <a:ea typeface="Poppins"/>
              <a:cs typeface="Poppins"/>
              <a:sym typeface="Poppins"/>
            </a:endParaRPr>
          </a:p>
        </p:txBody>
      </p:sp>
      <p:grpSp>
        <p:nvGrpSpPr>
          <p:cNvPr id="258" name="Google Shape;258;p25"/>
          <p:cNvGrpSpPr/>
          <p:nvPr/>
        </p:nvGrpSpPr>
        <p:grpSpPr>
          <a:xfrm>
            <a:off x="4872038" y="900113"/>
            <a:ext cx="3972000" cy="1438200"/>
            <a:chOff x="-4762" y="-4762"/>
            <a:chExt cx="3972000" cy="1438200"/>
          </a:xfrm>
        </p:grpSpPr>
        <p:pic>
          <p:nvPicPr>
            <p:cNvPr id="259" name="Google Shape;259;p25"/>
            <p:cNvPicPr preferRelativeResize="0"/>
            <p:nvPr/>
          </p:nvPicPr>
          <p:blipFill rotWithShape="1">
            <a:blip r:embed="rId4">
              <a:alphaModFix/>
            </a:blip>
            <a:srcRect b="0" l="0" r="0" t="0"/>
            <a:stretch/>
          </p:blipFill>
          <p:spPr>
            <a:xfrm>
              <a:off x="-4762" y="-4762"/>
              <a:ext cx="3972000" cy="1438200"/>
            </a:xfrm>
            <a:prstGeom prst="rect">
              <a:avLst/>
            </a:prstGeom>
            <a:noFill/>
            <a:ln>
              <a:noFill/>
            </a:ln>
          </p:spPr>
        </p:pic>
        <p:sp>
          <p:nvSpPr>
            <p:cNvPr id="260" name="Google Shape;260;p25"/>
            <p:cNvSpPr txBox="1"/>
            <p:nvPr/>
          </p:nvSpPr>
          <p:spPr>
            <a:xfrm>
              <a:off x="152400" y="114300"/>
              <a:ext cx="3657600" cy="120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2">
                  <a:solidFill>
                    <a:srgbClr val="705C40"/>
                  </a:solidFill>
                  <a:latin typeface="Poppins"/>
                  <a:ea typeface="Poppins"/>
                  <a:cs typeface="Poppins"/>
                  <a:sym typeface="Poppins"/>
                </a:rPr>
                <a:t>Repeated-CV Correlation </a:t>
              </a:r>
              <a:r>
                <a:rPr b="0" lang="en" sz="694">
                  <a:solidFill>
                    <a:srgbClr val="616161"/>
                  </a:solidFill>
                  <a:latin typeface="Poppins"/>
                  <a:ea typeface="Poppins"/>
                  <a:cs typeface="Poppins"/>
                  <a:sym typeface="Poppins"/>
                </a:rPr>
                <a:t>(mean ± split SD)</a:t>
              </a:r>
              <a:endParaRPr b="1" sz="902">
                <a:solidFill>
                  <a:srgbClr val="705C40"/>
                </a:solidFill>
                <a:latin typeface="Poppins"/>
                <a:ea typeface="Poppins"/>
                <a:cs typeface="Poppins"/>
                <a:sym typeface="Poppins"/>
              </a:endParaRPr>
            </a:p>
            <a:p>
              <a:pPr indent="0" lvl="0" marL="0" rtl="0" algn="l">
                <a:spcBef>
                  <a:spcPts val="600"/>
                </a:spcBef>
                <a:spcAft>
                  <a:spcPts val="0"/>
                </a:spcAft>
                <a:buNone/>
              </a:pPr>
              <a:r>
                <a:rPr b="0" lang="en" sz="763">
                  <a:solidFill>
                    <a:srgbClr val="202729"/>
                  </a:solidFill>
                  <a:latin typeface="Poppins Medium"/>
                  <a:ea typeface="Poppins Medium"/>
                  <a:cs typeface="Poppins Medium"/>
                  <a:sym typeface="Poppins Medium"/>
                </a:rPr>
                <a:t>0-back FC: </a:t>
              </a:r>
              <a:r>
                <a:rPr b="1" lang="en" sz="1388">
                  <a:solidFill>
                    <a:srgbClr val="202729"/>
                  </a:solidFill>
                  <a:latin typeface="Poppins"/>
                  <a:ea typeface="Poppins"/>
                  <a:cs typeface="Poppins"/>
                  <a:sym typeface="Poppins"/>
                </a:rPr>
                <a:t>0.274 ± 0.032</a:t>
              </a:r>
              <a:endParaRPr b="0" sz="763">
                <a:solidFill>
                  <a:srgbClr val="202729"/>
                </a:solidFill>
                <a:latin typeface="Poppins Medium"/>
                <a:ea typeface="Poppins Medium"/>
                <a:cs typeface="Poppins Medium"/>
                <a:sym typeface="Poppins Medium"/>
              </a:endParaRPr>
            </a:p>
            <a:p>
              <a:pPr indent="0" lvl="0" marL="0" rtl="0" algn="l">
                <a:spcBef>
                  <a:spcPts val="300"/>
                </a:spcBef>
                <a:spcAft>
                  <a:spcPts val="0"/>
                </a:spcAft>
                <a:buNone/>
              </a:pPr>
              <a:r>
                <a:rPr b="0" lang="en" sz="763">
                  <a:solidFill>
                    <a:srgbClr val="202729"/>
                  </a:solidFill>
                  <a:latin typeface="Poppins Medium"/>
                  <a:ea typeface="Poppins Medium"/>
                  <a:cs typeface="Poppins Medium"/>
                  <a:sym typeface="Poppins Medium"/>
                </a:rPr>
                <a:t>FC reconfiguration: </a:t>
              </a:r>
              <a:r>
                <a:rPr b="1" lang="en" sz="1388">
                  <a:solidFill>
                    <a:srgbClr val="202729"/>
                  </a:solidFill>
                  <a:latin typeface="Poppins"/>
                  <a:ea typeface="Poppins"/>
                  <a:cs typeface="Poppins"/>
                  <a:sym typeface="Poppins"/>
                </a:rPr>
                <a:t>0.366 ± 0.024</a:t>
              </a:r>
              <a:endParaRPr b="0" sz="763">
                <a:solidFill>
                  <a:srgbClr val="202729"/>
                </a:solidFill>
                <a:latin typeface="Poppins Medium"/>
                <a:ea typeface="Poppins Medium"/>
                <a:cs typeface="Poppins Medium"/>
                <a:sym typeface="Poppins Medium"/>
              </a:endParaRPr>
            </a:p>
            <a:p>
              <a:pPr indent="0" lvl="0" marL="0" rtl="0" algn="l">
                <a:spcBef>
                  <a:spcPts val="300"/>
                </a:spcBef>
                <a:spcAft>
                  <a:spcPts val="0"/>
                </a:spcAft>
                <a:buNone/>
              </a:pPr>
              <a:r>
                <a:rPr b="0" lang="en" sz="763">
                  <a:solidFill>
                    <a:srgbClr val="202729"/>
                  </a:solidFill>
                  <a:latin typeface="Poppins Medium"/>
                  <a:ea typeface="Poppins Medium"/>
                  <a:cs typeface="Poppins Medium"/>
                  <a:sym typeface="Poppins Medium"/>
                </a:rPr>
                <a:t>0-back + reconfiguration: </a:t>
              </a:r>
              <a:r>
                <a:rPr b="1" lang="en" sz="1388">
                  <a:solidFill>
                    <a:srgbClr val="202729"/>
                  </a:solidFill>
                  <a:latin typeface="Poppins"/>
                  <a:ea typeface="Poppins"/>
                  <a:cs typeface="Poppins"/>
                  <a:sym typeface="Poppins"/>
                </a:rPr>
                <a:t>0.333 ± 0.026</a:t>
              </a:r>
              <a:endParaRPr b="0" sz="763">
                <a:solidFill>
                  <a:srgbClr val="202729"/>
                </a:solidFill>
                <a:latin typeface="Poppins Medium"/>
                <a:ea typeface="Poppins Medium"/>
                <a:cs typeface="Poppins Medium"/>
                <a:sym typeface="Poppins Medium"/>
              </a:endParaRPr>
            </a:p>
            <a:p>
              <a:pPr indent="0" lvl="0" marL="0" rtl="0" algn="l">
                <a:spcBef>
                  <a:spcPts val="300"/>
                </a:spcBef>
                <a:spcAft>
                  <a:spcPts val="0"/>
                </a:spcAft>
                <a:buNone/>
              </a:pPr>
              <a:r>
                <a:rPr b="0" lang="en" sz="763">
                  <a:solidFill>
                    <a:srgbClr val="202729"/>
                  </a:solidFill>
                  <a:latin typeface="Poppins Medium"/>
                  <a:ea typeface="Poppins Medium"/>
                  <a:cs typeface="Poppins Medium"/>
                  <a:sym typeface="Poppins Medium"/>
                </a:rPr>
                <a:t>Activation contrast: </a:t>
              </a:r>
              <a:r>
                <a:rPr b="1" lang="en" sz="1388">
                  <a:solidFill>
                    <a:srgbClr val="B99470"/>
                  </a:solidFill>
                  <a:latin typeface="Poppins"/>
                  <a:ea typeface="Poppins"/>
                  <a:cs typeface="Poppins"/>
                  <a:sym typeface="Poppins"/>
                </a:rPr>
                <a:t>0.600 ± 0.016</a:t>
              </a:r>
              <a:endParaRPr b="0" sz="763">
                <a:solidFill>
                  <a:srgbClr val="202729"/>
                </a:solidFill>
                <a:latin typeface="Poppins Medium"/>
                <a:ea typeface="Poppins Medium"/>
                <a:cs typeface="Poppins Medium"/>
                <a:sym typeface="Poppins Medium"/>
              </a:endParaRPr>
            </a:p>
          </p:txBody>
        </p:sp>
      </p:grpSp>
      <p:grpSp>
        <p:nvGrpSpPr>
          <p:cNvPr id="261" name="Google Shape;261;p25"/>
          <p:cNvGrpSpPr/>
          <p:nvPr/>
        </p:nvGrpSpPr>
        <p:grpSpPr>
          <a:xfrm>
            <a:off x="4872038" y="2471738"/>
            <a:ext cx="3972000" cy="723900"/>
            <a:chOff x="-4762" y="-4762"/>
            <a:chExt cx="3972000" cy="723900"/>
          </a:xfrm>
        </p:grpSpPr>
        <p:pic>
          <p:nvPicPr>
            <p:cNvPr id="262" name="Google Shape;262;p25"/>
            <p:cNvPicPr preferRelativeResize="0"/>
            <p:nvPr/>
          </p:nvPicPr>
          <p:blipFill rotWithShape="1">
            <a:blip r:embed="rId5">
              <a:alphaModFix/>
            </a:blip>
            <a:srcRect b="0" l="0" r="0" t="0"/>
            <a:stretch/>
          </p:blipFill>
          <p:spPr>
            <a:xfrm>
              <a:off x="-4762" y="-4762"/>
              <a:ext cx="3972000" cy="723900"/>
            </a:xfrm>
            <a:prstGeom prst="rect">
              <a:avLst/>
            </a:prstGeom>
            <a:noFill/>
            <a:ln>
              <a:noFill/>
            </a:ln>
          </p:spPr>
        </p:pic>
        <p:sp>
          <p:nvSpPr>
            <p:cNvPr id="263" name="Google Shape;263;p25"/>
            <p:cNvSpPr txBox="1"/>
            <p:nvPr/>
          </p:nvSpPr>
          <p:spPr>
            <a:xfrm>
              <a:off x="152400" y="95250"/>
              <a:ext cx="36576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2">
                  <a:solidFill>
                    <a:srgbClr val="705C40"/>
                  </a:solidFill>
                  <a:latin typeface="Poppins"/>
                  <a:ea typeface="Poppins"/>
                  <a:cs typeface="Poppins"/>
                  <a:sym typeface="Poppins"/>
                </a:rPr>
                <a:t>Direction, as predicted—but only at group level</a:t>
              </a:r>
              <a:endParaRPr b="1" sz="902">
                <a:solidFill>
                  <a:srgbClr val="705C40"/>
                </a:solidFill>
                <a:latin typeface="Poppins"/>
                <a:ea typeface="Poppins"/>
                <a:cs typeface="Poppins"/>
                <a:sym typeface="Poppins"/>
              </a:endParaRPr>
            </a:p>
            <a:p>
              <a:pPr indent="0" lvl="0" marL="0" rtl="0" algn="l">
                <a:spcBef>
                  <a:spcPts val="300"/>
                </a:spcBef>
                <a:spcAft>
                  <a:spcPts val="0"/>
                </a:spcAft>
                <a:buNone/>
              </a:pPr>
              <a:r>
                <a:rPr b="0" lang="en" sz="694">
                  <a:solidFill>
                    <a:srgbClr val="616161"/>
                  </a:solidFill>
                  <a:latin typeface="Poppins"/>
                  <a:ea typeface="Poppins"/>
                  <a:cs typeface="Poppins"/>
                  <a:sym typeface="Poppins"/>
                </a:rPr>
                <a:t>Segregation fell under load (0.3271 → 0.3035; Δ = −0.0236; p = 3.45 × 10⁻⁵), yet larger shifts did not predict better performance (r = −0.105; p = .054).</a:t>
              </a:r>
              <a:endParaRPr b="0" sz="694">
                <a:solidFill>
                  <a:srgbClr val="616161"/>
                </a:solidFill>
                <a:latin typeface="Poppins"/>
                <a:ea typeface="Poppins"/>
                <a:cs typeface="Poppins"/>
                <a:sym typeface="Poppins"/>
              </a:endParaRPr>
            </a:p>
          </p:txBody>
        </p:sp>
      </p:grpSp>
      <p:sp>
        <p:nvSpPr>
          <p:cNvPr id="264" name="Google Shape;264;p25"/>
          <p:cNvSpPr txBox="1"/>
          <p:nvPr/>
        </p:nvSpPr>
        <p:spPr>
          <a:xfrm>
            <a:off x="4876800" y="3333750"/>
            <a:ext cx="3962400" cy="1381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763">
                <a:solidFill>
                  <a:srgbClr val="705C40"/>
                </a:solidFill>
                <a:latin typeface="Poppins"/>
                <a:ea typeface="Poppins"/>
                <a:cs typeface="Poppins"/>
                <a:sym typeface="Poppins"/>
              </a:rPr>
              <a:t>Methodological Caveats &amp; Guardrails</a:t>
            </a:r>
            <a:endParaRPr b="1" sz="763">
              <a:solidFill>
                <a:srgbClr val="705C40"/>
              </a:solidFill>
              <a:latin typeface="Poppins"/>
              <a:ea typeface="Poppins"/>
              <a:cs typeface="Poppins"/>
              <a:sym typeface="Poppins"/>
            </a:endParaRPr>
          </a:p>
          <a:p>
            <a:pPr indent="0" lvl="0" marL="0" rtl="0" algn="l">
              <a:spcBef>
                <a:spcPts val="300"/>
              </a:spcBef>
              <a:spcAft>
                <a:spcPts val="0"/>
              </a:spcAft>
              <a:buNone/>
            </a:pPr>
            <a:r>
              <a:rPr b="0" lang="en" sz="694">
                <a:solidFill>
                  <a:srgbClr val="616161"/>
                </a:solidFill>
                <a:latin typeface="Poppins"/>
                <a:ea typeface="Poppins"/>
                <a:cs typeface="Poppins"/>
                <a:sym typeface="Poppins"/>
              </a:rPr>
              <a:t>• </a:t>
            </a:r>
            <a:r>
              <a:rPr b="0" lang="en" sz="694">
                <a:solidFill>
                  <a:srgbClr val="202729"/>
                </a:solidFill>
                <a:latin typeface="Poppins Medium"/>
                <a:ea typeface="Poppins Medium"/>
                <a:cs typeface="Poppins Medium"/>
                <a:sym typeface="Poppins Medium"/>
              </a:rPr>
              <a:t>No biological winner claimed:</a:t>
            </a:r>
            <a:r>
              <a:rPr b="0" lang="en" sz="694">
                <a:solidFill>
                  <a:srgbClr val="616161"/>
                </a:solidFill>
                <a:latin typeface="Poppins"/>
                <a:ea typeface="Poppins"/>
                <a:cs typeface="Poppins"/>
                <a:sym typeface="Poppins"/>
              </a:rPr>
              <a:t> Unmatched features (360 activation vs 78 network FC). Activation does not erase FC findings but challenges specificity.</a:t>
            </a:r>
            <a:endParaRPr b="1" sz="694">
              <a:solidFill>
                <a:srgbClr val="705C40"/>
              </a:solidFill>
              <a:latin typeface="Poppins"/>
              <a:ea typeface="Poppins"/>
              <a:cs typeface="Poppins"/>
              <a:sym typeface="Poppins"/>
            </a:endParaRPr>
          </a:p>
          <a:p>
            <a:pPr indent="0" lvl="0" marL="0" rtl="0" algn="l">
              <a:spcBef>
                <a:spcPts val="225"/>
              </a:spcBef>
              <a:spcAft>
                <a:spcPts val="0"/>
              </a:spcAft>
              <a:buNone/>
            </a:pPr>
            <a:r>
              <a:rPr b="0" lang="en" sz="694">
                <a:solidFill>
                  <a:srgbClr val="616161"/>
                </a:solidFill>
                <a:latin typeface="Poppins"/>
                <a:ea typeface="Poppins"/>
                <a:cs typeface="Poppins"/>
                <a:sym typeface="Poppins"/>
              </a:rPr>
              <a:t>• </a:t>
            </a:r>
            <a:r>
              <a:rPr b="0" lang="en" sz="694">
                <a:solidFill>
                  <a:srgbClr val="202729"/>
                </a:solidFill>
                <a:latin typeface="Poppins Medium"/>
                <a:ea typeface="Poppins Medium"/>
                <a:cs typeface="Poppins Medium"/>
                <a:sym typeface="Poppins Medium"/>
              </a:rPr>
              <a:t>Not load-specific:</a:t>
            </a:r>
            <a:r>
              <a:rPr b="0" lang="en" sz="694">
                <a:solidFill>
                  <a:srgbClr val="616161"/>
                </a:solidFill>
                <a:latin typeface="Poppins"/>
                <a:ea typeface="Poppins"/>
                <a:cs typeface="Poppins"/>
                <a:sym typeface="Poppins"/>
              </a:rPr>
              <a:t> 0-back activation alone predicts as well (0.571), indicating a general benchmark.</a:t>
            </a:r>
            <a:endParaRPr b="1" sz="694">
              <a:solidFill>
                <a:srgbClr val="705C40"/>
              </a:solidFill>
              <a:latin typeface="Poppins"/>
              <a:ea typeface="Poppins"/>
              <a:cs typeface="Poppins"/>
              <a:sym typeface="Poppins"/>
            </a:endParaRPr>
          </a:p>
          <a:p>
            <a:pPr indent="0" lvl="0" marL="0" rtl="0" algn="l">
              <a:spcBef>
                <a:spcPts val="225"/>
              </a:spcBef>
              <a:spcAft>
                <a:spcPts val="0"/>
              </a:spcAft>
              <a:buNone/>
            </a:pPr>
            <a:r>
              <a:rPr b="0" lang="en" sz="694">
                <a:solidFill>
                  <a:srgbClr val="616161"/>
                </a:solidFill>
                <a:latin typeface="Poppins"/>
                <a:ea typeface="Poppins"/>
                <a:cs typeface="Poppins"/>
                <a:sym typeface="Poppins"/>
              </a:rPr>
              <a:t>• </a:t>
            </a:r>
            <a:r>
              <a:rPr b="0" lang="en" sz="694">
                <a:solidFill>
                  <a:srgbClr val="202729"/>
                </a:solidFill>
                <a:latin typeface="Poppins Medium"/>
                <a:ea typeface="Poppins Medium"/>
                <a:cs typeface="Poppins Medium"/>
                <a:sym typeface="Poppins Medium"/>
              </a:rPr>
              <a:t>Controls:</a:t>
            </a:r>
            <a:r>
              <a:rPr b="0" lang="en" sz="694">
                <a:solidFill>
                  <a:srgbClr val="616161"/>
                </a:solidFill>
                <a:latin typeface="Poppins"/>
                <a:ea typeface="Poppins"/>
                <a:cs typeface="Poppins"/>
                <a:sym typeface="Poppins"/>
              </a:rPr>
              <a:t> Activation is mean BOLD difference (not GLM beta). No cerebrovascular reactivity (CVR) control exists.</a:t>
            </a:r>
            <a:endParaRPr b="1" sz="694">
              <a:solidFill>
                <a:srgbClr val="705C40"/>
              </a:solidFill>
              <a:latin typeface="Poppins"/>
              <a:ea typeface="Poppins"/>
              <a:cs typeface="Poppins"/>
              <a:sym typeface="Poppins"/>
            </a:endParaRPr>
          </a:p>
          <a:p>
            <a:pPr indent="0" lvl="0" marL="0" rtl="0" algn="l">
              <a:spcBef>
                <a:spcPts val="225"/>
              </a:spcBef>
              <a:spcAft>
                <a:spcPts val="0"/>
              </a:spcAft>
              <a:buNone/>
            </a:pPr>
            <a:r>
              <a:rPr b="0" lang="en" sz="694">
                <a:solidFill>
                  <a:srgbClr val="616161"/>
                </a:solidFill>
                <a:latin typeface="Poppins"/>
                <a:ea typeface="Poppins"/>
                <a:cs typeface="Poppins"/>
                <a:sym typeface="Poppins"/>
              </a:rPr>
              <a:t>• </a:t>
            </a:r>
            <a:r>
              <a:rPr b="0" lang="en" sz="694">
                <a:solidFill>
                  <a:srgbClr val="202729"/>
                </a:solidFill>
                <a:latin typeface="Poppins Medium"/>
                <a:ea typeface="Poppins Medium"/>
                <a:cs typeface="Poppins Medium"/>
                <a:sym typeface="Poppins Medium"/>
              </a:rPr>
              <a:t>Open squares:</a:t>
            </a:r>
            <a:r>
              <a:rPr b="0" lang="en" sz="694">
                <a:solidFill>
                  <a:srgbClr val="616161"/>
                </a:solidFill>
                <a:latin typeface="Poppins"/>
                <a:ea typeface="Poppins"/>
                <a:cs typeface="Poppins"/>
                <a:sym typeface="Poppins"/>
              </a:rPr>
              <a:t> Held-out cross-run generalization.</a:t>
            </a:r>
            <a:endParaRPr b="1" sz="694">
              <a:solidFill>
                <a:srgbClr val="705C40"/>
              </a:solidFill>
              <a:latin typeface="Poppins"/>
              <a:ea typeface="Poppins"/>
              <a:cs typeface="Poppins"/>
              <a:sym typeface="Poppins"/>
            </a:endParaRPr>
          </a:p>
        </p:txBody>
      </p:sp>
      <p:pic>
        <p:nvPicPr>
          <p:cNvPr id="265" name="Google Shape;265;p25" title="activation-robustness.png"/>
          <p:cNvPicPr preferRelativeResize="0"/>
          <p:nvPr/>
        </p:nvPicPr>
        <p:blipFill rotWithShape="1">
          <a:blip r:embed="rId6">
            <a:alphaModFix/>
          </a:blip>
          <a:srcRect b="0" l="1186" r="0" t="0"/>
          <a:stretch/>
        </p:blipFill>
        <p:spPr>
          <a:xfrm>
            <a:off x="95250" y="900125"/>
            <a:ext cx="4455798" cy="25364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6"/>
          <p:cNvSpPr/>
          <p:nvPr/>
        </p:nvSpPr>
        <p:spPr>
          <a:xfrm>
            <a:off x="0" y="4832033"/>
            <a:ext cx="9144000" cy="311700"/>
          </a:xfrm>
          <a:prstGeom prst="rect">
            <a:avLst/>
          </a:prstGeom>
          <a:solidFill>
            <a:srgbClr val="E4D6B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6"/>
          <p:cNvSpPr txBox="1"/>
          <p:nvPr/>
        </p:nvSpPr>
        <p:spPr>
          <a:xfrm>
            <a:off x="95250" y="4905375"/>
            <a:ext cx="4095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273" name="Google Shape;273;p26"/>
          <p:cNvSpPr txBox="1"/>
          <p:nvPr/>
        </p:nvSpPr>
        <p:spPr>
          <a:xfrm>
            <a:off x="4953000" y="4905375"/>
            <a:ext cx="4095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274" name="Google Shape;274;p26"/>
          <p:cNvPicPr preferRelativeResize="0"/>
          <p:nvPr/>
        </p:nvPicPr>
        <p:blipFill rotWithShape="1">
          <a:blip r:embed="rId3">
            <a:alphaModFix/>
          </a:blip>
          <a:srcRect b="-60" l="30" r="-10" t="30"/>
          <a:stretch/>
        </p:blipFill>
        <p:spPr>
          <a:xfrm>
            <a:off x="4455795" y="4832033"/>
            <a:ext cx="313800" cy="311700"/>
          </a:xfrm>
          <a:prstGeom prst="roundRect">
            <a:avLst>
              <a:gd fmla="val 0" name="adj"/>
            </a:avLst>
          </a:prstGeom>
          <a:noFill/>
          <a:ln>
            <a:noFill/>
          </a:ln>
        </p:spPr>
      </p:pic>
      <p:sp>
        <p:nvSpPr>
          <p:cNvPr id="275" name="Google Shape;275;p26"/>
          <p:cNvSpPr txBox="1"/>
          <p:nvPr/>
        </p:nvSpPr>
        <p:spPr>
          <a:xfrm>
            <a:off x="304800" y="228600"/>
            <a:ext cx="85344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705C40"/>
                </a:solidFill>
                <a:latin typeface="Poppins"/>
                <a:ea typeface="Poppins"/>
                <a:cs typeface="Poppins"/>
                <a:sym typeface="Poppins"/>
              </a:rPr>
              <a:t>Predictive signal survives; connectivity-specific mechanism remains unresolved</a:t>
            </a:r>
            <a:endParaRPr b="1" sz="1600">
              <a:solidFill>
                <a:srgbClr val="705C40"/>
              </a:solidFill>
              <a:latin typeface="Poppins"/>
              <a:ea typeface="Poppins"/>
              <a:cs typeface="Poppins"/>
              <a:sym typeface="Poppins"/>
            </a:endParaRPr>
          </a:p>
        </p:txBody>
      </p:sp>
      <p:grpSp>
        <p:nvGrpSpPr>
          <p:cNvPr id="276" name="Google Shape;276;p26"/>
          <p:cNvGrpSpPr/>
          <p:nvPr/>
        </p:nvGrpSpPr>
        <p:grpSpPr>
          <a:xfrm>
            <a:off x="300038" y="947738"/>
            <a:ext cx="2581200" cy="3629100"/>
            <a:chOff x="-4762" y="-4762"/>
            <a:chExt cx="2581200" cy="3629100"/>
          </a:xfrm>
        </p:grpSpPr>
        <p:pic>
          <p:nvPicPr>
            <p:cNvPr id="277" name="Google Shape;277;p26"/>
            <p:cNvPicPr preferRelativeResize="0"/>
            <p:nvPr/>
          </p:nvPicPr>
          <p:blipFill rotWithShape="1">
            <a:blip r:embed="rId4">
              <a:alphaModFix/>
            </a:blip>
            <a:srcRect b="0" l="0" r="0" t="0"/>
            <a:stretch/>
          </p:blipFill>
          <p:spPr>
            <a:xfrm>
              <a:off x="-4762" y="-4762"/>
              <a:ext cx="2581200" cy="3629100"/>
            </a:xfrm>
            <a:prstGeom prst="rect">
              <a:avLst/>
            </a:prstGeom>
            <a:noFill/>
            <a:ln>
              <a:noFill/>
            </a:ln>
          </p:spPr>
        </p:pic>
        <p:sp>
          <p:nvSpPr>
            <p:cNvPr id="278" name="Google Shape;278;p26"/>
            <p:cNvSpPr txBox="1"/>
            <p:nvPr/>
          </p:nvSpPr>
          <p:spPr>
            <a:xfrm>
              <a:off x="142875" y="142875"/>
              <a:ext cx="2286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05C40"/>
                  </a:solidFill>
                  <a:latin typeface="Poppins"/>
                  <a:ea typeface="Poppins"/>
                  <a:cs typeface="Poppins"/>
                  <a:sym typeface="Poppins"/>
                </a:rPr>
                <a:t>Survives</a:t>
              </a:r>
              <a:endParaRPr b="1" sz="1300">
                <a:solidFill>
                  <a:srgbClr val="705C40"/>
                </a:solidFill>
                <a:latin typeface="Poppins"/>
                <a:ea typeface="Poppins"/>
                <a:cs typeface="Poppins"/>
                <a:sym typeface="Poppins"/>
              </a:endParaRPr>
            </a:p>
            <a:p>
              <a:pPr indent="0" lvl="0" marL="0" rtl="0" algn="l">
                <a:spcBef>
                  <a:spcPts val="600"/>
                </a:spcBef>
                <a:spcAft>
                  <a:spcPts val="0"/>
                </a:spcAft>
                <a:buNone/>
              </a:pPr>
              <a:r>
                <a:rPr b="0" i="1" lang="en" sz="1050">
                  <a:solidFill>
                    <a:srgbClr val="B99470"/>
                  </a:solidFill>
                  <a:latin typeface="Poppins SemiBold"/>
                  <a:ea typeface="Poppins SemiBold"/>
                  <a:cs typeface="Poppins SemiBold"/>
                  <a:sym typeface="Poppins SemiBold"/>
                </a:rPr>
                <a:t>The pattern hypothesis</a:t>
              </a:r>
              <a:endParaRPr b="0" i="1" sz="1050">
                <a:solidFill>
                  <a:srgbClr val="B99470"/>
                </a:solidFill>
                <a:latin typeface="Poppins SemiBold"/>
                <a:ea typeface="Poppins SemiBold"/>
                <a:cs typeface="Poppins SemiBold"/>
                <a:sym typeface="Poppins SemiBold"/>
              </a:endParaRPr>
            </a:p>
            <a:p>
              <a:pPr indent="0" lvl="0" marL="0" rtl="0" algn="l">
                <a:spcBef>
                  <a:spcPts val="900"/>
                </a:spcBef>
                <a:spcAft>
                  <a:spcPts val="0"/>
                </a:spcAft>
                <a:buNone/>
              </a:pPr>
              <a:r>
                <a:rPr lang="en" sz="950">
                  <a:solidFill>
                    <a:srgbClr val="616161"/>
                  </a:solidFill>
                  <a:latin typeface="Poppins"/>
                  <a:ea typeface="Poppins"/>
                  <a:cs typeface="Poppins"/>
                  <a:sym typeface="Poppins"/>
                </a:rPr>
                <a:t>• </a:t>
              </a:r>
              <a:r>
                <a:rPr b="0" lang="en" sz="950">
                  <a:solidFill>
                    <a:srgbClr val="202729"/>
                  </a:solidFill>
                  <a:latin typeface="Poppins SemiBold"/>
                  <a:ea typeface="Poppins SemiBold"/>
                  <a:cs typeface="Poppins SemiBold"/>
                  <a:sym typeface="Poppins SemiBold"/>
                </a:rPr>
                <a:t>A 78-feature FC difference</a:t>
              </a:r>
              <a:r>
                <a:rPr lang="en" sz="950">
                  <a:solidFill>
                    <a:srgbClr val="616161"/>
                  </a:solidFill>
                  <a:latin typeface="Poppins"/>
                  <a:ea typeface="Poppins"/>
                  <a:cs typeface="Poppins"/>
                  <a:sym typeface="Poppins"/>
                </a:rPr>
                <a:t> predicts unseen 2-back accuracy.</a:t>
              </a:r>
              <a:endParaRPr sz="950">
                <a:solidFill>
                  <a:srgbClr val="616161"/>
                </a:solidFill>
                <a:latin typeface="Poppins"/>
                <a:ea typeface="Poppins"/>
                <a:cs typeface="Poppins"/>
                <a:sym typeface="Poppins"/>
              </a:endParaRPr>
            </a:p>
            <a:p>
              <a:pPr indent="0" lvl="0" marL="0" rtl="0" algn="l">
                <a:spcBef>
                  <a:spcPts val="750"/>
                </a:spcBef>
                <a:spcAft>
                  <a:spcPts val="750"/>
                </a:spcAft>
                <a:buNone/>
              </a:pPr>
              <a:r>
                <a:rPr lang="en" sz="950">
                  <a:solidFill>
                    <a:srgbClr val="616161"/>
                  </a:solidFill>
                  <a:latin typeface="Poppins"/>
                  <a:ea typeface="Poppins"/>
                  <a:cs typeface="Poppins"/>
                  <a:sym typeface="Poppins"/>
                </a:rPr>
                <a:t>• </a:t>
              </a:r>
              <a:r>
                <a:rPr b="0" lang="en" sz="950">
                  <a:solidFill>
                    <a:srgbClr val="202729"/>
                  </a:solidFill>
                  <a:latin typeface="Poppins SemiBold"/>
                  <a:ea typeface="Poppins SemiBold"/>
                  <a:cs typeface="Poppins SemiBold"/>
                  <a:sym typeface="Poppins SemiBold"/>
                </a:rPr>
                <a:t>The model transfers</a:t>
              </a:r>
              <a:r>
                <a:rPr lang="en" sz="950">
                  <a:solidFill>
                    <a:srgbClr val="616161"/>
                  </a:solidFill>
                  <a:latin typeface="Poppins"/>
                  <a:ea typeface="Poppins"/>
                  <a:cs typeface="Poppins"/>
                  <a:sym typeface="Poppins"/>
                </a:rPr>
                <a:t> across identity-disjoint same-HCP cohorts.</a:t>
              </a:r>
              <a:endParaRPr sz="950">
                <a:solidFill>
                  <a:srgbClr val="616161"/>
                </a:solidFill>
                <a:latin typeface="Poppins"/>
                <a:ea typeface="Poppins"/>
                <a:cs typeface="Poppins"/>
                <a:sym typeface="Poppins"/>
              </a:endParaRPr>
            </a:p>
          </p:txBody>
        </p:sp>
      </p:grpSp>
      <p:grpSp>
        <p:nvGrpSpPr>
          <p:cNvPr id="279" name="Google Shape;279;p26"/>
          <p:cNvGrpSpPr/>
          <p:nvPr/>
        </p:nvGrpSpPr>
        <p:grpSpPr>
          <a:xfrm>
            <a:off x="3062288" y="947738"/>
            <a:ext cx="2581200" cy="3629100"/>
            <a:chOff x="-4762" y="-4762"/>
            <a:chExt cx="2581200" cy="3629100"/>
          </a:xfrm>
        </p:grpSpPr>
        <p:pic>
          <p:nvPicPr>
            <p:cNvPr id="280" name="Google Shape;280;p26"/>
            <p:cNvPicPr preferRelativeResize="0"/>
            <p:nvPr/>
          </p:nvPicPr>
          <p:blipFill rotWithShape="1">
            <a:blip r:embed="rId4">
              <a:alphaModFix/>
            </a:blip>
            <a:srcRect b="0" l="0" r="0" t="0"/>
            <a:stretch/>
          </p:blipFill>
          <p:spPr>
            <a:xfrm>
              <a:off x="-4762" y="-4762"/>
              <a:ext cx="2581200" cy="3629100"/>
            </a:xfrm>
            <a:prstGeom prst="rect">
              <a:avLst/>
            </a:prstGeom>
            <a:noFill/>
            <a:ln>
              <a:noFill/>
            </a:ln>
          </p:spPr>
        </p:pic>
        <p:sp>
          <p:nvSpPr>
            <p:cNvPr id="281" name="Google Shape;281;p26"/>
            <p:cNvSpPr txBox="1"/>
            <p:nvPr/>
          </p:nvSpPr>
          <p:spPr>
            <a:xfrm>
              <a:off x="142875" y="142875"/>
              <a:ext cx="2286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05C40"/>
                  </a:solidFill>
                  <a:latin typeface="Poppins"/>
                  <a:ea typeface="Poppins"/>
                  <a:cs typeface="Poppins"/>
                  <a:sym typeface="Poppins"/>
                </a:rPr>
                <a:t>Refined</a:t>
              </a:r>
              <a:endParaRPr b="1" sz="1300">
                <a:solidFill>
                  <a:srgbClr val="705C40"/>
                </a:solidFill>
                <a:latin typeface="Poppins"/>
                <a:ea typeface="Poppins"/>
                <a:cs typeface="Poppins"/>
                <a:sym typeface="Poppins"/>
              </a:endParaRPr>
            </a:p>
            <a:p>
              <a:pPr indent="0" lvl="0" marL="0" rtl="0" algn="l">
                <a:spcBef>
                  <a:spcPts val="600"/>
                </a:spcBef>
                <a:spcAft>
                  <a:spcPts val="0"/>
                </a:spcAft>
                <a:buNone/>
              </a:pPr>
              <a:r>
                <a:rPr b="0" i="1" lang="en" sz="1050">
                  <a:solidFill>
                    <a:srgbClr val="B99470"/>
                  </a:solidFill>
                  <a:latin typeface="Poppins SemiBold"/>
                  <a:ea typeface="Poppins SemiBold"/>
                  <a:cs typeface="Poppins SemiBold"/>
                  <a:sym typeface="Poppins SemiBold"/>
                </a:rPr>
                <a:t>The directional hypothesis</a:t>
              </a:r>
              <a:endParaRPr b="0" i="1" sz="1050">
                <a:solidFill>
                  <a:srgbClr val="B99470"/>
                </a:solidFill>
                <a:latin typeface="Poppins SemiBold"/>
                <a:ea typeface="Poppins SemiBold"/>
                <a:cs typeface="Poppins SemiBold"/>
                <a:sym typeface="Poppins SemiBold"/>
              </a:endParaRPr>
            </a:p>
            <a:p>
              <a:pPr indent="0" lvl="0" marL="0" rtl="0" algn="l">
                <a:spcBef>
                  <a:spcPts val="900"/>
                </a:spcBef>
                <a:spcAft>
                  <a:spcPts val="0"/>
                </a:spcAft>
                <a:buNone/>
              </a:pPr>
              <a:r>
                <a:rPr lang="en" sz="950">
                  <a:solidFill>
                    <a:srgbClr val="616161"/>
                  </a:solidFill>
                  <a:latin typeface="Poppins"/>
                  <a:ea typeface="Poppins"/>
                  <a:cs typeface="Poppins"/>
                  <a:sym typeface="Poppins"/>
                </a:rPr>
                <a:t>• </a:t>
              </a:r>
              <a:r>
                <a:rPr b="0" lang="en" sz="950">
                  <a:solidFill>
                    <a:srgbClr val="202729"/>
                  </a:solidFill>
                  <a:latin typeface="Poppins SemiBold"/>
                  <a:ea typeface="Poppins SemiBold"/>
                  <a:cs typeface="Poppins SemiBold"/>
                  <a:sym typeface="Poppins SemiBold"/>
                </a:rPr>
                <a:t>Segregation fell</a:t>
              </a:r>
              <a:r>
                <a:rPr lang="en" sz="950">
                  <a:solidFill>
                    <a:srgbClr val="616161"/>
                  </a:solidFill>
                  <a:latin typeface="Poppins"/>
                  <a:ea typeface="Poppins"/>
                  <a:cs typeface="Poppins"/>
                  <a:sym typeface="Poppins"/>
                </a:rPr>
                <a:t> under load, but larger shifts did not predict better performance.</a:t>
              </a:r>
              <a:endParaRPr sz="950">
                <a:solidFill>
                  <a:srgbClr val="616161"/>
                </a:solidFill>
                <a:latin typeface="Poppins"/>
                <a:ea typeface="Poppins"/>
                <a:cs typeface="Poppins"/>
                <a:sym typeface="Poppins"/>
              </a:endParaRPr>
            </a:p>
            <a:p>
              <a:pPr indent="0" lvl="0" marL="0" rtl="0" algn="l">
                <a:spcBef>
                  <a:spcPts val="750"/>
                </a:spcBef>
                <a:spcAft>
                  <a:spcPts val="0"/>
                </a:spcAft>
                <a:buNone/>
              </a:pPr>
              <a:r>
                <a:rPr lang="en" sz="950">
                  <a:solidFill>
                    <a:srgbClr val="616161"/>
                  </a:solidFill>
                  <a:latin typeface="Poppins"/>
                  <a:ea typeface="Poppins"/>
                  <a:cs typeface="Poppins"/>
                  <a:sym typeface="Poppins"/>
                </a:rPr>
                <a:t>• </a:t>
              </a:r>
              <a:r>
                <a:rPr b="0" lang="en" sz="950">
                  <a:solidFill>
                    <a:srgbClr val="202729"/>
                  </a:solidFill>
                  <a:latin typeface="Poppins SemiBold"/>
                  <a:ea typeface="Poppins SemiBold"/>
                  <a:cs typeface="Poppins SemiBold"/>
                  <a:sym typeface="Poppins SemiBold"/>
                </a:rPr>
                <a:t>Reconfiguration</a:t>
              </a:r>
              <a:r>
                <a:rPr lang="en" sz="950">
                  <a:solidFill>
                    <a:srgbClr val="616161"/>
                  </a:solidFill>
                  <a:latin typeface="Poppins"/>
                  <a:ea typeface="Poppins"/>
                  <a:cs typeface="Poppins"/>
                  <a:sym typeface="Poppins"/>
                </a:rPr>
                <a:t> showed no clear gain beyond 0-back FC.</a:t>
              </a:r>
              <a:endParaRPr sz="950">
                <a:solidFill>
                  <a:srgbClr val="616161"/>
                </a:solidFill>
                <a:latin typeface="Poppins"/>
                <a:ea typeface="Poppins"/>
                <a:cs typeface="Poppins"/>
                <a:sym typeface="Poppins"/>
              </a:endParaRPr>
            </a:p>
            <a:p>
              <a:pPr indent="0" lvl="0" marL="0" rtl="0" algn="l">
                <a:spcBef>
                  <a:spcPts val="750"/>
                </a:spcBef>
                <a:spcAft>
                  <a:spcPts val="750"/>
                </a:spcAft>
                <a:buNone/>
              </a:pPr>
              <a:r>
                <a:rPr lang="en" sz="950">
                  <a:solidFill>
                    <a:srgbClr val="616161"/>
                  </a:solidFill>
                  <a:latin typeface="Poppins"/>
                  <a:ea typeface="Poppins"/>
                  <a:cs typeface="Poppins"/>
                  <a:sym typeface="Poppins"/>
                </a:rPr>
                <a:t>• </a:t>
              </a:r>
              <a:r>
                <a:rPr b="0" lang="en" sz="950">
                  <a:solidFill>
                    <a:srgbClr val="202729"/>
                  </a:solidFill>
                  <a:latin typeface="Poppins SemiBold"/>
                  <a:ea typeface="Poppins SemiBold"/>
                  <a:cs typeface="Poppins SemiBold"/>
                  <a:sym typeface="Poppins SemiBold"/>
                </a:rPr>
                <a:t>FC added no clear gain</a:t>
              </a:r>
              <a:r>
                <a:rPr lang="en" sz="950">
                  <a:solidFill>
                    <a:srgbClr val="616161"/>
                  </a:solidFill>
                  <a:latin typeface="Poppins"/>
                  <a:ea typeface="Poppins"/>
                  <a:cs typeface="Poppins"/>
                  <a:sym typeface="Poppins"/>
                </a:rPr>
                <a:t> over activation under the current unmatched comparison.</a:t>
              </a:r>
              <a:endParaRPr sz="950">
                <a:solidFill>
                  <a:srgbClr val="616161"/>
                </a:solidFill>
                <a:latin typeface="Poppins"/>
                <a:ea typeface="Poppins"/>
                <a:cs typeface="Poppins"/>
                <a:sym typeface="Poppins"/>
              </a:endParaRPr>
            </a:p>
          </p:txBody>
        </p:sp>
      </p:grpSp>
      <p:grpSp>
        <p:nvGrpSpPr>
          <p:cNvPr id="282" name="Google Shape;282;p26"/>
          <p:cNvGrpSpPr/>
          <p:nvPr/>
        </p:nvGrpSpPr>
        <p:grpSpPr>
          <a:xfrm>
            <a:off x="5824538" y="947738"/>
            <a:ext cx="3019500" cy="3629100"/>
            <a:chOff x="-4762" y="-4762"/>
            <a:chExt cx="3019500" cy="3629100"/>
          </a:xfrm>
        </p:grpSpPr>
        <p:pic>
          <p:nvPicPr>
            <p:cNvPr id="283" name="Google Shape;283;p26"/>
            <p:cNvPicPr preferRelativeResize="0"/>
            <p:nvPr/>
          </p:nvPicPr>
          <p:blipFill rotWithShape="1">
            <a:blip r:embed="rId5">
              <a:alphaModFix/>
            </a:blip>
            <a:srcRect b="0" l="0" r="0" t="0"/>
            <a:stretch/>
          </p:blipFill>
          <p:spPr>
            <a:xfrm>
              <a:off x="-4762" y="-4762"/>
              <a:ext cx="3019500" cy="3629100"/>
            </a:xfrm>
            <a:prstGeom prst="rect">
              <a:avLst/>
            </a:prstGeom>
            <a:noFill/>
            <a:ln>
              <a:noFill/>
            </a:ln>
          </p:spPr>
        </p:pic>
        <p:sp>
          <p:nvSpPr>
            <p:cNvPr id="284" name="Google Shape;284;p26"/>
            <p:cNvSpPr txBox="1"/>
            <p:nvPr/>
          </p:nvSpPr>
          <p:spPr>
            <a:xfrm>
              <a:off x="171450" y="142875"/>
              <a:ext cx="2667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05C40"/>
                  </a:solidFill>
                  <a:latin typeface="Poppins"/>
                  <a:ea typeface="Poppins"/>
                  <a:cs typeface="Poppins"/>
                  <a:sym typeface="Poppins"/>
                </a:rPr>
                <a:t>Unresolved</a:t>
              </a:r>
              <a:endParaRPr b="1" sz="1300">
                <a:solidFill>
                  <a:srgbClr val="705C40"/>
                </a:solidFill>
                <a:latin typeface="Poppins"/>
                <a:ea typeface="Poppins"/>
                <a:cs typeface="Poppins"/>
                <a:sym typeface="Poppins"/>
              </a:endParaRPr>
            </a:p>
            <a:p>
              <a:pPr indent="0" lvl="0" marL="0" rtl="0" algn="l">
                <a:spcBef>
                  <a:spcPts val="600"/>
                </a:spcBef>
                <a:spcAft>
                  <a:spcPts val="0"/>
                </a:spcAft>
                <a:buNone/>
              </a:pPr>
              <a:r>
                <a:rPr b="0" i="1" lang="en" sz="1050">
                  <a:solidFill>
                    <a:srgbClr val="B99470"/>
                  </a:solidFill>
                  <a:latin typeface="Poppins SemiBold"/>
                  <a:ea typeface="Poppins SemiBold"/>
                  <a:cs typeface="Poppins SemiBold"/>
                  <a:sym typeface="Poppins SemiBold"/>
                </a:rPr>
                <a:t>Mechanistic open questions</a:t>
              </a:r>
              <a:endParaRPr b="0" i="1" sz="1050">
                <a:solidFill>
                  <a:srgbClr val="B99470"/>
                </a:solidFill>
                <a:latin typeface="Poppins SemiBold"/>
                <a:ea typeface="Poppins SemiBold"/>
                <a:cs typeface="Poppins SemiBold"/>
                <a:sym typeface="Poppins SemiBold"/>
              </a:endParaRPr>
            </a:p>
            <a:p>
              <a:pPr indent="0" lvl="0" marL="0" rtl="0" algn="l">
                <a:spcBef>
                  <a:spcPts val="900"/>
                </a:spcBef>
                <a:spcAft>
                  <a:spcPts val="0"/>
                </a:spcAft>
                <a:buNone/>
              </a:pPr>
              <a:r>
                <a:rPr lang="en" sz="950">
                  <a:solidFill>
                    <a:srgbClr val="616161"/>
                  </a:solidFill>
                  <a:latin typeface="Poppins"/>
                  <a:ea typeface="Poppins"/>
                  <a:cs typeface="Poppins"/>
                  <a:sym typeface="Poppins"/>
                </a:rPr>
                <a:t>• </a:t>
              </a:r>
              <a:r>
                <a:rPr b="0" lang="en" sz="950">
                  <a:solidFill>
                    <a:srgbClr val="202729"/>
                  </a:solidFill>
                  <a:latin typeface="Poppins SemiBold"/>
                  <a:ea typeface="Poppins SemiBold"/>
                  <a:cs typeface="Poppins SemiBold"/>
                  <a:sym typeface="Poppins SemiBold"/>
                </a:rPr>
                <a:t>Is the predictive info</a:t>
              </a:r>
              <a:r>
                <a:rPr lang="en" sz="950">
                  <a:solidFill>
                    <a:srgbClr val="616161"/>
                  </a:solidFill>
                  <a:latin typeface="Poppins"/>
                  <a:ea typeface="Poppins"/>
                  <a:cs typeface="Poppins"/>
                  <a:sym typeface="Poppins"/>
                </a:rPr>
                <a:t> connectivity-specific, or shared with task activation?</a:t>
              </a:r>
              <a:endParaRPr sz="950">
                <a:solidFill>
                  <a:srgbClr val="616161"/>
                </a:solidFill>
                <a:latin typeface="Poppins"/>
                <a:ea typeface="Poppins"/>
                <a:cs typeface="Poppins"/>
                <a:sym typeface="Poppins"/>
              </a:endParaRPr>
            </a:p>
            <a:p>
              <a:pPr indent="0" lvl="0" marL="0" rtl="0" algn="l">
                <a:spcBef>
                  <a:spcPts val="750"/>
                </a:spcBef>
                <a:spcAft>
                  <a:spcPts val="750"/>
                </a:spcAft>
                <a:buNone/>
              </a:pPr>
              <a:r>
                <a:rPr lang="en" sz="950">
                  <a:solidFill>
                    <a:srgbClr val="616161"/>
                  </a:solidFill>
                  <a:latin typeface="Poppins"/>
                  <a:ea typeface="Poppins"/>
                  <a:cs typeface="Poppins"/>
                  <a:sym typeface="Poppins"/>
                </a:rPr>
                <a:t>• </a:t>
              </a:r>
              <a:r>
                <a:rPr b="0" lang="en" sz="950">
                  <a:solidFill>
                    <a:srgbClr val="202729"/>
                  </a:solidFill>
                  <a:latin typeface="Poppins SemiBold"/>
                  <a:ea typeface="Poppins SemiBold"/>
                  <a:cs typeface="Poppins SemiBold"/>
                  <a:sym typeface="Poppins SemiBold"/>
                </a:rPr>
                <a:t>Vascular reactivity (CVR)</a:t>
              </a:r>
              <a:r>
                <a:rPr lang="en" sz="950">
                  <a:solidFill>
                    <a:srgbClr val="616161"/>
                  </a:solidFill>
                  <a:latin typeface="Poppins"/>
                  <a:ea typeface="Poppins"/>
                  <a:cs typeface="Poppins"/>
                  <a:sym typeface="Poppins"/>
                </a:rPr>
                <a:t> is not controlled in the activation benchmark.</a:t>
              </a:r>
              <a:endParaRPr sz="950">
                <a:solidFill>
                  <a:srgbClr val="616161"/>
                </a:solidFill>
                <a:latin typeface="Poppins"/>
                <a:ea typeface="Poppins"/>
                <a:cs typeface="Poppins"/>
                <a:sym typeface="Poppi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27"/>
          <p:cNvSpPr/>
          <p:nvPr/>
        </p:nvSpPr>
        <p:spPr>
          <a:xfrm>
            <a:off x="0" y="4832033"/>
            <a:ext cx="9144000" cy="311400"/>
          </a:xfrm>
          <a:prstGeom prst="rect">
            <a:avLst/>
          </a:prstGeom>
          <a:solidFill>
            <a:srgbClr val="E4D6B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7"/>
          <p:cNvSpPr txBox="1"/>
          <p:nvPr/>
        </p:nvSpPr>
        <p:spPr>
          <a:xfrm>
            <a:off x="95250" y="4905375"/>
            <a:ext cx="4095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292" name="Google Shape;292;p27"/>
          <p:cNvSpPr txBox="1"/>
          <p:nvPr/>
        </p:nvSpPr>
        <p:spPr>
          <a:xfrm>
            <a:off x="4953000" y="4905375"/>
            <a:ext cx="4095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293" name="Google Shape;293;p27"/>
          <p:cNvPicPr preferRelativeResize="0"/>
          <p:nvPr/>
        </p:nvPicPr>
        <p:blipFill rotWithShape="1">
          <a:blip r:embed="rId3">
            <a:alphaModFix/>
          </a:blip>
          <a:srcRect b="0" l="60" r="60" t="0"/>
          <a:stretch/>
        </p:blipFill>
        <p:spPr>
          <a:xfrm>
            <a:off x="4455795" y="4832033"/>
            <a:ext cx="313500" cy="311400"/>
          </a:xfrm>
          <a:prstGeom prst="rect">
            <a:avLst/>
          </a:prstGeom>
          <a:noFill/>
          <a:ln>
            <a:noFill/>
          </a:ln>
        </p:spPr>
      </p:pic>
      <p:sp>
        <p:nvSpPr>
          <p:cNvPr id="294" name="Google Shape;294;p27"/>
          <p:cNvSpPr txBox="1"/>
          <p:nvPr/>
        </p:nvSpPr>
        <p:spPr>
          <a:xfrm>
            <a:off x="304800" y="228600"/>
            <a:ext cx="85344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705C40"/>
                </a:solidFill>
                <a:latin typeface="Poppins"/>
                <a:ea typeface="Poppins"/>
                <a:cs typeface="Poppins"/>
                <a:sym typeface="Poppins"/>
              </a:rPr>
              <a:t>Group direction was real; the individual link was weak</a:t>
            </a:r>
            <a:endParaRPr b="1" sz="1600">
              <a:solidFill>
                <a:srgbClr val="705C40"/>
              </a:solidFill>
              <a:latin typeface="Poppins"/>
              <a:ea typeface="Poppins"/>
              <a:cs typeface="Poppins"/>
              <a:sym typeface="Poppins"/>
            </a:endParaRPr>
          </a:p>
        </p:txBody>
      </p:sp>
      <p:pic>
        <p:nvPicPr>
          <p:cNvPr id="295" name="Google Shape;295;p27"/>
          <p:cNvPicPr preferRelativeResize="0"/>
          <p:nvPr/>
        </p:nvPicPr>
        <p:blipFill rotWithShape="1">
          <a:blip r:embed="rId4">
            <a:alphaModFix/>
          </a:blip>
          <a:srcRect b="0" l="-918" r="0" t="0"/>
          <a:stretch/>
        </p:blipFill>
        <p:spPr>
          <a:xfrm>
            <a:off x="95250" y="1143000"/>
            <a:ext cx="5733000" cy="2493900"/>
          </a:xfrm>
          <a:prstGeom prst="roundRect">
            <a:avLst>
              <a:gd fmla="val 2500" name="adj"/>
            </a:avLst>
          </a:prstGeom>
          <a:noFill/>
          <a:ln>
            <a:noFill/>
          </a:ln>
        </p:spPr>
      </p:pic>
      <p:grpSp>
        <p:nvGrpSpPr>
          <p:cNvPr id="296" name="Google Shape;296;p27"/>
          <p:cNvGrpSpPr/>
          <p:nvPr/>
        </p:nvGrpSpPr>
        <p:grpSpPr>
          <a:xfrm>
            <a:off x="5966300" y="1143000"/>
            <a:ext cx="2872679" cy="1428900"/>
            <a:chOff x="0" y="0"/>
            <a:chExt cx="3657600" cy="1428900"/>
          </a:xfrm>
        </p:grpSpPr>
        <p:sp>
          <p:nvSpPr>
            <p:cNvPr id="297" name="Google Shape;297;p27"/>
            <p:cNvSpPr/>
            <p:nvPr/>
          </p:nvSpPr>
          <p:spPr>
            <a:xfrm>
              <a:off x="0" y="0"/>
              <a:ext cx="3657600" cy="1428900"/>
            </a:xfrm>
            <a:prstGeom prst="roundRect">
              <a:avLst>
                <a:gd fmla="val 5333"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7"/>
            <p:cNvSpPr txBox="1"/>
            <p:nvPr/>
          </p:nvSpPr>
          <p:spPr>
            <a:xfrm>
              <a:off x="152400" y="152400"/>
              <a:ext cx="33528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05C40"/>
                  </a:solidFill>
                  <a:latin typeface="Poppins"/>
                  <a:ea typeface="Poppins"/>
                  <a:cs typeface="Poppins"/>
                  <a:sym typeface="Poppins"/>
                </a:rPr>
                <a:t>Statistical Summary</a:t>
              </a:r>
              <a:endParaRPr b="1" sz="1100">
                <a:solidFill>
                  <a:srgbClr val="705C40"/>
                </a:solidFill>
                <a:latin typeface="Poppins"/>
                <a:ea typeface="Poppins"/>
                <a:cs typeface="Poppins"/>
                <a:sym typeface="Poppins"/>
              </a:endParaRPr>
            </a:p>
            <a:p>
              <a:pPr indent="0" lvl="0" marL="0" rtl="0" algn="l">
                <a:spcBef>
                  <a:spcPts val="750"/>
                </a:spcBef>
                <a:spcAft>
                  <a:spcPts val="0"/>
                </a:spcAft>
                <a:buNone/>
              </a:pPr>
              <a:r>
                <a:rPr b="1" lang="en" sz="1000">
                  <a:solidFill>
                    <a:srgbClr val="202729"/>
                  </a:solidFill>
                  <a:latin typeface="Poppins"/>
                  <a:ea typeface="Poppins"/>
                  <a:cs typeface="Poppins"/>
                  <a:sym typeface="Poppins"/>
                </a:rPr>
                <a:t>Group mean:</a:t>
              </a:r>
              <a:r>
                <a:rPr b="0" lang="en" sz="1000">
                  <a:solidFill>
                    <a:srgbClr val="202729"/>
                  </a:solidFill>
                  <a:latin typeface="Poppins Medium"/>
                  <a:ea typeface="Poppins Medium"/>
                  <a:cs typeface="Poppins Medium"/>
                  <a:sym typeface="Poppins Medium"/>
                </a:rPr>
                <a:t> </a:t>
              </a:r>
              <a:r>
                <a:rPr b="0" lang="en" sz="1000">
                  <a:solidFill>
                    <a:srgbClr val="616161"/>
                  </a:solidFill>
                  <a:latin typeface="Poppins"/>
                  <a:ea typeface="Poppins"/>
                  <a:cs typeface="Poppins"/>
                  <a:sym typeface="Poppins"/>
                </a:rPr>
                <a:t>0-back 0.3271 → 2-back 0.3035</a:t>
              </a:r>
              <a:endParaRPr b="0" sz="1000">
                <a:solidFill>
                  <a:srgbClr val="202729"/>
                </a:solidFill>
                <a:latin typeface="Poppins Medium"/>
                <a:ea typeface="Poppins Medium"/>
                <a:cs typeface="Poppins Medium"/>
                <a:sym typeface="Poppins Medium"/>
              </a:endParaRPr>
            </a:p>
            <a:p>
              <a:pPr indent="0" lvl="0" marL="0" rtl="0" algn="l">
                <a:spcBef>
                  <a:spcPts val="450"/>
                </a:spcBef>
                <a:spcAft>
                  <a:spcPts val="0"/>
                </a:spcAft>
                <a:buNone/>
              </a:pPr>
              <a:r>
                <a:rPr b="1" lang="en" sz="1000">
                  <a:solidFill>
                    <a:srgbClr val="202729"/>
                  </a:solidFill>
                  <a:latin typeface="Poppins"/>
                  <a:ea typeface="Poppins"/>
                  <a:cs typeface="Poppins"/>
                  <a:sym typeface="Poppins"/>
                </a:rPr>
                <a:t>Paired change:</a:t>
              </a:r>
              <a:r>
                <a:rPr b="0" lang="en" sz="1000">
                  <a:solidFill>
                    <a:srgbClr val="202729"/>
                  </a:solidFill>
                  <a:latin typeface="Poppins Medium"/>
                  <a:ea typeface="Poppins Medium"/>
                  <a:cs typeface="Poppins Medium"/>
                  <a:sym typeface="Poppins Medium"/>
                </a:rPr>
                <a:t> </a:t>
              </a:r>
              <a:r>
                <a:rPr b="0" lang="en" sz="1000">
                  <a:solidFill>
                    <a:srgbClr val="616161"/>
                  </a:solidFill>
                  <a:latin typeface="Poppins"/>
                  <a:ea typeface="Poppins"/>
                  <a:cs typeface="Poppins"/>
                  <a:sym typeface="Poppins"/>
                </a:rPr>
                <a:t>Δ = −0.0236 (p = 3.45 × 10⁻⁵)</a:t>
              </a:r>
              <a:endParaRPr b="0" sz="1000">
                <a:solidFill>
                  <a:srgbClr val="202729"/>
                </a:solidFill>
                <a:latin typeface="Poppins Medium"/>
                <a:ea typeface="Poppins Medium"/>
                <a:cs typeface="Poppins Medium"/>
                <a:sym typeface="Poppins Medium"/>
              </a:endParaRPr>
            </a:p>
            <a:p>
              <a:pPr indent="0" lvl="0" marL="0" rtl="0" algn="l">
                <a:spcBef>
                  <a:spcPts val="750"/>
                </a:spcBef>
                <a:spcAft>
                  <a:spcPts val="450"/>
                </a:spcAft>
                <a:buNone/>
              </a:pPr>
              <a:r>
                <a:rPr b="1" lang="en" sz="1000">
                  <a:solidFill>
                    <a:srgbClr val="202729"/>
                  </a:solidFill>
                  <a:latin typeface="Poppins"/>
                  <a:ea typeface="Poppins"/>
                  <a:cs typeface="Poppins"/>
                  <a:sym typeface="Poppins"/>
                </a:rPr>
                <a:t>Across participants:</a:t>
              </a:r>
              <a:r>
                <a:rPr b="0" lang="en" sz="1000">
                  <a:solidFill>
                    <a:srgbClr val="202729"/>
                  </a:solidFill>
                  <a:latin typeface="Poppins Medium"/>
                  <a:ea typeface="Poppins Medium"/>
                  <a:cs typeface="Poppins Medium"/>
                  <a:sym typeface="Poppins Medium"/>
                </a:rPr>
                <a:t> </a:t>
              </a:r>
              <a:r>
                <a:rPr b="0" lang="en" sz="1000">
                  <a:solidFill>
                    <a:srgbClr val="616161"/>
                  </a:solidFill>
                  <a:latin typeface="Poppins"/>
                  <a:ea typeface="Poppins"/>
                  <a:cs typeface="Poppins"/>
                  <a:sym typeface="Poppins"/>
                </a:rPr>
                <a:t>r = −0.105 (p = .054)</a:t>
              </a:r>
              <a:endParaRPr b="0" sz="1000">
                <a:solidFill>
                  <a:srgbClr val="202729"/>
                </a:solidFill>
                <a:latin typeface="Poppins Medium"/>
                <a:ea typeface="Poppins Medium"/>
                <a:cs typeface="Poppins Medium"/>
                <a:sym typeface="Poppins Medium"/>
              </a:endParaRPr>
            </a:p>
          </p:txBody>
        </p:sp>
      </p:grpSp>
      <p:grpSp>
        <p:nvGrpSpPr>
          <p:cNvPr id="299" name="Google Shape;299;p27"/>
          <p:cNvGrpSpPr/>
          <p:nvPr/>
        </p:nvGrpSpPr>
        <p:grpSpPr>
          <a:xfrm>
            <a:off x="5966351" y="2724150"/>
            <a:ext cx="2872679" cy="1467000"/>
            <a:chOff x="0" y="0"/>
            <a:chExt cx="3657600" cy="1467000"/>
          </a:xfrm>
        </p:grpSpPr>
        <p:sp>
          <p:nvSpPr>
            <p:cNvPr id="300" name="Google Shape;300;p27"/>
            <p:cNvSpPr/>
            <p:nvPr/>
          </p:nvSpPr>
          <p:spPr>
            <a:xfrm>
              <a:off x="0" y="0"/>
              <a:ext cx="3657600" cy="1467000"/>
            </a:xfrm>
            <a:prstGeom prst="roundRect">
              <a:avLst>
                <a:gd fmla="val 5194"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27"/>
            <p:cNvSpPr txBox="1"/>
            <p:nvPr/>
          </p:nvSpPr>
          <p:spPr>
            <a:xfrm>
              <a:off x="152400" y="152400"/>
              <a:ext cx="3352800" cy="11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705C40"/>
                  </a:solidFill>
                  <a:latin typeface="Poppins"/>
                  <a:ea typeface="Poppins"/>
                  <a:cs typeface="Poppins"/>
                  <a:sym typeface="Poppins"/>
                </a:rPr>
                <a:t>Key Takeaways &amp; Caveats</a:t>
              </a:r>
              <a:endParaRPr b="1" sz="1050">
                <a:solidFill>
                  <a:srgbClr val="705C40"/>
                </a:solidFill>
                <a:latin typeface="Poppins"/>
                <a:ea typeface="Poppins"/>
                <a:cs typeface="Poppins"/>
                <a:sym typeface="Poppins"/>
              </a:endParaRPr>
            </a:p>
            <a:p>
              <a:pPr indent="0" lvl="0" marL="0" rtl="0" algn="l">
                <a:spcBef>
                  <a:spcPts val="600"/>
                </a:spcBef>
                <a:spcAft>
                  <a:spcPts val="0"/>
                </a:spcAft>
                <a:buNone/>
              </a:pPr>
              <a:r>
                <a:rPr b="0" lang="en" sz="950">
                  <a:solidFill>
                    <a:srgbClr val="202729"/>
                  </a:solidFill>
                  <a:latin typeface="Poppins Medium"/>
                  <a:ea typeface="Poppins Medium"/>
                  <a:cs typeface="Poppins Medium"/>
                  <a:sym typeface="Poppins Medium"/>
                </a:rPr>
                <a:t>A reliable group-level mean shift does not establish individual predictive relevance.</a:t>
              </a:r>
              <a:endParaRPr b="0" sz="950">
                <a:solidFill>
                  <a:srgbClr val="202729"/>
                </a:solidFill>
                <a:latin typeface="Poppins Medium"/>
                <a:ea typeface="Poppins Medium"/>
                <a:cs typeface="Poppins Medium"/>
                <a:sym typeface="Poppins Medium"/>
              </a:endParaRPr>
            </a:p>
            <a:p>
              <a:pPr indent="0" lvl="0" marL="0" rtl="0" algn="l">
                <a:spcBef>
                  <a:spcPts val="600"/>
                </a:spcBef>
                <a:spcAft>
                  <a:spcPts val="600"/>
                </a:spcAft>
                <a:buNone/>
              </a:pPr>
              <a:r>
                <a:rPr b="1" lang="en" sz="950">
                  <a:solidFill>
                    <a:srgbClr val="202729"/>
                  </a:solidFill>
                  <a:latin typeface="Poppins"/>
                  <a:ea typeface="Poppins"/>
                  <a:cs typeface="Poppins"/>
                  <a:sym typeface="Poppins"/>
                </a:rPr>
                <a:t>Methodological limit:</a:t>
              </a:r>
              <a:r>
                <a:rPr b="0" lang="en" sz="950">
                  <a:solidFill>
                    <a:srgbClr val="202729"/>
                  </a:solidFill>
                  <a:latin typeface="Poppins Medium"/>
                  <a:ea typeface="Poppins Medium"/>
                  <a:cs typeface="Poppins Medium"/>
                  <a:sym typeface="Poppins Medium"/>
                </a:rPr>
                <a:t> System segregation is a Chan-style scalar summary, not a replacement for the 78-feature multivariate pattern.</a:t>
              </a:r>
              <a:endParaRPr b="0" sz="950">
                <a:solidFill>
                  <a:srgbClr val="202729"/>
                </a:solidFill>
                <a:latin typeface="Poppins Medium"/>
                <a:ea typeface="Poppins Medium"/>
                <a:cs typeface="Poppins Medium"/>
                <a:sym typeface="Poppins Medium"/>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p:nvPr/>
        </p:nvSpPr>
        <p:spPr>
          <a:xfrm>
            <a:off x="0" y="0"/>
            <a:ext cx="9144000" cy="5143500"/>
          </a:xfrm>
          <a:prstGeom prst="rect">
            <a:avLst/>
          </a:prstGeom>
          <a:solidFill>
            <a:srgbClr val="FF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8"/>
          <p:cNvSpPr/>
          <p:nvPr/>
        </p:nvSpPr>
        <p:spPr>
          <a:xfrm>
            <a:off x="0" y="4832033"/>
            <a:ext cx="9144000" cy="311400"/>
          </a:xfrm>
          <a:prstGeom prst="rect">
            <a:avLst/>
          </a:prstGeom>
          <a:solidFill>
            <a:srgbClr val="E4D6B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8"/>
          <p:cNvSpPr txBox="1"/>
          <p:nvPr/>
        </p:nvSpPr>
        <p:spPr>
          <a:xfrm>
            <a:off x="95250" y="4905375"/>
            <a:ext cx="4095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309" name="Google Shape;309;p28"/>
          <p:cNvSpPr txBox="1"/>
          <p:nvPr/>
        </p:nvSpPr>
        <p:spPr>
          <a:xfrm>
            <a:off x="4953000" y="4905375"/>
            <a:ext cx="4095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450"/>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310" name="Google Shape;310;p28"/>
          <p:cNvPicPr preferRelativeResize="0"/>
          <p:nvPr/>
        </p:nvPicPr>
        <p:blipFill rotWithShape="1">
          <a:blip r:embed="rId3">
            <a:alphaModFix/>
          </a:blip>
          <a:srcRect b="0" l="60" r="60" t="0"/>
          <a:stretch/>
        </p:blipFill>
        <p:spPr>
          <a:xfrm>
            <a:off x="4455795" y="4832033"/>
            <a:ext cx="313500" cy="311400"/>
          </a:xfrm>
          <a:prstGeom prst="rect">
            <a:avLst/>
          </a:prstGeom>
          <a:noFill/>
          <a:ln>
            <a:noFill/>
          </a:ln>
        </p:spPr>
      </p:pic>
      <p:sp>
        <p:nvSpPr>
          <p:cNvPr id="311" name="Google Shape;311;p28"/>
          <p:cNvSpPr txBox="1"/>
          <p:nvPr/>
        </p:nvSpPr>
        <p:spPr>
          <a:xfrm>
            <a:off x="304800" y="228600"/>
            <a:ext cx="85344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1" lang="en" sz="1600">
                <a:solidFill>
                  <a:srgbClr val="705C40"/>
                </a:solidFill>
                <a:latin typeface="Poppins"/>
                <a:ea typeface="Poppins"/>
                <a:cs typeface="Poppins"/>
                <a:sym typeface="Poppins"/>
              </a:rPr>
              <a:t>The checks behind the primary result</a:t>
            </a:r>
            <a:endParaRPr b="1" sz="1600">
              <a:solidFill>
                <a:srgbClr val="705C40"/>
              </a:solidFill>
              <a:latin typeface="Poppins"/>
              <a:ea typeface="Poppins"/>
              <a:cs typeface="Poppins"/>
              <a:sym typeface="Poppins"/>
            </a:endParaRPr>
          </a:p>
        </p:txBody>
      </p:sp>
      <p:pic>
        <p:nvPicPr>
          <p:cNvPr id="312" name="Google Shape;312;p28"/>
          <p:cNvPicPr preferRelativeResize="0"/>
          <p:nvPr/>
        </p:nvPicPr>
        <p:blipFill rotWithShape="1">
          <a:blip r:embed="rId4">
            <a:alphaModFix/>
          </a:blip>
          <a:srcRect b="0" l="0" r="0" t="0"/>
          <a:stretch/>
        </p:blipFill>
        <p:spPr>
          <a:xfrm>
            <a:off x="152400" y="1047750"/>
            <a:ext cx="4720200" cy="2655000"/>
          </a:xfrm>
          <a:prstGeom prst="rect">
            <a:avLst/>
          </a:prstGeom>
          <a:noFill/>
          <a:ln>
            <a:noFill/>
          </a:ln>
        </p:spPr>
      </p:pic>
      <p:grpSp>
        <p:nvGrpSpPr>
          <p:cNvPr id="313" name="Google Shape;313;p28"/>
          <p:cNvGrpSpPr/>
          <p:nvPr/>
        </p:nvGrpSpPr>
        <p:grpSpPr>
          <a:xfrm>
            <a:off x="5095875" y="1047750"/>
            <a:ext cx="3743400" cy="2476500"/>
            <a:chOff x="0" y="0"/>
            <a:chExt cx="3743400" cy="2476500"/>
          </a:xfrm>
        </p:grpSpPr>
        <p:sp>
          <p:nvSpPr>
            <p:cNvPr id="314" name="Google Shape;314;p28"/>
            <p:cNvSpPr/>
            <p:nvPr/>
          </p:nvSpPr>
          <p:spPr>
            <a:xfrm>
              <a:off x="0" y="0"/>
              <a:ext cx="3743400" cy="2476500"/>
            </a:xfrm>
            <a:prstGeom prst="roundRect">
              <a:avLst>
                <a:gd fmla="val 3076"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8"/>
            <p:cNvSpPr txBox="1"/>
            <p:nvPr/>
          </p:nvSpPr>
          <p:spPr>
            <a:xfrm>
              <a:off x="152400" y="152400"/>
              <a:ext cx="3438600" cy="21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05C40"/>
                  </a:solidFill>
                  <a:latin typeface="Poppins"/>
                  <a:ea typeface="Poppins"/>
                  <a:cs typeface="Poppins"/>
                  <a:sym typeface="Poppins"/>
                </a:rPr>
                <a:t>Validation Details</a:t>
              </a:r>
              <a:endParaRPr b="1" sz="1100">
                <a:solidFill>
                  <a:srgbClr val="705C40"/>
                </a:solidFill>
                <a:latin typeface="Poppins"/>
                <a:ea typeface="Poppins"/>
                <a:cs typeface="Poppins"/>
                <a:sym typeface="Poppins"/>
              </a:endParaRPr>
            </a:p>
            <a:p>
              <a:pPr indent="0" lvl="0" marL="0" rtl="0" algn="l">
                <a:spcBef>
                  <a:spcPts val="450"/>
                </a:spcBef>
                <a:spcAft>
                  <a:spcPts val="0"/>
                </a:spcAft>
                <a:buNone/>
              </a:pPr>
              <a:r>
                <a:rPr b="1" lang="en" sz="900">
                  <a:solidFill>
                    <a:srgbClr val="202729"/>
                  </a:solidFill>
                  <a:latin typeface="Poppins"/>
                  <a:ea typeface="Poppins"/>
                  <a:cs typeface="Poppins"/>
                  <a:sym typeface="Poppins"/>
                </a:rPr>
                <a:t>Fixed holdout:</a:t>
              </a:r>
              <a:r>
                <a:rPr b="0" lang="en" sz="900">
                  <a:solidFill>
                    <a:srgbClr val="202729"/>
                  </a:solidFill>
                  <a:latin typeface="Poppins"/>
                  <a:ea typeface="Poppins"/>
                  <a:cs typeface="Poppins"/>
                  <a:sym typeface="Poppins"/>
                </a:rPr>
                <a:t> r = 0.312 in 67 unseen participants</a:t>
              </a:r>
              <a:endParaRPr b="0" sz="900">
                <a:solidFill>
                  <a:srgbClr val="202729"/>
                </a:solidFill>
                <a:latin typeface="Poppins"/>
                <a:ea typeface="Poppins"/>
                <a:cs typeface="Poppins"/>
                <a:sym typeface="Poppins"/>
              </a:endParaRPr>
            </a:p>
            <a:p>
              <a:pPr indent="0" lvl="0" marL="0" rtl="0" algn="l">
                <a:spcBef>
                  <a:spcPts val="450"/>
                </a:spcBef>
                <a:spcAft>
                  <a:spcPts val="0"/>
                </a:spcAft>
                <a:buNone/>
              </a:pPr>
              <a:r>
                <a:rPr b="1" lang="en" sz="900">
                  <a:solidFill>
                    <a:srgbClr val="202729"/>
                  </a:solidFill>
                  <a:latin typeface="Poppins"/>
                  <a:ea typeface="Poppins"/>
                  <a:cs typeface="Poppins"/>
                  <a:sym typeface="Poppins"/>
                </a:rPr>
                <a:t>Full-refit null (seed 42):</a:t>
              </a:r>
              <a:r>
                <a:rPr b="0" lang="en" sz="900">
                  <a:solidFill>
                    <a:srgbClr val="202729"/>
                  </a:solidFill>
                  <a:latin typeface="Poppins"/>
                  <a:ea typeface="Poppins"/>
                  <a:cs typeface="Poppins"/>
                  <a:sym typeface="Poppins"/>
                </a:rPr>
                <a:t> r = 0.405; p = 1/1001 ≈ .001</a:t>
              </a:r>
              <a:endParaRPr b="0" sz="900">
                <a:solidFill>
                  <a:srgbClr val="202729"/>
                </a:solidFill>
                <a:latin typeface="Poppins"/>
                <a:ea typeface="Poppins"/>
                <a:cs typeface="Poppins"/>
                <a:sym typeface="Poppins"/>
              </a:endParaRPr>
            </a:p>
            <a:p>
              <a:pPr indent="0" lvl="0" marL="0" rtl="0" algn="l">
                <a:spcBef>
                  <a:spcPts val="450"/>
                </a:spcBef>
                <a:spcAft>
                  <a:spcPts val="0"/>
                </a:spcAft>
                <a:buNone/>
              </a:pPr>
              <a:r>
                <a:rPr b="1" lang="en" sz="900">
                  <a:solidFill>
                    <a:srgbClr val="202729"/>
                  </a:solidFill>
                  <a:latin typeface="Poppins"/>
                  <a:ea typeface="Poppins"/>
                  <a:cs typeface="Poppins"/>
                  <a:sym typeface="Poppins"/>
                </a:rPr>
                <a:t>B→A A-label permutation:</a:t>
              </a:r>
              <a:r>
                <a:rPr b="0" lang="en" sz="900">
                  <a:solidFill>
                    <a:srgbClr val="202729"/>
                  </a:solidFill>
                  <a:latin typeface="Poppins"/>
                  <a:ea typeface="Poppins"/>
                  <a:cs typeface="Poppins"/>
                  <a:sym typeface="Poppins"/>
                </a:rPr>
                <a:t> p = 1/1001 ≈ .001</a:t>
              </a:r>
              <a:endParaRPr b="0" sz="900">
                <a:solidFill>
                  <a:srgbClr val="202729"/>
                </a:solidFill>
                <a:latin typeface="Poppins"/>
                <a:ea typeface="Poppins"/>
                <a:cs typeface="Poppins"/>
                <a:sym typeface="Poppins"/>
              </a:endParaRPr>
            </a:p>
            <a:p>
              <a:pPr indent="0" lvl="0" marL="0" rtl="0" algn="l">
                <a:spcBef>
                  <a:spcPts val="450"/>
                </a:spcBef>
                <a:spcAft>
                  <a:spcPts val="0"/>
                </a:spcAft>
                <a:buNone/>
              </a:pPr>
              <a:r>
                <a:rPr b="1" lang="en" sz="900">
                  <a:solidFill>
                    <a:srgbClr val="202729"/>
                  </a:solidFill>
                  <a:latin typeface="Poppins"/>
                  <a:ea typeface="Poppins"/>
                  <a:cs typeface="Poppins"/>
                  <a:sym typeface="Poppins"/>
                </a:rPr>
                <a:t>Reconfiguration over 0-back FC:</a:t>
              </a:r>
              <a:r>
                <a:rPr b="0" lang="en" sz="900">
                  <a:solidFill>
                    <a:srgbClr val="202729"/>
                  </a:solidFill>
                  <a:latin typeface="Poppins"/>
                  <a:ea typeface="Poppins"/>
                  <a:cs typeface="Poppins"/>
                  <a:sym typeface="Poppins"/>
                </a:rPr>
                <a:t> ΔR² = +0.0344 ± 0.0225 → no clear gain</a:t>
              </a:r>
              <a:endParaRPr b="0" sz="900">
                <a:solidFill>
                  <a:srgbClr val="202729"/>
                </a:solidFill>
                <a:latin typeface="Poppins"/>
                <a:ea typeface="Poppins"/>
                <a:cs typeface="Poppins"/>
                <a:sym typeface="Poppins"/>
              </a:endParaRPr>
            </a:p>
            <a:p>
              <a:pPr indent="0" lvl="0" marL="0" rtl="0" algn="l">
                <a:spcBef>
                  <a:spcPts val="450"/>
                </a:spcBef>
                <a:spcAft>
                  <a:spcPts val="450"/>
                </a:spcAft>
                <a:buNone/>
              </a:pPr>
              <a:r>
                <a:rPr b="1" lang="en" sz="900">
                  <a:solidFill>
                    <a:srgbClr val="202729"/>
                  </a:solidFill>
                  <a:latin typeface="Poppins"/>
                  <a:ea typeface="Poppins"/>
                  <a:cs typeface="Poppins"/>
                  <a:sym typeface="Poppins"/>
                </a:rPr>
                <a:t>FC over activation:</a:t>
              </a:r>
              <a:r>
                <a:rPr b="0" lang="en" sz="900">
                  <a:solidFill>
                    <a:srgbClr val="202729"/>
                  </a:solidFill>
                  <a:latin typeface="Poppins"/>
                  <a:ea typeface="Poppins"/>
                  <a:cs typeface="Poppins"/>
                  <a:sym typeface="Poppins"/>
                </a:rPr>
                <a:t> ΔR² = −0.0030 ± 0.0065 → no clear gain</a:t>
              </a:r>
              <a:endParaRPr b="0" sz="900">
                <a:solidFill>
                  <a:srgbClr val="202729"/>
                </a:solidFill>
                <a:latin typeface="Poppins"/>
                <a:ea typeface="Poppins"/>
                <a:cs typeface="Poppins"/>
                <a:sym typeface="Poppins"/>
              </a:endParaRPr>
            </a:p>
          </p:txBody>
        </p:sp>
      </p:grpSp>
      <p:grpSp>
        <p:nvGrpSpPr>
          <p:cNvPr id="316" name="Google Shape;316;p28"/>
          <p:cNvGrpSpPr/>
          <p:nvPr/>
        </p:nvGrpSpPr>
        <p:grpSpPr>
          <a:xfrm>
            <a:off x="304800" y="3810000"/>
            <a:ext cx="8534400" cy="809700"/>
            <a:chOff x="0" y="0"/>
            <a:chExt cx="8534400" cy="809700"/>
          </a:xfrm>
        </p:grpSpPr>
        <p:sp>
          <p:nvSpPr>
            <p:cNvPr id="317" name="Google Shape;317;p28"/>
            <p:cNvSpPr/>
            <p:nvPr/>
          </p:nvSpPr>
          <p:spPr>
            <a:xfrm>
              <a:off x="0" y="0"/>
              <a:ext cx="8534400" cy="809700"/>
            </a:xfrm>
            <a:prstGeom prst="roundRect">
              <a:avLst>
                <a:gd fmla="val 7058"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8"/>
            <p:cNvSpPr txBox="1"/>
            <p:nvPr/>
          </p:nvSpPr>
          <p:spPr>
            <a:xfrm>
              <a:off x="142875" y="95250"/>
              <a:ext cx="82488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n" sz="800">
                  <a:solidFill>
                    <a:srgbClr val="616161"/>
                  </a:solidFill>
                  <a:latin typeface="Poppins"/>
                  <a:ea typeface="Poppins"/>
                  <a:cs typeface="Poppins"/>
                  <a:sym typeface="Poppins"/>
                </a:rPr>
                <a:t>Methodological Notes &amp; Caveats:</a:t>
              </a:r>
              <a:endParaRPr b="0" i="1" sz="800">
                <a:solidFill>
                  <a:srgbClr val="616161"/>
                </a:solidFill>
                <a:latin typeface="Poppins"/>
                <a:ea typeface="Poppins"/>
                <a:cs typeface="Poppins"/>
                <a:sym typeface="Poppins"/>
              </a:endParaRPr>
            </a:p>
            <a:p>
              <a:pPr indent="0" lvl="0" marL="0" rtl="0" algn="l">
                <a:spcBef>
                  <a:spcPts val="300"/>
                </a:spcBef>
                <a:spcAft>
                  <a:spcPts val="0"/>
                </a:spcAft>
                <a:buNone/>
              </a:pPr>
              <a:r>
                <a:rPr b="0" i="1" lang="en" sz="800">
                  <a:solidFill>
                    <a:srgbClr val="616161"/>
                  </a:solidFill>
                  <a:latin typeface="Poppins"/>
                  <a:ea typeface="Poppins"/>
                  <a:cs typeface="Poppins"/>
                  <a:sym typeface="Poppins"/>
                </a:rPr>
                <a:t>The permutation p-value belongs only to seed-42 r = 0.405; the holdout is a separate split. The 2-SD decision rule is a split-sensitivity heuristic, not a formal superiority or equivalence test.</a:t>
              </a:r>
              <a:endParaRPr b="0" i="1" sz="800">
                <a:solidFill>
                  <a:srgbClr val="616161"/>
                </a:solidFill>
                <a:latin typeface="Poppins"/>
                <a:ea typeface="Poppins"/>
                <a:cs typeface="Poppins"/>
                <a:sym typeface="Poppi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9"/>
          <p:cNvSpPr/>
          <p:nvPr/>
        </p:nvSpPr>
        <p:spPr>
          <a:xfrm>
            <a:off x="0" y="0"/>
            <a:ext cx="9144000" cy="5143500"/>
          </a:xfrm>
          <a:prstGeom prst="rect">
            <a:avLst/>
          </a:prstGeom>
          <a:solidFill>
            <a:srgbClr val="FF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9"/>
          <p:cNvSpPr/>
          <p:nvPr/>
        </p:nvSpPr>
        <p:spPr>
          <a:xfrm>
            <a:off x="0" y="4832033"/>
            <a:ext cx="9144000" cy="311400"/>
          </a:xfrm>
          <a:prstGeom prst="rect">
            <a:avLst/>
          </a:prstGeom>
          <a:solidFill>
            <a:srgbClr val="E4D6B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9"/>
          <p:cNvSpPr txBox="1"/>
          <p:nvPr/>
        </p:nvSpPr>
        <p:spPr>
          <a:xfrm>
            <a:off x="95250" y="4905375"/>
            <a:ext cx="4095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326" name="Google Shape;326;p29"/>
          <p:cNvSpPr txBox="1"/>
          <p:nvPr/>
        </p:nvSpPr>
        <p:spPr>
          <a:xfrm>
            <a:off x="4953000" y="4905375"/>
            <a:ext cx="4095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327" name="Google Shape;327;p29"/>
          <p:cNvPicPr preferRelativeResize="0"/>
          <p:nvPr/>
        </p:nvPicPr>
        <p:blipFill rotWithShape="1">
          <a:blip r:embed="rId3">
            <a:alphaModFix/>
          </a:blip>
          <a:srcRect b="30" l="0" r="120" t="30"/>
          <a:stretch/>
        </p:blipFill>
        <p:spPr>
          <a:xfrm>
            <a:off x="4414838" y="4832033"/>
            <a:ext cx="313500" cy="311400"/>
          </a:xfrm>
          <a:prstGeom prst="rect">
            <a:avLst/>
          </a:prstGeom>
          <a:noFill/>
          <a:ln>
            <a:noFill/>
          </a:ln>
        </p:spPr>
      </p:pic>
      <p:sp>
        <p:nvSpPr>
          <p:cNvPr id="328" name="Google Shape;328;p29"/>
          <p:cNvSpPr txBox="1"/>
          <p:nvPr/>
        </p:nvSpPr>
        <p:spPr>
          <a:xfrm>
            <a:off x="304800" y="228600"/>
            <a:ext cx="85344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705C40"/>
                </a:solidFill>
                <a:latin typeface="Poppins"/>
                <a:ea typeface="Poppins"/>
                <a:cs typeface="Poppins"/>
                <a:sym typeface="Poppins"/>
              </a:rPr>
              <a:t>Four tests could resolve the remaining question</a:t>
            </a:r>
            <a:endParaRPr b="1" sz="1600">
              <a:solidFill>
                <a:srgbClr val="705C40"/>
              </a:solidFill>
              <a:latin typeface="Poppins"/>
              <a:ea typeface="Poppins"/>
              <a:cs typeface="Poppins"/>
              <a:sym typeface="Poppins"/>
            </a:endParaRPr>
          </a:p>
        </p:txBody>
      </p:sp>
      <p:grpSp>
        <p:nvGrpSpPr>
          <p:cNvPr id="329" name="Google Shape;329;p29"/>
          <p:cNvGrpSpPr/>
          <p:nvPr/>
        </p:nvGrpSpPr>
        <p:grpSpPr>
          <a:xfrm>
            <a:off x="304800" y="952500"/>
            <a:ext cx="4048200" cy="714300"/>
            <a:chOff x="0" y="0"/>
            <a:chExt cx="4048200" cy="714300"/>
          </a:xfrm>
        </p:grpSpPr>
        <p:sp>
          <p:nvSpPr>
            <p:cNvPr id="330" name="Google Shape;330;p29"/>
            <p:cNvSpPr/>
            <p:nvPr/>
          </p:nvSpPr>
          <p:spPr>
            <a:xfrm>
              <a:off x="0" y="0"/>
              <a:ext cx="4048200" cy="714300"/>
            </a:xfrm>
            <a:prstGeom prst="roundRect">
              <a:avLst>
                <a:gd fmla="val 10666"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9"/>
            <p:cNvSpPr/>
            <p:nvPr/>
          </p:nvSpPr>
          <p:spPr>
            <a:xfrm>
              <a:off x="152400" y="185738"/>
              <a:ext cx="342900" cy="342900"/>
            </a:xfrm>
            <a:prstGeom prst="roundRect">
              <a:avLst>
                <a:gd fmla="val 16666" name="adj"/>
              </a:avLst>
            </a:pr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9"/>
            <p:cNvSpPr txBox="1"/>
            <p:nvPr/>
          </p:nvSpPr>
          <p:spPr>
            <a:xfrm>
              <a:off x="152400" y="18573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FFFFFF"/>
                  </a:solidFill>
                  <a:latin typeface="Poppins"/>
                  <a:ea typeface="Poppins"/>
                  <a:cs typeface="Poppins"/>
                  <a:sym typeface="Poppins"/>
                </a:rPr>
                <a:t>01</a:t>
              </a:r>
              <a:endParaRPr b="1" sz="1200">
                <a:solidFill>
                  <a:srgbClr val="FFFFFF"/>
                </a:solidFill>
                <a:latin typeface="Poppins"/>
                <a:ea typeface="Poppins"/>
                <a:cs typeface="Poppins"/>
                <a:sym typeface="Poppins"/>
              </a:endParaRPr>
            </a:p>
          </p:txBody>
        </p:sp>
        <p:sp>
          <p:nvSpPr>
            <p:cNvPr id="333" name="Google Shape;333;p29"/>
            <p:cNvSpPr txBox="1"/>
            <p:nvPr/>
          </p:nvSpPr>
          <p:spPr>
            <a:xfrm>
              <a:off x="647700" y="95250"/>
              <a:ext cx="32481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202729"/>
                  </a:solidFill>
                  <a:latin typeface="Poppins"/>
                  <a:ea typeface="Poppins"/>
                  <a:cs typeface="Poppins"/>
                  <a:sym typeface="Poppins"/>
                </a:rPr>
                <a:t>Match activation and FC dimensionality in nested participant-level CV.</a:t>
              </a:r>
              <a:endParaRPr b="0" sz="1050">
                <a:solidFill>
                  <a:srgbClr val="202729"/>
                </a:solidFill>
                <a:latin typeface="Poppins"/>
                <a:ea typeface="Poppins"/>
                <a:cs typeface="Poppins"/>
                <a:sym typeface="Poppins"/>
              </a:endParaRPr>
            </a:p>
          </p:txBody>
        </p:sp>
      </p:grpSp>
      <p:grpSp>
        <p:nvGrpSpPr>
          <p:cNvPr id="334" name="Google Shape;334;p29"/>
          <p:cNvGrpSpPr/>
          <p:nvPr/>
        </p:nvGrpSpPr>
        <p:grpSpPr>
          <a:xfrm>
            <a:off x="304800" y="1809750"/>
            <a:ext cx="4048200" cy="714300"/>
            <a:chOff x="0" y="0"/>
            <a:chExt cx="4048200" cy="714300"/>
          </a:xfrm>
        </p:grpSpPr>
        <p:sp>
          <p:nvSpPr>
            <p:cNvPr id="335" name="Google Shape;335;p29"/>
            <p:cNvSpPr/>
            <p:nvPr/>
          </p:nvSpPr>
          <p:spPr>
            <a:xfrm>
              <a:off x="0" y="0"/>
              <a:ext cx="4048200" cy="714300"/>
            </a:xfrm>
            <a:prstGeom prst="roundRect">
              <a:avLst>
                <a:gd fmla="val 10666"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9"/>
            <p:cNvSpPr/>
            <p:nvPr/>
          </p:nvSpPr>
          <p:spPr>
            <a:xfrm>
              <a:off x="152400" y="185738"/>
              <a:ext cx="342900" cy="342900"/>
            </a:xfrm>
            <a:prstGeom prst="roundRect">
              <a:avLst>
                <a:gd fmla="val 16666" name="adj"/>
              </a:avLst>
            </a:pr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9"/>
            <p:cNvSpPr txBox="1"/>
            <p:nvPr/>
          </p:nvSpPr>
          <p:spPr>
            <a:xfrm>
              <a:off x="152400" y="18573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FFFFFF"/>
                  </a:solidFill>
                  <a:latin typeface="Poppins"/>
                  <a:ea typeface="Poppins"/>
                  <a:cs typeface="Poppins"/>
                  <a:sym typeface="Poppins"/>
                </a:rPr>
                <a:t>02</a:t>
              </a:r>
              <a:endParaRPr b="1" sz="1200">
                <a:solidFill>
                  <a:srgbClr val="FFFFFF"/>
                </a:solidFill>
                <a:latin typeface="Poppins"/>
                <a:ea typeface="Poppins"/>
                <a:cs typeface="Poppins"/>
                <a:sym typeface="Poppins"/>
              </a:endParaRPr>
            </a:p>
          </p:txBody>
        </p:sp>
        <p:sp>
          <p:nvSpPr>
            <p:cNvPr id="338" name="Google Shape;338;p29"/>
            <p:cNvSpPr txBox="1"/>
            <p:nvPr/>
          </p:nvSpPr>
          <p:spPr>
            <a:xfrm>
              <a:off x="647700" y="95250"/>
              <a:ext cx="32481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202729"/>
                  </a:solidFill>
                  <a:latin typeface="Poppins"/>
                  <a:ea typeface="Poppins"/>
                  <a:cs typeface="Poppins"/>
                  <a:sym typeface="Poppins"/>
                </a:rPr>
                <a:t>Separate task coactivation from coupling with a prespecified estimator.</a:t>
              </a:r>
              <a:endParaRPr b="0" sz="1050">
                <a:solidFill>
                  <a:srgbClr val="202729"/>
                </a:solidFill>
                <a:latin typeface="Poppins"/>
                <a:ea typeface="Poppins"/>
                <a:cs typeface="Poppins"/>
                <a:sym typeface="Poppins"/>
              </a:endParaRPr>
            </a:p>
          </p:txBody>
        </p:sp>
      </p:grpSp>
      <p:grpSp>
        <p:nvGrpSpPr>
          <p:cNvPr id="339" name="Google Shape;339;p29"/>
          <p:cNvGrpSpPr/>
          <p:nvPr/>
        </p:nvGrpSpPr>
        <p:grpSpPr>
          <a:xfrm>
            <a:off x="304800" y="2667000"/>
            <a:ext cx="4048200" cy="714300"/>
            <a:chOff x="0" y="0"/>
            <a:chExt cx="4048200" cy="714300"/>
          </a:xfrm>
        </p:grpSpPr>
        <p:sp>
          <p:nvSpPr>
            <p:cNvPr id="340" name="Google Shape;340;p29"/>
            <p:cNvSpPr/>
            <p:nvPr/>
          </p:nvSpPr>
          <p:spPr>
            <a:xfrm>
              <a:off x="0" y="0"/>
              <a:ext cx="4048200" cy="714300"/>
            </a:xfrm>
            <a:prstGeom prst="roundRect">
              <a:avLst>
                <a:gd fmla="val 10666"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9"/>
            <p:cNvSpPr/>
            <p:nvPr/>
          </p:nvSpPr>
          <p:spPr>
            <a:xfrm>
              <a:off x="152400" y="185738"/>
              <a:ext cx="342900" cy="342900"/>
            </a:xfrm>
            <a:prstGeom prst="roundRect">
              <a:avLst>
                <a:gd fmla="val 16666" name="adj"/>
              </a:avLst>
            </a:pr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9"/>
            <p:cNvSpPr txBox="1"/>
            <p:nvPr/>
          </p:nvSpPr>
          <p:spPr>
            <a:xfrm>
              <a:off x="152400" y="18573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FFFFFF"/>
                  </a:solidFill>
                  <a:latin typeface="Poppins"/>
                  <a:ea typeface="Poppins"/>
                  <a:cs typeface="Poppins"/>
                  <a:sym typeface="Poppins"/>
                </a:rPr>
                <a:t>03</a:t>
              </a:r>
              <a:endParaRPr b="1" sz="1200">
                <a:solidFill>
                  <a:srgbClr val="FFFFFF"/>
                </a:solidFill>
                <a:latin typeface="Poppins"/>
                <a:ea typeface="Poppins"/>
                <a:cs typeface="Poppins"/>
                <a:sym typeface="Poppins"/>
              </a:endParaRPr>
            </a:p>
          </p:txBody>
        </p:sp>
        <p:sp>
          <p:nvSpPr>
            <p:cNvPr id="343" name="Google Shape;343;p29"/>
            <p:cNvSpPr txBox="1"/>
            <p:nvPr/>
          </p:nvSpPr>
          <p:spPr>
            <a:xfrm>
              <a:off x="647700" y="95250"/>
              <a:ext cx="32481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202729"/>
                  </a:solidFill>
                  <a:latin typeface="Poppins"/>
                  <a:ea typeface="Poppins"/>
                  <a:cs typeface="Poppins"/>
                  <a:sym typeface="Poppins"/>
                </a:rPr>
                <a:t>Test independent-site, repeat-session, family-aware generalization.</a:t>
              </a:r>
              <a:endParaRPr b="0" sz="1050">
                <a:solidFill>
                  <a:srgbClr val="202729"/>
                </a:solidFill>
                <a:latin typeface="Poppins"/>
                <a:ea typeface="Poppins"/>
                <a:cs typeface="Poppins"/>
                <a:sym typeface="Poppins"/>
              </a:endParaRPr>
            </a:p>
          </p:txBody>
        </p:sp>
      </p:grpSp>
      <p:grpSp>
        <p:nvGrpSpPr>
          <p:cNvPr id="344" name="Google Shape;344;p29"/>
          <p:cNvGrpSpPr/>
          <p:nvPr/>
        </p:nvGrpSpPr>
        <p:grpSpPr>
          <a:xfrm>
            <a:off x="304800" y="3524250"/>
            <a:ext cx="4048200" cy="876300"/>
            <a:chOff x="0" y="0"/>
            <a:chExt cx="4048200" cy="876300"/>
          </a:xfrm>
        </p:grpSpPr>
        <p:sp>
          <p:nvSpPr>
            <p:cNvPr id="345" name="Google Shape;345;p29"/>
            <p:cNvSpPr/>
            <p:nvPr/>
          </p:nvSpPr>
          <p:spPr>
            <a:xfrm>
              <a:off x="0" y="0"/>
              <a:ext cx="4048200" cy="876300"/>
            </a:xfrm>
            <a:prstGeom prst="roundRect">
              <a:avLst>
                <a:gd fmla="val 8694"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9"/>
            <p:cNvSpPr/>
            <p:nvPr/>
          </p:nvSpPr>
          <p:spPr>
            <a:xfrm>
              <a:off x="152400" y="266700"/>
              <a:ext cx="342900" cy="342900"/>
            </a:xfrm>
            <a:prstGeom prst="roundRect">
              <a:avLst>
                <a:gd fmla="val 16666" name="adj"/>
              </a:avLst>
            </a:prstGeom>
            <a:solidFill>
              <a:srgbClr val="B9947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9"/>
            <p:cNvSpPr txBox="1"/>
            <p:nvPr/>
          </p:nvSpPr>
          <p:spPr>
            <a:xfrm>
              <a:off x="152400" y="26670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FFFFFF"/>
                  </a:solidFill>
                  <a:latin typeface="Poppins"/>
                  <a:ea typeface="Poppins"/>
                  <a:cs typeface="Poppins"/>
                  <a:sym typeface="Poppins"/>
                </a:rPr>
                <a:t>04</a:t>
              </a:r>
              <a:endParaRPr b="1" sz="1200">
                <a:solidFill>
                  <a:srgbClr val="FFFFFF"/>
                </a:solidFill>
                <a:latin typeface="Poppins"/>
                <a:ea typeface="Poppins"/>
                <a:cs typeface="Poppins"/>
                <a:sym typeface="Poppins"/>
              </a:endParaRPr>
            </a:p>
          </p:txBody>
        </p:sp>
        <p:sp>
          <p:nvSpPr>
            <p:cNvPr id="348" name="Google Shape;348;p29"/>
            <p:cNvSpPr txBox="1"/>
            <p:nvPr/>
          </p:nvSpPr>
          <p:spPr>
            <a:xfrm>
              <a:off x="647700" y="57150"/>
              <a:ext cx="32481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950">
                  <a:solidFill>
                    <a:srgbClr val="202729"/>
                  </a:solidFill>
                  <a:latin typeface="Poppins"/>
                  <a:ea typeface="Poppins"/>
                  <a:cs typeface="Poppins"/>
                  <a:sym typeface="Poppins"/>
                </a:rPr>
                <a:t>Run the activation model on resting-state amplitude: if rest predicts 2-back accuracy as well as task frames, the signal is task-independent.</a:t>
              </a:r>
              <a:endParaRPr b="0" sz="950">
                <a:solidFill>
                  <a:srgbClr val="202729"/>
                </a:solidFill>
                <a:latin typeface="Poppins"/>
                <a:ea typeface="Poppins"/>
                <a:cs typeface="Poppins"/>
                <a:sym typeface="Poppins"/>
              </a:endParaRPr>
            </a:p>
          </p:txBody>
        </p:sp>
      </p:grpSp>
      <p:grpSp>
        <p:nvGrpSpPr>
          <p:cNvPr id="349" name="Google Shape;349;p29"/>
          <p:cNvGrpSpPr/>
          <p:nvPr/>
        </p:nvGrpSpPr>
        <p:grpSpPr>
          <a:xfrm>
            <a:off x="4638675" y="952500"/>
            <a:ext cx="4200600" cy="3286200"/>
            <a:chOff x="0" y="0"/>
            <a:chExt cx="4200600" cy="3286200"/>
          </a:xfrm>
        </p:grpSpPr>
        <p:sp>
          <p:nvSpPr>
            <p:cNvPr id="350" name="Google Shape;350;p29"/>
            <p:cNvSpPr/>
            <p:nvPr/>
          </p:nvSpPr>
          <p:spPr>
            <a:xfrm>
              <a:off x="0" y="0"/>
              <a:ext cx="4200600" cy="3286200"/>
            </a:xfrm>
            <a:prstGeom prst="roundRect">
              <a:avLst>
                <a:gd fmla="val 2318" name="adj"/>
              </a:avLst>
            </a:prstGeom>
            <a:solidFill>
              <a:srgbClr val="F5EFE6"/>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9"/>
            <p:cNvSpPr txBox="1"/>
            <p:nvPr/>
          </p:nvSpPr>
          <p:spPr>
            <a:xfrm>
              <a:off x="228600" y="228600"/>
              <a:ext cx="37434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05C40"/>
                  </a:solidFill>
                  <a:latin typeface="Poppins"/>
                  <a:ea typeface="Poppins"/>
                  <a:cs typeface="Poppins"/>
                  <a:sym typeface="Poppins"/>
                </a:rPr>
                <a:t>Decision Criterion</a:t>
              </a:r>
              <a:endParaRPr b="1" sz="1100">
                <a:solidFill>
                  <a:srgbClr val="705C40"/>
                </a:solidFill>
                <a:latin typeface="Poppins"/>
                <a:ea typeface="Poppins"/>
                <a:cs typeface="Poppins"/>
                <a:sym typeface="Poppins"/>
              </a:endParaRPr>
            </a:p>
          </p:txBody>
        </p:sp>
        <p:sp>
          <p:nvSpPr>
            <p:cNvPr id="352" name="Google Shape;352;p29"/>
            <p:cNvSpPr txBox="1"/>
            <p:nvPr/>
          </p:nvSpPr>
          <p:spPr>
            <a:xfrm>
              <a:off x="228600" y="619125"/>
              <a:ext cx="37434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02729"/>
                  </a:solidFill>
                  <a:latin typeface="Poppins Medium"/>
                  <a:ea typeface="Poppins Medium"/>
                  <a:cs typeface="Poppins Medium"/>
                  <a:sym typeface="Poppins Medium"/>
                </a:rPr>
                <a:t>FC must add reliable held-out value beyond activation and single-condition FC.</a:t>
              </a:r>
              <a:endParaRPr b="0" sz="1000">
                <a:solidFill>
                  <a:srgbClr val="202729"/>
                </a:solidFill>
                <a:latin typeface="Poppins Medium"/>
                <a:ea typeface="Poppins Medium"/>
                <a:cs typeface="Poppins Medium"/>
                <a:sym typeface="Poppins Medium"/>
              </a:endParaRPr>
            </a:p>
            <a:p>
              <a:pPr indent="0" lvl="0" marL="0" rtl="0" algn="l">
                <a:spcBef>
                  <a:spcPts val="1500"/>
                </a:spcBef>
                <a:spcAft>
                  <a:spcPts val="0"/>
                </a:spcAft>
                <a:buNone/>
              </a:pPr>
              <a:r>
                <a:rPr b="0" i="1" lang="en" sz="900">
                  <a:solidFill>
                    <a:srgbClr val="616161"/>
                  </a:solidFill>
                  <a:latin typeface="Poppins"/>
                  <a:ea typeface="Poppins"/>
                  <a:cs typeface="Poppins"/>
                  <a:sym typeface="Poppins"/>
                </a:rPr>
                <a:t>Note: These represent proposed validation experiments rather than completed research pipeline analyses.</a:t>
              </a:r>
              <a:endParaRPr b="0" i="1" sz="900">
                <a:solidFill>
                  <a:srgbClr val="616161"/>
                </a:solidFill>
                <a:latin typeface="Poppins"/>
                <a:ea typeface="Poppins"/>
                <a:cs typeface="Poppins"/>
                <a:sym typeface="Poppi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0"/>
          <p:cNvSpPr/>
          <p:nvPr/>
        </p:nvSpPr>
        <p:spPr>
          <a:xfrm>
            <a:off x="0" y="0"/>
            <a:ext cx="9144000" cy="5143500"/>
          </a:xfrm>
          <a:prstGeom prst="rect">
            <a:avLst/>
          </a:prstGeom>
          <a:solidFill>
            <a:srgbClr val="FF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30"/>
          <p:cNvSpPr/>
          <p:nvPr/>
        </p:nvSpPr>
        <p:spPr>
          <a:xfrm>
            <a:off x="0" y="4832128"/>
            <a:ext cx="9144000" cy="311400"/>
          </a:xfrm>
          <a:prstGeom prst="rect">
            <a:avLst/>
          </a:prstGeom>
          <a:solidFill>
            <a:srgbClr val="E4D6B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30"/>
          <p:cNvSpPr txBox="1"/>
          <p:nvPr/>
        </p:nvSpPr>
        <p:spPr>
          <a:xfrm>
            <a:off x="95250" y="4905375"/>
            <a:ext cx="4095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360" name="Google Shape;360;p30"/>
          <p:cNvSpPr txBox="1"/>
          <p:nvPr/>
        </p:nvSpPr>
        <p:spPr>
          <a:xfrm>
            <a:off x="4953000" y="4905375"/>
            <a:ext cx="4095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300"/>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361" name="Google Shape;361;p30"/>
          <p:cNvPicPr preferRelativeResize="0"/>
          <p:nvPr/>
        </p:nvPicPr>
        <p:blipFill rotWithShape="1">
          <a:blip r:embed="rId3">
            <a:alphaModFix/>
          </a:blip>
          <a:srcRect b="60" l="0" r="110" t="0"/>
          <a:stretch/>
        </p:blipFill>
        <p:spPr>
          <a:xfrm>
            <a:off x="4414838" y="4832033"/>
            <a:ext cx="313500" cy="311400"/>
          </a:xfrm>
          <a:prstGeom prst="rect">
            <a:avLst/>
          </a:prstGeom>
          <a:noFill/>
          <a:ln>
            <a:noFill/>
          </a:ln>
        </p:spPr>
      </p:pic>
      <p:sp>
        <p:nvSpPr>
          <p:cNvPr id="362" name="Google Shape;362;p30"/>
          <p:cNvSpPr txBox="1"/>
          <p:nvPr/>
        </p:nvSpPr>
        <p:spPr>
          <a:xfrm>
            <a:off x="304800" y="228600"/>
            <a:ext cx="8534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1600">
                <a:solidFill>
                  <a:srgbClr val="705C40"/>
                </a:solidFill>
                <a:latin typeface="Poppins"/>
                <a:ea typeface="Poppins"/>
                <a:cs typeface="Poppins"/>
                <a:sym typeface="Poppins"/>
              </a:rPr>
              <a:t>References and statistical guardrails</a:t>
            </a:r>
            <a:endParaRPr b="1" sz="1600">
              <a:solidFill>
                <a:srgbClr val="705C40"/>
              </a:solidFill>
              <a:latin typeface="Poppins"/>
              <a:ea typeface="Poppins"/>
              <a:cs typeface="Poppins"/>
              <a:sym typeface="Poppins"/>
            </a:endParaRPr>
          </a:p>
        </p:txBody>
      </p:sp>
      <p:sp>
        <p:nvSpPr>
          <p:cNvPr id="363" name="Google Shape;363;p30"/>
          <p:cNvSpPr txBox="1"/>
          <p:nvPr/>
        </p:nvSpPr>
        <p:spPr>
          <a:xfrm>
            <a:off x="304800" y="762000"/>
            <a:ext cx="41433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1100">
                <a:solidFill>
                  <a:srgbClr val="705C40"/>
                </a:solidFill>
                <a:latin typeface="Poppins"/>
                <a:ea typeface="Poppins"/>
                <a:cs typeface="Poppins"/>
                <a:sym typeface="Poppins"/>
              </a:rPr>
              <a:t>Key Literature &amp; References</a:t>
            </a:r>
            <a:endParaRPr b="1" sz="1100">
              <a:solidFill>
                <a:srgbClr val="705C40"/>
              </a:solidFill>
              <a:latin typeface="Poppins"/>
              <a:ea typeface="Poppins"/>
              <a:cs typeface="Poppins"/>
              <a:sym typeface="Poppins"/>
            </a:endParaRPr>
          </a:p>
        </p:txBody>
      </p:sp>
      <p:sp>
        <p:nvSpPr>
          <p:cNvPr id="364" name="Google Shape;364;p30"/>
          <p:cNvSpPr txBox="1"/>
          <p:nvPr/>
        </p:nvSpPr>
        <p:spPr>
          <a:xfrm>
            <a:off x="304800" y="1066800"/>
            <a:ext cx="4143300" cy="3238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202729"/>
                </a:solidFill>
                <a:latin typeface="Poppins"/>
                <a:ea typeface="Poppins"/>
                <a:cs typeface="Poppins"/>
                <a:sym typeface="Poppins"/>
              </a:rPr>
              <a:t>Avery et al. (2020)</a:t>
            </a:r>
            <a:endParaRPr b="1" sz="900">
              <a:solidFill>
                <a:srgbClr val="202729"/>
              </a:solidFill>
              <a:latin typeface="Poppins"/>
              <a:ea typeface="Poppins"/>
              <a:cs typeface="Poppins"/>
              <a:sym typeface="Poppins"/>
            </a:endParaRPr>
          </a:p>
          <a:p>
            <a:pPr indent="0" lvl="0" marL="0" rtl="0" algn="l">
              <a:spcBef>
                <a:spcPts val="300"/>
              </a:spcBef>
              <a:spcAft>
                <a:spcPts val="0"/>
              </a:spcAft>
              <a:buNone/>
            </a:pPr>
            <a:r>
              <a:rPr b="0" lang="en" sz="800">
                <a:solidFill>
                  <a:srgbClr val="616161"/>
                </a:solidFill>
                <a:latin typeface="Poppins"/>
                <a:ea typeface="Poppins"/>
                <a:cs typeface="Poppins"/>
                <a:sym typeface="Poppins"/>
              </a:rPr>
              <a:t>Distributed patterns of FC predict WM · J. Cognitive Neuroscience · PMC8004893</a:t>
            </a:r>
            <a:endParaRPr b="0" sz="800">
              <a:solidFill>
                <a:srgbClr val="616161"/>
              </a:solidFill>
              <a:latin typeface="Poppins"/>
              <a:ea typeface="Poppins"/>
              <a:cs typeface="Poppins"/>
              <a:sym typeface="Poppins"/>
            </a:endParaRPr>
          </a:p>
          <a:p>
            <a:pPr indent="0" lvl="0" marL="0" rtl="0" algn="l">
              <a:spcBef>
                <a:spcPts val="600"/>
              </a:spcBef>
              <a:spcAft>
                <a:spcPts val="0"/>
              </a:spcAft>
              <a:buNone/>
            </a:pPr>
            <a:r>
              <a:rPr b="1" lang="en" sz="900">
                <a:solidFill>
                  <a:srgbClr val="202729"/>
                </a:solidFill>
                <a:latin typeface="Poppins"/>
                <a:ea typeface="Poppins"/>
                <a:cs typeface="Poppins"/>
                <a:sym typeface="Poppins"/>
              </a:rPr>
              <a:t>Chan et al. (2014)</a:t>
            </a:r>
            <a:endParaRPr b="1" sz="900">
              <a:solidFill>
                <a:srgbClr val="202729"/>
              </a:solidFill>
              <a:latin typeface="Poppins"/>
              <a:ea typeface="Poppins"/>
              <a:cs typeface="Poppins"/>
              <a:sym typeface="Poppins"/>
            </a:endParaRPr>
          </a:p>
          <a:p>
            <a:pPr indent="0" lvl="0" marL="0" rtl="0" algn="l">
              <a:spcBef>
                <a:spcPts val="300"/>
              </a:spcBef>
              <a:spcAft>
                <a:spcPts val="0"/>
              </a:spcAft>
              <a:buNone/>
            </a:pPr>
            <a:r>
              <a:rPr b="0" lang="en" sz="800">
                <a:solidFill>
                  <a:srgbClr val="616161"/>
                </a:solidFill>
                <a:latin typeface="Poppins"/>
                <a:ea typeface="Poppins"/>
                <a:cs typeface="Poppins"/>
                <a:sym typeface="Poppins"/>
              </a:rPr>
              <a:t>Decreased segregation of brain systems · PNAS</a:t>
            </a:r>
            <a:endParaRPr b="0" sz="800">
              <a:solidFill>
                <a:srgbClr val="616161"/>
              </a:solidFill>
              <a:latin typeface="Poppins"/>
              <a:ea typeface="Poppins"/>
              <a:cs typeface="Poppins"/>
              <a:sym typeface="Poppins"/>
            </a:endParaRPr>
          </a:p>
          <a:p>
            <a:pPr indent="0" lvl="0" marL="0" rtl="0" algn="l">
              <a:spcBef>
                <a:spcPts val="600"/>
              </a:spcBef>
              <a:spcAft>
                <a:spcPts val="0"/>
              </a:spcAft>
              <a:buNone/>
            </a:pPr>
            <a:r>
              <a:rPr b="1" lang="en" sz="900">
                <a:solidFill>
                  <a:srgbClr val="202729"/>
                </a:solidFill>
                <a:latin typeface="Poppins"/>
                <a:ea typeface="Poppins"/>
                <a:cs typeface="Poppins"/>
                <a:sym typeface="Poppins"/>
              </a:rPr>
              <a:t>Murphy et al. (2020)</a:t>
            </a:r>
            <a:endParaRPr b="1" sz="900">
              <a:solidFill>
                <a:srgbClr val="202729"/>
              </a:solidFill>
              <a:latin typeface="Poppins"/>
              <a:ea typeface="Poppins"/>
              <a:cs typeface="Poppins"/>
              <a:sym typeface="Poppins"/>
            </a:endParaRPr>
          </a:p>
          <a:p>
            <a:pPr indent="0" lvl="0" marL="0" rtl="0" algn="l">
              <a:spcBef>
                <a:spcPts val="300"/>
              </a:spcBef>
              <a:spcAft>
                <a:spcPts val="0"/>
              </a:spcAft>
              <a:buNone/>
            </a:pPr>
            <a:r>
              <a:rPr b="0" lang="en" sz="800">
                <a:solidFill>
                  <a:srgbClr val="616161"/>
                </a:solidFill>
                <a:latin typeface="Poppins"/>
                <a:ea typeface="Poppins"/>
                <a:cs typeface="Poppins"/>
                <a:sym typeface="Poppins"/>
              </a:rPr>
              <a:t>Multimodal network dynamics underpinning WM · Nature Communications · 10.1038/s41467-020-15541-0</a:t>
            </a:r>
            <a:endParaRPr b="0" sz="800">
              <a:solidFill>
                <a:srgbClr val="616161"/>
              </a:solidFill>
              <a:latin typeface="Poppins"/>
              <a:ea typeface="Poppins"/>
              <a:cs typeface="Poppins"/>
              <a:sym typeface="Poppins"/>
            </a:endParaRPr>
          </a:p>
          <a:p>
            <a:pPr indent="0" lvl="0" marL="0" rtl="0" algn="l">
              <a:spcBef>
                <a:spcPts val="600"/>
              </a:spcBef>
              <a:spcAft>
                <a:spcPts val="0"/>
              </a:spcAft>
              <a:buNone/>
            </a:pPr>
            <a:r>
              <a:rPr b="1" lang="en" sz="900">
                <a:solidFill>
                  <a:srgbClr val="202729"/>
                </a:solidFill>
                <a:latin typeface="Poppins"/>
                <a:ea typeface="Poppins"/>
                <a:cs typeface="Poppins"/>
                <a:sym typeface="Poppins"/>
              </a:rPr>
              <a:t>Masharipov et al. (2024)</a:t>
            </a:r>
            <a:endParaRPr b="1" sz="900">
              <a:solidFill>
                <a:srgbClr val="202729"/>
              </a:solidFill>
              <a:latin typeface="Poppins"/>
              <a:ea typeface="Poppins"/>
              <a:cs typeface="Poppins"/>
              <a:sym typeface="Poppins"/>
            </a:endParaRPr>
          </a:p>
          <a:p>
            <a:pPr indent="0" lvl="0" marL="0" rtl="0" algn="l">
              <a:spcBef>
                <a:spcPts val="300"/>
              </a:spcBef>
              <a:spcAft>
                <a:spcPts val="0"/>
              </a:spcAft>
              <a:buNone/>
            </a:pPr>
            <a:r>
              <a:rPr b="0" lang="en" sz="800">
                <a:solidFill>
                  <a:srgbClr val="616161"/>
                </a:solidFill>
                <a:latin typeface="Poppins"/>
                <a:ea typeface="Poppins"/>
                <a:cs typeface="Poppins"/>
                <a:sym typeface="Poppins"/>
              </a:rPr>
              <a:t>Task-modulated FC methods · Communications Biology · 10.1038/s42003-024-07088-3</a:t>
            </a:r>
            <a:endParaRPr b="0" sz="800">
              <a:solidFill>
                <a:srgbClr val="616161"/>
              </a:solidFill>
              <a:latin typeface="Poppins"/>
              <a:ea typeface="Poppins"/>
              <a:cs typeface="Poppins"/>
              <a:sym typeface="Poppins"/>
            </a:endParaRPr>
          </a:p>
          <a:p>
            <a:pPr indent="0" lvl="0" marL="0" rtl="0" algn="l">
              <a:spcBef>
                <a:spcPts val="600"/>
              </a:spcBef>
              <a:spcAft>
                <a:spcPts val="0"/>
              </a:spcAft>
              <a:buNone/>
            </a:pPr>
            <a:r>
              <a:rPr b="1" lang="en" sz="900">
                <a:solidFill>
                  <a:srgbClr val="202729"/>
                </a:solidFill>
                <a:latin typeface="Poppins"/>
                <a:ea typeface="Poppins"/>
                <a:cs typeface="Poppins"/>
                <a:sym typeface="Poppins"/>
              </a:rPr>
              <a:t>Hedge et al. (2018)</a:t>
            </a:r>
            <a:endParaRPr b="1" sz="900">
              <a:solidFill>
                <a:srgbClr val="202729"/>
              </a:solidFill>
              <a:latin typeface="Poppins"/>
              <a:ea typeface="Poppins"/>
              <a:cs typeface="Poppins"/>
              <a:sym typeface="Poppins"/>
            </a:endParaRPr>
          </a:p>
          <a:p>
            <a:pPr indent="0" lvl="0" marL="0" rtl="0" algn="l">
              <a:spcBef>
                <a:spcPts val="300"/>
              </a:spcBef>
              <a:spcAft>
                <a:spcPts val="0"/>
              </a:spcAft>
              <a:buNone/>
            </a:pPr>
            <a:r>
              <a:rPr b="0" lang="en" sz="800">
                <a:solidFill>
                  <a:srgbClr val="616161"/>
                </a:solidFill>
                <a:latin typeface="Poppins"/>
                <a:ea typeface="Poppins"/>
                <a:cs typeface="Poppins"/>
                <a:sym typeface="Poppins"/>
              </a:rPr>
              <a:t>The reliability paradox · Behavior Research Methods · 10.3758/s13428-017-0935-1</a:t>
            </a:r>
            <a:endParaRPr b="0" sz="800">
              <a:solidFill>
                <a:srgbClr val="616161"/>
              </a:solidFill>
              <a:latin typeface="Poppins"/>
              <a:ea typeface="Poppins"/>
              <a:cs typeface="Poppins"/>
              <a:sym typeface="Poppins"/>
            </a:endParaRPr>
          </a:p>
          <a:p>
            <a:pPr indent="0" lvl="0" marL="0" rtl="0" algn="l">
              <a:spcBef>
                <a:spcPts val="600"/>
              </a:spcBef>
              <a:spcAft>
                <a:spcPts val="0"/>
              </a:spcAft>
              <a:buNone/>
            </a:pPr>
            <a:r>
              <a:rPr b="1" lang="en" sz="900">
                <a:solidFill>
                  <a:srgbClr val="202729"/>
                </a:solidFill>
                <a:latin typeface="Poppins"/>
                <a:ea typeface="Poppins"/>
                <a:cs typeface="Poppins"/>
                <a:sym typeface="Poppins"/>
              </a:rPr>
              <a:t>Logothetis (2008)</a:t>
            </a:r>
            <a:endParaRPr b="1" sz="900">
              <a:solidFill>
                <a:srgbClr val="202729"/>
              </a:solidFill>
              <a:latin typeface="Poppins"/>
              <a:ea typeface="Poppins"/>
              <a:cs typeface="Poppins"/>
              <a:sym typeface="Poppins"/>
            </a:endParaRPr>
          </a:p>
          <a:p>
            <a:pPr indent="0" lvl="0" marL="0" rtl="0" algn="l">
              <a:spcBef>
                <a:spcPts val="300"/>
              </a:spcBef>
              <a:spcAft>
                <a:spcPts val="0"/>
              </a:spcAft>
              <a:buNone/>
            </a:pPr>
            <a:r>
              <a:rPr b="0" lang="en" sz="800">
                <a:solidFill>
                  <a:srgbClr val="616161"/>
                </a:solidFill>
                <a:latin typeface="Poppins"/>
                <a:ea typeface="Poppins"/>
                <a:cs typeface="Poppins"/>
                <a:sym typeface="Poppins"/>
              </a:rPr>
              <a:t>What we can do and what we cannot do with fMRI · Nature</a:t>
            </a:r>
            <a:endParaRPr b="0" sz="800">
              <a:solidFill>
                <a:srgbClr val="616161"/>
              </a:solidFill>
              <a:latin typeface="Poppins"/>
              <a:ea typeface="Poppins"/>
              <a:cs typeface="Poppins"/>
              <a:sym typeface="Poppins"/>
            </a:endParaRPr>
          </a:p>
          <a:p>
            <a:pPr indent="0" lvl="0" marL="0" rtl="0" algn="l">
              <a:spcBef>
                <a:spcPts val="600"/>
              </a:spcBef>
              <a:spcAft>
                <a:spcPts val="300"/>
              </a:spcAft>
              <a:buNone/>
            </a:pPr>
            <a:r>
              <a:rPr b="1" lang="en" sz="800">
                <a:solidFill>
                  <a:srgbClr val="705C40"/>
                </a:solidFill>
                <a:latin typeface="Poppins"/>
                <a:ea typeface="Poppins"/>
                <a:cs typeface="Poppins"/>
                <a:sym typeface="Poppins"/>
              </a:rPr>
              <a:t>Full annotated bibliography: </a:t>
            </a:r>
            <a:r>
              <a:rPr b="1" lang="en" sz="850">
                <a:solidFill>
                  <a:srgbClr val="705C40"/>
                </a:solidFill>
                <a:latin typeface="Arial"/>
                <a:ea typeface="Arial"/>
                <a:cs typeface="Arial"/>
                <a:sym typeface="Arial"/>
              </a:rPr>
              <a:t>manuscript/references.md</a:t>
            </a:r>
            <a:endParaRPr b="1" sz="800">
              <a:solidFill>
                <a:srgbClr val="705C40"/>
              </a:solidFill>
              <a:latin typeface="Poppins"/>
              <a:ea typeface="Poppins"/>
              <a:cs typeface="Poppins"/>
              <a:sym typeface="Poppins"/>
            </a:endParaRPr>
          </a:p>
        </p:txBody>
      </p:sp>
      <p:sp>
        <p:nvSpPr>
          <p:cNvPr id="365" name="Google Shape;365;p30"/>
          <p:cNvSpPr txBox="1"/>
          <p:nvPr/>
        </p:nvSpPr>
        <p:spPr>
          <a:xfrm>
            <a:off x="4695825" y="762000"/>
            <a:ext cx="41433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1100">
                <a:solidFill>
                  <a:srgbClr val="705C40"/>
                </a:solidFill>
                <a:latin typeface="Poppins"/>
                <a:ea typeface="Poppins"/>
                <a:cs typeface="Poppins"/>
                <a:sym typeface="Poppins"/>
              </a:rPr>
              <a:t>Statistical Guardrails &amp; Definitions</a:t>
            </a:r>
            <a:endParaRPr b="1" sz="1100">
              <a:solidFill>
                <a:srgbClr val="705C40"/>
              </a:solidFill>
              <a:latin typeface="Poppins"/>
              <a:ea typeface="Poppins"/>
              <a:cs typeface="Poppins"/>
              <a:sym typeface="Poppins"/>
            </a:endParaRPr>
          </a:p>
        </p:txBody>
      </p:sp>
      <p:grpSp>
        <p:nvGrpSpPr>
          <p:cNvPr id="366" name="Google Shape;366;p30"/>
          <p:cNvGrpSpPr/>
          <p:nvPr/>
        </p:nvGrpSpPr>
        <p:grpSpPr>
          <a:xfrm>
            <a:off x="4695825" y="1066800"/>
            <a:ext cx="4143300" cy="705000"/>
            <a:chOff x="0" y="0"/>
            <a:chExt cx="4143300" cy="705000"/>
          </a:xfrm>
        </p:grpSpPr>
        <p:sp>
          <p:nvSpPr>
            <p:cNvPr id="367" name="Google Shape;367;p30"/>
            <p:cNvSpPr/>
            <p:nvPr/>
          </p:nvSpPr>
          <p:spPr>
            <a:xfrm>
              <a:off x="0" y="0"/>
              <a:ext cx="4143300" cy="705000"/>
            </a:xfrm>
            <a:prstGeom prst="roundRect">
              <a:avLst>
                <a:gd fmla="val 10810"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30"/>
            <p:cNvSpPr txBox="1"/>
            <p:nvPr/>
          </p:nvSpPr>
          <p:spPr>
            <a:xfrm>
              <a:off x="152400" y="114300"/>
              <a:ext cx="3838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9470"/>
                  </a:solidFill>
                  <a:latin typeface="Poppins"/>
                  <a:ea typeface="Poppins"/>
                  <a:cs typeface="Poppins"/>
                  <a:sym typeface="Poppins"/>
                </a:rPr>
                <a:t>r = 0.366 ± 0.024</a:t>
              </a:r>
              <a:endParaRPr b="1" sz="1000">
                <a:solidFill>
                  <a:srgbClr val="B99470"/>
                </a:solidFill>
                <a:latin typeface="Poppins"/>
                <a:ea typeface="Poppins"/>
                <a:cs typeface="Poppins"/>
                <a:sym typeface="Poppins"/>
              </a:endParaRPr>
            </a:p>
            <a:p>
              <a:pPr indent="0" lvl="0" marL="0" rtl="0" algn="l">
                <a:spcBef>
                  <a:spcPts val="300"/>
                </a:spcBef>
                <a:spcAft>
                  <a:spcPts val="300"/>
                </a:spcAft>
                <a:buNone/>
              </a:pPr>
              <a:r>
                <a:rPr b="0" lang="en" sz="950">
                  <a:solidFill>
                    <a:srgbClr val="202729"/>
                  </a:solidFill>
                  <a:latin typeface="Poppins"/>
                  <a:ea typeface="Poppins"/>
                  <a:cs typeface="Poppins"/>
                  <a:sym typeface="Poppins"/>
                </a:rPr>
                <a:t>Mean ± split SD across 20 repeated-CV partitions.</a:t>
              </a:r>
              <a:endParaRPr b="0" sz="950">
                <a:solidFill>
                  <a:srgbClr val="202729"/>
                </a:solidFill>
                <a:latin typeface="Poppins"/>
                <a:ea typeface="Poppins"/>
                <a:cs typeface="Poppins"/>
                <a:sym typeface="Poppins"/>
              </a:endParaRPr>
            </a:p>
          </p:txBody>
        </p:sp>
      </p:grpSp>
      <p:grpSp>
        <p:nvGrpSpPr>
          <p:cNvPr id="369" name="Google Shape;369;p30"/>
          <p:cNvGrpSpPr/>
          <p:nvPr/>
        </p:nvGrpSpPr>
        <p:grpSpPr>
          <a:xfrm>
            <a:off x="4695825" y="1866900"/>
            <a:ext cx="4143300" cy="705000"/>
            <a:chOff x="0" y="0"/>
            <a:chExt cx="4143300" cy="705000"/>
          </a:xfrm>
        </p:grpSpPr>
        <p:sp>
          <p:nvSpPr>
            <p:cNvPr id="370" name="Google Shape;370;p30"/>
            <p:cNvSpPr/>
            <p:nvPr/>
          </p:nvSpPr>
          <p:spPr>
            <a:xfrm>
              <a:off x="0" y="0"/>
              <a:ext cx="4143300" cy="705000"/>
            </a:xfrm>
            <a:prstGeom prst="roundRect">
              <a:avLst>
                <a:gd fmla="val 10810"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30"/>
            <p:cNvSpPr txBox="1"/>
            <p:nvPr/>
          </p:nvSpPr>
          <p:spPr>
            <a:xfrm>
              <a:off x="152400" y="114300"/>
              <a:ext cx="3838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9470"/>
                  </a:solidFill>
                  <a:latin typeface="Poppins"/>
                  <a:ea typeface="Poppins"/>
                  <a:cs typeface="Poppins"/>
                  <a:sym typeface="Poppins"/>
                </a:rPr>
                <a:t>seed-42 r = 0.405; p ≈ .001 (1/1001)</a:t>
              </a:r>
              <a:endParaRPr b="1" sz="1000">
                <a:solidFill>
                  <a:srgbClr val="B99470"/>
                </a:solidFill>
                <a:latin typeface="Poppins"/>
                <a:ea typeface="Poppins"/>
                <a:cs typeface="Poppins"/>
                <a:sym typeface="Poppins"/>
              </a:endParaRPr>
            </a:p>
            <a:p>
              <a:pPr indent="0" lvl="0" marL="0" rtl="0" algn="l">
                <a:spcBef>
                  <a:spcPts val="300"/>
                </a:spcBef>
                <a:spcAft>
                  <a:spcPts val="300"/>
                </a:spcAft>
                <a:buNone/>
              </a:pPr>
              <a:r>
                <a:rPr b="0" lang="en" sz="950">
                  <a:solidFill>
                    <a:srgbClr val="202729"/>
                  </a:solidFill>
                  <a:latin typeface="Poppins"/>
                  <a:ea typeface="Poppins"/>
                  <a:cs typeface="Poppins"/>
                  <a:sym typeface="Poppins"/>
                </a:rPr>
                <a:t>Full-refit permutation baseline.</a:t>
              </a:r>
              <a:endParaRPr b="0" sz="950">
                <a:solidFill>
                  <a:srgbClr val="202729"/>
                </a:solidFill>
                <a:latin typeface="Poppins"/>
                <a:ea typeface="Poppins"/>
                <a:cs typeface="Poppins"/>
                <a:sym typeface="Poppins"/>
              </a:endParaRPr>
            </a:p>
          </p:txBody>
        </p:sp>
      </p:grpSp>
      <p:grpSp>
        <p:nvGrpSpPr>
          <p:cNvPr id="372" name="Google Shape;372;p30"/>
          <p:cNvGrpSpPr/>
          <p:nvPr/>
        </p:nvGrpSpPr>
        <p:grpSpPr>
          <a:xfrm>
            <a:off x="4695825" y="2667000"/>
            <a:ext cx="4143300" cy="705000"/>
            <a:chOff x="0" y="0"/>
            <a:chExt cx="4143300" cy="705000"/>
          </a:xfrm>
        </p:grpSpPr>
        <p:sp>
          <p:nvSpPr>
            <p:cNvPr id="373" name="Google Shape;373;p30"/>
            <p:cNvSpPr/>
            <p:nvPr/>
          </p:nvSpPr>
          <p:spPr>
            <a:xfrm>
              <a:off x="0" y="0"/>
              <a:ext cx="4143300" cy="705000"/>
            </a:xfrm>
            <a:prstGeom prst="roundRect">
              <a:avLst>
                <a:gd fmla="val 10810"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30"/>
            <p:cNvSpPr txBox="1"/>
            <p:nvPr/>
          </p:nvSpPr>
          <p:spPr>
            <a:xfrm>
              <a:off x="152400" y="114300"/>
              <a:ext cx="3838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9470"/>
                  </a:solidFill>
                  <a:latin typeface="Poppins"/>
                  <a:ea typeface="Poppins"/>
                  <a:cs typeface="Poppins"/>
                  <a:sym typeface="Poppins"/>
                </a:rPr>
                <a:t>B→A r = 0.398; 95% CI [0.25, 0.53]</a:t>
              </a:r>
              <a:endParaRPr b="1" sz="1000">
                <a:solidFill>
                  <a:srgbClr val="B99470"/>
                </a:solidFill>
                <a:latin typeface="Poppins"/>
                <a:ea typeface="Poppins"/>
                <a:cs typeface="Poppins"/>
                <a:sym typeface="Poppins"/>
              </a:endParaRPr>
            </a:p>
            <a:p>
              <a:pPr indent="0" lvl="0" marL="0" rtl="0" algn="l">
                <a:spcBef>
                  <a:spcPts val="300"/>
                </a:spcBef>
                <a:spcAft>
                  <a:spcPts val="300"/>
                </a:spcAft>
                <a:buNone/>
              </a:pPr>
              <a:r>
                <a:rPr b="0" lang="en" sz="950">
                  <a:solidFill>
                    <a:srgbClr val="202729"/>
                  </a:solidFill>
                  <a:latin typeface="Poppins"/>
                  <a:ea typeface="Poppins"/>
                  <a:cs typeface="Poppins"/>
                  <a:sym typeface="Poppins"/>
                </a:rPr>
                <a:t>Identity-disjoint same-HCP transfer metric.</a:t>
              </a:r>
              <a:endParaRPr b="0" sz="950">
                <a:solidFill>
                  <a:srgbClr val="202729"/>
                </a:solidFill>
                <a:latin typeface="Poppins"/>
                <a:ea typeface="Poppins"/>
                <a:cs typeface="Poppins"/>
                <a:sym typeface="Poppins"/>
              </a:endParaRPr>
            </a:p>
          </p:txBody>
        </p:sp>
      </p:grpSp>
      <p:grpSp>
        <p:nvGrpSpPr>
          <p:cNvPr id="375" name="Google Shape;375;p30"/>
          <p:cNvGrpSpPr/>
          <p:nvPr/>
        </p:nvGrpSpPr>
        <p:grpSpPr>
          <a:xfrm>
            <a:off x="4695825" y="3467100"/>
            <a:ext cx="4143300" cy="838200"/>
            <a:chOff x="0" y="0"/>
            <a:chExt cx="4143300" cy="838200"/>
          </a:xfrm>
        </p:grpSpPr>
        <p:sp>
          <p:nvSpPr>
            <p:cNvPr id="376" name="Google Shape;376;p30"/>
            <p:cNvSpPr/>
            <p:nvPr/>
          </p:nvSpPr>
          <p:spPr>
            <a:xfrm>
              <a:off x="0" y="0"/>
              <a:ext cx="4143300" cy="838200"/>
            </a:xfrm>
            <a:prstGeom prst="roundRect">
              <a:avLst>
                <a:gd fmla="val 9090" name="adj"/>
              </a:avLst>
            </a:prstGeom>
            <a:solidFill>
              <a:srgbClr val="F5EFE6"/>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30"/>
            <p:cNvSpPr txBox="1"/>
            <p:nvPr/>
          </p:nvSpPr>
          <p:spPr>
            <a:xfrm>
              <a:off x="152400" y="114300"/>
              <a:ext cx="38385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i="1" lang="en" sz="850">
                  <a:solidFill>
                    <a:srgbClr val="705C40"/>
                  </a:solidFill>
                  <a:latin typeface="Poppins"/>
                  <a:ea typeface="Poppins"/>
                  <a:cs typeface="Poppins"/>
                  <a:sym typeface="Poppins"/>
                </a:rPr>
                <a:t>Scientific Caveat:</a:t>
              </a:r>
              <a:r>
                <a:rPr b="0" i="1" lang="en" sz="850">
                  <a:solidFill>
                    <a:srgbClr val="616161"/>
                  </a:solidFill>
                  <a:latin typeface="Poppins"/>
                  <a:ea typeface="Poppins"/>
                  <a:cs typeface="Poppins"/>
                  <a:sym typeface="Poppins"/>
                </a:rPr>
                <a:t> References frame and contextualize limits; they do not establish exact replications or causal validation. Logothetis (2008) frames the CVR vascular reactivity gap as an external cited limitation rather than our own direct finding.</a:t>
              </a:r>
              <a:endParaRPr b="0" i="1" sz="850">
                <a:solidFill>
                  <a:srgbClr val="616161"/>
                </a:solidFill>
                <a:latin typeface="Poppins"/>
                <a:ea typeface="Poppins"/>
                <a:cs typeface="Poppins"/>
                <a:sym typeface="Poppi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1" name="Shape 381"/>
        <p:cNvGrpSpPr/>
        <p:nvPr/>
      </p:nvGrpSpPr>
      <p:grpSpPr>
        <a:xfrm>
          <a:off x="0" y="0"/>
          <a:ext cx="0" cy="0"/>
          <a:chOff x="0" y="0"/>
          <a:chExt cx="0" cy="0"/>
        </a:xfrm>
      </p:grpSpPr>
      <p:sp>
        <p:nvSpPr>
          <p:cNvPr id="382" name="Google Shape;382;p31"/>
          <p:cNvSpPr/>
          <p:nvPr/>
        </p:nvSpPr>
        <p:spPr>
          <a:xfrm rot="5400000">
            <a:off x="-998816" y="3412181"/>
            <a:ext cx="2633472" cy="90510"/>
          </a:xfrm>
          <a:custGeom>
            <a:rect b="b" l="l" r="r" t="t"/>
            <a:pathLst>
              <a:path extrusionOk="0" h="247973" w="7315200">
                <a:moveTo>
                  <a:pt x="0" y="0"/>
                </a:moveTo>
                <a:lnTo>
                  <a:pt x="7315200" y="0"/>
                </a:lnTo>
                <a:lnTo>
                  <a:pt x="7315200" y="247973"/>
                </a:lnTo>
                <a:lnTo>
                  <a:pt x="0" y="247973"/>
                </a:lnTo>
                <a:lnTo>
                  <a:pt x="0" y="0"/>
                </a:lnTo>
                <a:close/>
              </a:path>
            </a:pathLst>
          </a:custGeom>
          <a:blipFill rotWithShape="1">
            <a:blip r:embed="rId4">
              <a:alphaModFix/>
            </a:blip>
            <a:stretch>
              <a:fillRect b="0" l="0" r="0" t="0"/>
            </a:stretch>
          </a:blipFill>
          <a:ln>
            <a:noFill/>
          </a:ln>
        </p:spPr>
      </p:sp>
      <p:grpSp>
        <p:nvGrpSpPr>
          <p:cNvPr id="383" name="Google Shape;383;p31"/>
          <p:cNvGrpSpPr/>
          <p:nvPr/>
        </p:nvGrpSpPr>
        <p:grpSpPr>
          <a:xfrm>
            <a:off x="3728260" y="1633084"/>
            <a:ext cx="225064" cy="225064"/>
            <a:chOff x="0" y="0"/>
            <a:chExt cx="812800" cy="812800"/>
          </a:xfrm>
        </p:grpSpPr>
        <p:sp>
          <p:nvSpPr>
            <p:cNvPr id="384" name="Google Shape;384;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5" name="Google Shape;385;p31"/>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86" name="Google Shape;386;p31"/>
          <p:cNvGrpSpPr/>
          <p:nvPr/>
        </p:nvGrpSpPr>
        <p:grpSpPr>
          <a:xfrm>
            <a:off x="3728260" y="2612166"/>
            <a:ext cx="225064" cy="225064"/>
            <a:chOff x="0" y="0"/>
            <a:chExt cx="812800" cy="812800"/>
          </a:xfrm>
        </p:grpSpPr>
        <p:sp>
          <p:nvSpPr>
            <p:cNvPr id="387" name="Google Shape;387;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8" name="Google Shape;388;p31"/>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89" name="Google Shape;389;p31"/>
          <p:cNvSpPr txBox="1"/>
          <p:nvPr/>
        </p:nvSpPr>
        <p:spPr>
          <a:xfrm>
            <a:off x="4208471" y="1904449"/>
            <a:ext cx="4665000" cy="200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i="0" lang="en" sz="1300" u="none" cap="none" strike="noStrike">
                <a:solidFill>
                  <a:srgbClr val="000000"/>
                </a:solidFill>
                <a:latin typeface="Poppins"/>
                <a:ea typeface="Poppins"/>
                <a:cs typeface="Poppins"/>
                <a:sym typeface="Poppins"/>
              </a:rPr>
              <a:t>Our study aims to</a:t>
            </a:r>
            <a:r>
              <a:rPr lang="en" sz="1300">
                <a:latin typeface="Poppins"/>
                <a:ea typeface="Poppins"/>
                <a:cs typeface="Poppins"/>
                <a:sym typeface="Poppins"/>
              </a:rPr>
              <a:t>…</a:t>
            </a:r>
            <a:endParaRPr sz="700">
              <a:latin typeface="Poppins"/>
              <a:ea typeface="Poppins"/>
              <a:cs typeface="Poppins"/>
              <a:sym typeface="Poppins"/>
            </a:endParaRPr>
          </a:p>
        </p:txBody>
      </p:sp>
      <p:sp>
        <p:nvSpPr>
          <p:cNvPr id="390" name="Google Shape;390;p31"/>
          <p:cNvSpPr txBox="1"/>
          <p:nvPr/>
        </p:nvSpPr>
        <p:spPr>
          <a:xfrm>
            <a:off x="4208471" y="2880520"/>
            <a:ext cx="4665000" cy="200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lang="en" sz="1300">
                <a:latin typeface="Poppins"/>
                <a:ea typeface="Poppins"/>
                <a:cs typeface="Poppins"/>
                <a:sym typeface="Poppins"/>
              </a:rPr>
              <a:t>…..</a:t>
            </a:r>
            <a:endParaRPr sz="700">
              <a:latin typeface="Poppins"/>
              <a:ea typeface="Poppins"/>
              <a:cs typeface="Poppins"/>
              <a:sym typeface="Poppins"/>
            </a:endParaRPr>
          </a:p>
        </p:txBody>
      </p:sp>
      <p:sp>
        <p:nvSpPr>
          <p:cNvPr id="391" name="Google Shape;391;p31"/>
          <p:cNvSpPr txBox="1"/>
          <p:nvPr/>
        </p:nvSpPr>
        <p:spPr>
          <a:xfrm>
            <a:off x="4208471" y="1604509"/>
            <a:ext cx="4117500" cy="231000"/>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lang="en" sz="1500">
                <a:solidFill>
                  <a:srgbClr val="705C40"/>
                </a:solidFill>
                <a:latin typeface="Poppins SemiBold"/>
                <a:ea typeface="Poppins SemiBold"/>
                <a:cs typeface="Poppins SemiBold"/>
                <a:sym typeface="Poppins SemiBold"/>
              </a:rPr>
              <a:t>Point 1</a:t>
            </a:r>
            <a:endParaRPr sz="700">
              <a:latin typeface="Poppins SemiBold"/>
              <a:ea typeface="Poppins SemiBold"/>
              <a:cs typeface="Poppins SemiBold"/>
              <a:sym typeface="Poppins SemiBold"/>
            </a:endParaRPr>
          </a:p>
        </p:txBody>
      </p:sp>
      <p:sp>
        <p:nvSpPr>
          <p:cNvPr id="392" name="Google Shape;392;p31"/>
          <p:cNvSpPr txBox="1"/>
          <p:nvPr/>
        </p:nvSpPr>
        <p:spPr>
          <a:xfrm>
            <a:off x="4208471" y="2580580"/>
            <a:ext cx="4117500" cy="231000"/>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lang="en" sz="1500">
                <a:solidFill>
                  <a:srgbClr val="705C40"/>
                </a:solidFill>
                <a:latin typeface="Poppins SemiBold"/>
                <a:ea typeface="Poppins SemiBold"/>
                <a:cs typeface="Poppins SemiBold"/>
                <a:sym typeface="Poppins SemiBold"/>
              </a:rPr>
              <a:t>Point 2</a:t>
            </a:r>
            <a:endParaRPr sz="700">
              <a:latin typeface="Poppins SemiBold"/>
              <a:ea typeface="Poppins SemiBold"/>
              <a:cs typeface="Poppins SemiBold"/>
              <a:sym typeface="Poppins SemiBold"/>
            </a:endParaRPr>
          </a:p>
        </p:txBody>
      </p:sp>
      <p:sp>
        <p:nvSpPr>
          <p:cNvPr id="393" name="Google Shape;393;p31"/>
          <p:cNvSpPr txBox="1"/>
          <p:nvPr/>
        </p:nvSpPr>
        <p:spPr>
          <a:xfrm>
            <a:off x="644275" y="342753"/>
            <a:ext cx="2989800" cy="354000"/>
          </a:xfrm>
          <a:prstGeom prst="rect">
            <a:avLst/>
          </a:prstGeom>
          <a:noFill/>
          <a:ln>
            <a:noFill/>
          </a:ln>
        </p:spPr>
        <p:txBody>
          <a:bodyPr anchorCtr="0" anchor="t" bIns="0" lIns="0" spcFirstLastPara="1" rIns="0" wrap="square" tIns="0">
            <a:spAutoFit/>
          </a:bodyPr>
          <a:lstStyle/>
          <a:p>
            <a:pPr indent="0" lvl="0" marL="0" marR="0" rtl="0" algn="l">
              <a:lnSpc>
                <a:spcPct val="119994"/>
              </a:lnSpc>
              <a:spcBef>
                <a:spcPts val="0"/>
              </a:spcBef>
              <a:spcAft>
                <a:spcPts val="0"/>
              </a:spcAft>
              <a:buNone/>
            </a:pPr>
            <a:r>
              <a:rPr b="1" lang="en" sz="2300">
                <a:solidFill>
                  <a:srgbClr val="705C40"/>
                </a:solidFill>
                <a:latin typeface="Poppins"/>
                <a:ea typeface="Poppins"/>
                <a:cs typeface="Poppins"/>
                <a:sym typeface="Poppins"/>
              </a:rPr>
              <a:t>FC Reconfiguration </a:t>
            </a:r>
            <a:endParaRPr b="1" sz="100">
              <a:latin typeface="Poppins"/>
              <a:ea typeface="Poppins"/>
              <a:cs typeface="Poppins"/>
              <a:sym typeface="Poppins"/>
            </a:endParaRPr>
          </a:p>
        </p:txBody>
      </p:sp>
      <p:sp>
        <p:nvSpPr>
          <p:cNvPr id="394" name="Google Shape;394;p31"/>
          <p:cNvSpPr txBox="1"/>
          <p:nvPr/>
        </p:nvSpPr>
        <p:spPr>
          <a:xfrm>
            <a:off x="4208471" y="543091"/>
            <a:ext cx="4665000" cy="231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500">
                <a:latin typeface="Poppins"/>
                <a:ea typeface="Poppins"/>
                <a:cs typeface="Poppins"/>
                <a:sym typeface="Poppins"/>
              </a:rPr>
              <a:t>Explanation</a:t>
            </a:r>
            <a:r>
              <a:rPr lang="en" sz="1500">
                <a:latin typeface="Poppins"/>
                <a:ea typeface="Poppins"/>
                <a:cs typeface="Poppins"/>
                <a:sym typeface="Poppins"/>
              </a:rPr>
              <a:t>¿¿¿</a:t>
            </a:r>
            <a:endParaRPr sz="700">
              <a:latin typeface="Poppins"/>
              <a:ea typeface="Poppins"/>
              <a:cs typeface="Poppins"/>
              <a:sym typeface="Poppins"/>
            </a:endParaRPr>
          </a:p>
        </p:txBody>
      </p:sp>
      <p:sp>
        <p:nvSpPr>
          <p:cNvPr id="395" name="Google Shape;395;p31"/>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pic>
        <p:nvPicPr>
          <p:cNvPr id="396" name="Google Shape;396;p31"/>
          <p:cNvPicPr preferRelativeResize="0"/>
          <p:nvPr/>
        </p:nvPicPr>
        <p:blipFill>
          <a:blip r:embed="rId5">
            <a:alphaModFix/>
          </a:blip>
          <a:stretch>
            <a:fillRect/>
          </a:stretch>
        </p:blipFill>
        <p:spPr>
          <a:xfrm>
            <a:off x="720599" y="835751"/>
            <a:ext cx="2989799" cy="1797337"/>
          </a:xfrm>
          <a:prstGeom prst="rect">
            <a:avLst/>
          </a:prstGeom>
          <a:noFill/>
          <a:ln>
            <a:noFill/>
          </a:ln>
        </p:spPr>
      </p:pic>
      <p:pic>
        <p:nvPicPr>
          <p:cNvPr id="397" name="Google Shape;397;p31"/>
          <p:cNvPicPr preferRelativeResize="0"/>
          <p:nvPr/>
        </p:nvPicPr>
        <p:blipFill>
          <a:blip r:embed="rId6">
            <a:alphaModFix/>
          </a:blip>
          <a:stretch>
            <a:fillRect/>
          </a:stretch>
        </p:blipFill>
        <p:spPr>
          <a:xfrm>
            <a:off x="487174" y="2947425"/>
            <a:ext cx="3303996" cy="1449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1" name="Shape 401"/>
        <p:cNvGrpSpPr/>
        <p:nvPr/>
      </p:nvGrpSpPr>
      <p:grpSpPr>
        <a:xfrm>
          <a:off x="0" y="0"/>
          <a:ext cx="0" cy="0"/>
          <a:chOff x="0" y="0"/>
          <a:chExt cx="0" cy="0"/>
        </a:xfrm>
      </p:grpSpPr>
      <p:sp>
        <p:nvSpPr>
          <p:cNvPr id="402" name="Google Shape;402;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So… What does this mean?</a:t>
            </a:r>
            <a:endParaRPr b="1">
              <a:latin typeface="Poppins"/>
              <a:ea typeface="Poppins"/>
              <a:cs typeface="Poppins"/>
              <a:sym typeface="Poppins"/>
            </a:endParaRPr>
          </a:p>
        </p:txBody>
      </p:sp>
      <p:sp>
        <p:nvSpPr>
          <p:cNvPr id="403" name="Google Shape;403;p32"/>
          <p:cNvSpPr txBox="1"/>
          <p:nvPr>
            <p:ph idx="1" type="body"/>
          </p:nvPr>
        </p:nvSpPr>
        <p:spPr>
          <a:xfrm>
            <a:off x="311700" y="1152475"/>
            <a:ext cx="8520600" cy="1141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Conclusion 1</a:t>
            </a:r>
            <a:endParaRPr/>
          </a:p>
          <a:p>
            <a:pPr indent="-342900" lvl="0" marL="457200" rtl="0" algn="l">
              <a:spcBef>
                <a:spcPts val="0"/>
              </a:spcBef>
              <a:spcAft>
                <a:spcPts val="0"/>
              </a:spcAft>
              <a:buSzPts val="1800"/>
              <a:buChar char="●"/>
            </a:pPr>
            <a:r>
              <a:rPr lang="en"/>
              <a:t>Conclusion 2</a:t>
            </a:r>
            <a:endParaRPr/>
          </a:p>
          <a:p>
            <a:pPr indent="-342900" lvl="0" marL="457200" rtl="0" algn="l">
              <a:spcBef>
                <a:spcPts val="0"/>
              </a:spcBef>
              <a:spcAft>
                <a:spcPts val="0"/>
              </a:spcAft>
              <a:buSzPts val="1800"/>
              <a:buChar char="●"/>
            </a:pPr>
            <a:r>
              <a:rPr lang="en"/>
              <a:t>etc</a:t>
            </a:r>
            <a:endParaRPr/>
          </a:p>
        </p:txBody>
      </p:sp>
      <p:sp>
        <p:nvSpPr>
          <p:cNvPr id="404" name="Google Shape;404;p32"/>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32"/>
          <p:cNvSpPr/>
          <p:nvPr/>
        </p:nvSpPr>
        <p:spPr>
          <a:xfrm>
            <a:off x="479750" y="2437125"/>
            <a:ext cx="8040600" cy="1938300"/>
          </a:xfrm>
          <a:prstGeom prst="rect">
            <a:avLst/>
          </a:prstGeom>
          <a:solidFill>
            <a:srgbClr val="B99470"/>
          </a:solidFill>
          <a:ln cap="flat" cmpd="sng" w="9525">
            <a:solidFill>
              <a:srgbClr val="B9947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Poppins"/>
                <a:ea typeface="Poppins"/>
                <a:cs typeface="Poppins"/>
                <a:sym typeface="Poppins"/>
              </a:rPr>
              <a:t>Limitations</a:t>
            </a:r>
            <a:r>
              <a:rPr b="1" lang="en">
                <a:solidFill>
                  <a:schemeClr val="dk1"/>
                </a:solidFill>
                <a:latin typeface="Poppins"/>
                <a:ea typeface="Poppins"/>
                <a:cs typeface="Poppins"/>
                <a:sym typeface="Poppins"/>
              </a:rPr>
              <a:t>:</a:t>
            </a:r>
            <a:endParaRPr b="1">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Char char="●"/>
            </a:pPr>
            <a:r>
              <a:rPr lang="en">
                <a:solidFill>
                  <a:schemeClr val="dk1"/>
                </a:solidFill>
              </a:rPr>
              <a:t>L1</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L2</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CONCEPTS</a:t>
            </a:r>
            <a:endParaRPr/>
          </a:p>
        </p:txBody>
      </p:sp>
      <p:sp>
        <p:nvSpPr>
          <p:cNvPr id="411" name="Google Shape;411;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FC reconfiguration still predicts performance and the result generalizes to a held-out cohort. However, it substantially changes our conclusion because reconfiguration does not clearly add unique information beyond single-condition FC, and task activation predicts performance even better</a:t>
            </a:r>
            <a:endParaRPr/>
          </a:p>
          <a:p>
            <a:pPr indent="0" lvl="0" marL="0" rtl="0" algn="l">
              <a:spcBef>
                <a:spcPts val="0"/>
              </a:spcBef>
              <a:spcAft>
                <a:spcPts val="0"/>
              </a:spcAft>
              <a:buNone/>
            </a:pPr>
            <a:r>
              <a:t/>
            </a:r>
            <a:endParaRPr/>
          </a:p>
        </p:txBody>
      </p:sp>
      <p:sp>
        <p:nvSpPr>
          <p:cNvPr id="412" name="Google Shape;412;p33"/>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6" name="Shape 416"/>
        <p:cNvGrpSpPr/>
        <p:nvPr/>
      </p:nvGrpSpPr>
      <p:grpSpPr>
        <a:xfrm>
          <a:off x="0" y="0"/>
          <a:ext cx="0" cy="0"/>
          <a:chOff x="0" y="0"/>
          <a:chExt cx="0" cy="0"/>
        </a:xfrm>
      </p:grpSpPr>
      <p:sp>
        <p:nvSpPr>
          <p:cNvPr id="417" name="Google Shape;417;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References</a:t>
            </a:r>
            <a:endParaRPr b="1">
              <a:latin typeface="Poppins"/>
              <a:ea typeface="Poppins"/>
              <a:cs typeface="Poppins"/>
              <a:sym typeface="Poppins"/>
            </a:endParaRPr>
          </a:p>
        </p:txBody>
      </p:sp>
      <p:sp>
        <p:nvSpPr>
          <p:cNvPr id="418" name="Google Shape;418;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28600" lvl="0" marL="228600" rtl="0" algn="just">
              <a:lnSpc>
                <a:spcPct val="100000"/>
              </a:lnSpc>
              <a:spcBef>
                <a:spcPts val="0"/>
              </a:spcBef>
              <a:spcAft>
                <a:spcPts val="0"/>
              </a:spcAft>
              <a:buNone/>
            </a:pPr>
            <a:r>
              <a:rPr lang="en" sz="1100">
                <a:solidFill>
                  <a:schemeClr val="dk1"/>
                </a:solidFill>
                <a:latin typeface="Poppins Light"/>
                <a:ea typeface="Poppins Light"/>
                <a:cs typeface="Poppins Light"/>
                <a:sym typeface="Poppins Light"/>
              </a:rPr>
              <a:t>1.</a:t>
            </a:r>
            <a:r>
              <a:rPr lang="en" sz="700">
                <a:solidFill>
                  <a:schemeClr val="dk1"/>
                </a:solidFill>
                <a:latin typeface="Poppins Light"/>
                <a:ea typeface="Poppins Light"/>
                <a:cs typeface="Poppins Light"/>
                <a:sym typeface="Poppins Light"/>
              </a:rPr>
              <a:t> 	</a:t>
            </a:r>
            <a:r>
              <a:rPr lang="en" sz="1100">
                <a:solidFill>
                  <a:schemeClr val="dk1"/>
                </a:solidFill>
                <a:latin typeface="Poppins Light"/>
                <a:ea typeface="Poppins Light"/>
                <a:cs typeface="Poppins Light"/>
                <a:sym typeface="Poppins Light"/>
              </a:rPr>
              <a:t>Shine JM, Bissett PG, Bell PT, Koyejo O, Balsters JH, Gorgolewski KJ, Moodie CA, Poldrack RA. The Dynamics of Functional Brain Networks: Integrated Network States during Cognitive Task Performance. Neuron. 2016 Oct 19;92(2):544-554. doi: 10.1016/j.neuron.2016.09.018. Epub 2016 Sep 29. PMID: 27693256; PMCID: PMC5073034.</a:t>
            </a:r>
            <a:endParaRPr sz="1100">
              <a:solidFill>
                <a:schemeClr val="dk1"/>
              </a:solidFill>
              <a:latin typeface="Poppins Light"/>
              <a:ea typeface="Poppins Light"/>
              <a:cs typeface="Poppins Light"/>
              <a:sym typeface="Poppins Light"/>
            </a:endParaRPr>
          </a:p>
          <a:p>
            <a:pPr indent="-228600" lvl="0" marL="228600" rtl="0" algn="just">
              <a:lnSpc>
                <a:spcPct val="100000"/>
              </a:lnSpc>
              <a:spcBef>
                <a:spcPts val="1200"/>
              </a:spcBef>
              <a:spcAft>
                <a:spcPts val="0"/>
              </a:spcAft>
              <a:buNone/>
            </a:pPr>
            <a:r>
              <a:rPr lang="en" sz="1100">
                <a:solidFill>
                  <a:schemeClr val="dk1"/>
                </a:solidFill>
                <a:latin typeface="Poppins Light"/>
                <a:ea typeface="Poppins Light"/>
                <a:cs typeface="Poppins Light"/>
                <a:sym typeface="Poppins Light"/>
              </a:rPr>
              <a:t>2.</a:t>
            </a:r>
            <a:r>
              <a:rPr lang="en" sz="700">
                <a:solidFill>
                  <a:schemeClr val="dk1"/>
                </a:solidFill>
                <a:latin typeface="Poppins Light"/>
                <a:ea typeface="Poppins Light"/>
                <a:cs typeface="Poppins Light"/>
                <a:sym typeface="Poppins Light"/>
              </a:rPr>
              <a:t>  </a:t>
            </a:r>
            <a:r>
              <a:rPr lang="en" sz="1100">
                <a:solidFill>
                  <a:schemeClr val="dk1"/>
                </a:solidFill>
                <a:highlight>
                  <a:srgbClr val="FFFFFF"/>
                </a:highlight>
                <a:latin typeface="Poppins Light"/>
                <a:ea typeface="Poppins Light"/>
                <a:cs typeface="Poppins Light"/>
                <a:sym typeface="Poppins Light"/>
              </a:rPr>
              <a:t>Finc K, Bonna K, He X, Lydon-Staley DM, Kühn S, Duch W, Bassett DS. Dynamic reconfiguration of functional brain networks during working memory training. Nat Commun. 2020 May 15;11(1):2435. doi: 10.1038/s41467-020-15631-z. Erratum in: Nat Commun. 2020 Jul 30;11(1):3891. doi: 10.1038/s41467-020-17747-8. PMID: 32415206; PMCID: PMC7229188.</a:t>
            </a:r>
            <a:endParaRPr sz="1100">
              <a:solidFill>
                <a:schemeClr val="dk1"/>
              </a:solidFill>
              <a:highlight>
                <a:srgbClr val="FFFFFF"/>
              </a:highlight>
              <a:latin typeface="Poppins Light"/>
              <a:ea typeface="Poppins Light"/>
              <a:cs typeface="Poppins Light"/>
              <a:sym typeface="Poppins Light"/>
            </a:endParaRPr>
          </a:p>
          <a:p>
            <a:pPr indent="-228600" lvl="0" marL="228600" rtl="0" algn="just">
              <a:lnSpc>
                <a:spcPct val="100000"/>
              </a:lnSpc>
              <a:spcBef>
                <a:spcPts val="1200"/>
              </a:spcBef>
              <a:spcAft>
                <a:spcPts val="0"/>
              </a:spcAft>
              <a:buNone/>
            </a:pPr>
            <a:r>
              <a:rPr lang="en" sz="1100">
                <a:solidFill>
                  <a:schemeClr val="dk1"/>
                </a:solidFill>
                <a:latin typeface="Poppins Light"/>
                <a:ea typeface="Poppins Light"/>
                <a:cs typeface="Poppins Light"/>
                <a:sym typeface="Poppins Light"/>
              </a:rPr>
              <a:t>3.</a:t>
            </a:r>
            <a:r>
              <a:rPr lang="en" sz="700">
                <a:solidFill>
                  <a:schemeClr val="dk1"/>
                </a:solidFill>
                <a:latin typeface="Poppins Light"/>
                <a:ea typeface="Poppins Light"/>
                <a:cs typeface="Poppins Light"/>
                <a:sym typeface="Poppins Light"/>
              </a:rPr>
              <a:t> 	</a:t>
            </a:r>
            <a:r>
              <a:rPr lang="en" sz="1100">
                <a:solidFill>
                  <a:schemeClr val="dk1"/>
                </a:solidFill>
                <a:latin typeface="Poppins Light"/>
                <a:ea typeface="Poppins Light"/>
                <a:cs typeface="Poppins Light"/>
                <a:sym typeface="Poppins Light"/>
              </a:rPr>
              <a:t>Zhang H, Meng C, Di X, Wu X, Biswal B. Static and dynamic functional connectome reveals reconfiguration profiles of whole-brain network across cognitive states. Netw Neurosci. 2023 Oct 1;7(3):1034-1050. doi: 10.1162/netn_a_00314. PMID: 37781145; PMCID: PMC10473282.</a:t>
            </a:r>
            <a:endParaRPr sz="1100">
              <a:solidFill>
                <a:schemeClr val="dk1"/>
              </a:solidFill>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t/>
            </a:r>
            <a:endParaRPr sz="1100">
              <a:solidFill>
                <a:schemeClr val="dk1"/>
              </a:solidFill>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rPr lang="en" sz="1100">
                <a:solidFill>
                  <a:schemeClr val="dk1"/>
                </a:solidFill>
                <a:latin typeface="Poppins Light"/>
                <a:ea typeface="Poppins Light"/>
                <a:cs typeface="Poppins Light"/>
                <a:sym typeface="Poppins Light"/>
              </a:rPr>
              <a:t>4.</a:t>
            </a:r>
            <a:r>
              <a:rPr lang="en" sz="700">
                <a:solidFill>
                  <a:schemeClr val="dk1"/>
                </a:solidFill>
                <a:latin typeface="Poppins Light"/>
                <a:ea typeface="Poppins Light"/>
                <a:cs typeface="Poppins Light"/>
                <a:sym typeface="Poppins Light"/>
              </a:rPr>
              <a:t> 	</a:t>
            </a:r>
            <a:r>
              <a:rPr lang="en" sz="1100">
                <a:solidFill>
                  <a:schemeClr val="dk1"/>
                </a:solidFill>
                <a:highlight>
                  <a:srgbClr val="FFFFFF"/>
                </a:highlight>
                <a:latin typeface="Poppins Light"/>
                <a:ea typeface="Poppins Light"/>
                <a:cs typeface="Poppins Light"/>
                <a:sym typeface="Poppins Light"/>
              </a:rPr>
              <a:t>Shen X, Finn ES, Scheinost D, Rosenberg MD, Chun MM, Papademetris X, Constable RT. Using connectome-based predictive modeling to predict individual behavior from brain connectivity. Nat Protoc. 2017 Mar;12(3):506-518. doi: 10.1038/nprot.2016.178. Epub 2017 Feb 9. PMID: 28182017; PMCID: PMC5526681.</a:t>
            </a:r>
            <a:endParaRPr sz="1100">
              <a:solidFill>
                <a:schemeClr val="dk1"/>
              </a:solidFill>
              <a:highlight>
                <a:srgbClr val="FFFFFF"/>
              </a:highlight>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t/>
            </a:r>
            <a:endParaRPr sz="1100">
              <a:solidFill>
                <a:schemeClr val="dk1"/>
              </a:solidFill>
              <a:highlight>
                <a:srgbClr val="FFFFFF"/>
              </a:highlight>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rPr lang="en" sz="1100">
                <a:solidFill>
                  <a:schemeClr val="dk1"/>
                </a:solidFill>
                <a:latin typeface="Poppins Light"/>
                <a:ea typeface="Poppins Light"/>
                <a:cs typeface="Poppins Light"/>
                <a:sym typeface="Poppins Light"/>
              </a:rPr>
              <a:t>5.</a:t>
            </a:r>
            <a:r>
              <a:rPr lang="en" sz="700">
                <a:solidFill>
                  <a:schemeClr val="dk1"/>
                </a:solidFill>
                <a:latin typeface="Poppins Light"/>
                <a:ea typeface="Poppins Light"/>
                <a:cs typeface="Poppins Light"/>
                <a:sym typeface="Poppins Light"/>
              </a:rPr>
              <a:t> 	</a:t>
            </a:r>
            <a:r>
              <a:rPr lang="en" sz="1100">
                <a:solidFill>
                  <a:schemeClr val="dk1"/>
                </a:solidFill>
                <a:latin typeface="Poppins Light"/>
                <a:ea typeface="Poppins Light"/>
                <a:cs typeface="Poppins Light"/>
                <a:sym typeface="Poppins Light"/>
              </a:rPr>
              <a:t>Ray KL, Ragland JD, MacDonald AW, Gold JM, Silverstein SM, Barch DM, Carter CS. Dynamic reorganization of the frontal parietal network during cognitive control and episodic memory. Cogn Affect Behav Neurosci. 2020 Feb;20(1):76-90. doi: 10.3758/s13415-019-00753-9. PMID: 31811557; PMCID: PMC7018593.</a:t>
            </a:r>
            <a:endParaRPr>
              <a:solidFill>
                <a:schemeClr val="dk1"/>
              </a:solidFill>
              <a:latin typeface="Poppins Light"/>
              <a:ea typeface="Poppins Light"/>
              <a:cs typeface="Poppins Light"/>
              <a:sym typeface="Poppins Light"/>
            </a:endParaRPr>
          </a:p>
        </p:txBody>
      </p:sp>
      <p:sp>
        <p:nvSpPr>
          <p:cNvPr id="419" name="Google Shape;419;p34"/>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pic>
        <p:nvPicPr>
          <p:cNvPr id="424" name="Google Shape;424;p35"/>
          <p:cNvPicPr preferRelativeResize="0"/>
          <p:nvPr/>
        </p:nvPicPr>
        <p:blipFill>
          <a:blip r:embed="rId3">
            <a:alphaModFix amt="10000"/>
          </a:blip>
          <a:stretch>
            <a:fillRect/>
          </a:stretch>
        </p:blipFill>
        <p:spPr>
          <a:xfrm>
            <a:off x="0" y="0"/>
            <a:ext cx="9144003" cy="5143501"/>
          </a:xfrm>
          <a:prstGeom prst="rect">
            <a:avLst/>
          </a:prstGeom>
          <a:noFill/>
          <a:ln>
            <a:noFill/>
          </a:ln>
        </p:spPr>
      </p:pic>
      <p:sp>
        <p:nvSpPr>
          <p:cNvPr id="425" name="Google Shape;425;p35"/>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4500">
                <a:latin typeface="Poppins"/>
                <a:ea typeface="Poppins"/>
                <a:cs typeface="Poppins"/>
                <a:sym typeface="Poppins"/>
              </a:rPr>
              <a:t>Complementary Slides</a:t>
            </a:r>
            <a:endParaRPr sz="4500">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9" name="Shape 429"/>
        <p:cNvGrpSpPr/>
        <p:nvPr/>
      </p:nvGrpSpPr>
      <p:grpSpPr>
        <a:xfrm>
          <a:off x="0" y="0"/>
          <a:ext cx="0" cy="0"/>
          <a:chOff x="0" y="0"/>
          <a:chExt cx="0" cy="0"/>
        </a:xfrm>
      </p:grpSpPr>
      <p:sp>
        <p:nvSpPr>
          <p:cNvPr id="430" name="Google Shape;430;p36"/>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Complementary Slides</a:t>
            </a:r>
            <a:endParaRPr b="1">
              <a:latin typeface="Poppins"/>
              <a:ea typeface="Poppins"/>
              <a:cs typeface="Poppins"/>
              <a:sym typeface="Poppins"/>
            </a:endParaRPr>
          </a:p>
        </p:txBody>
      </p:sp>
      <p:sp>
        <p:nvSpPr>
          <p:cNvPr id="431" name="Google Shape;431;p36"/>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7"/>
          <p:cNvSpPr/>
          <p:nvPr/>
        </p:nvSpPr>
        <p:spPr>
          <a:xfrm>
            <a:off x="0" y="0"/>
            <a:ext cx="9144000" cy="5143500"/>
          </a:xfrm>
          <a:prstGeom prst="rect">
            <a:avLst/>
          </a:prstGeom>
          <a:solidFill>
            <a:srgbClr val="FF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37"/>
          <p:cNvSpPr/>
          <p:nvPr/>
        </p:nvSpPr>
        <p:spPr>
          <a:xfrm>
            <a:off x="0" y="4832033"/>
            <a:ext cx="9144000" cy="311400"/>
          </a:xfrm>
          <a:prstGeom prst="rect">
            <a:avLst/>
          </a:prstGeom>
          <a:solidFill>
            <a:srgbClr val="E4D6B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37"/>
          <p:cNvSpPr txBox="1"/>
          <p:nvPr/>
        </p:nvSpPr>
        <p:spPr>
          <a:xfrm>
            <a:off x="95250" y="4905375"/>
            <a:ext cx="4095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225"/>
              </a:spcAft>
              <a:buNone/>
            </a:pPr>
            <a:r>
              <a:rPr b="0" lang="en" sz="900">
                <a:solidFill>
                  <a:srgbClr val="000000"/>
                </a:solidFill>
                <a:latin typeface="Poppins SemiBold"/>
                <a:ea typeface="Poppins SemiBold"/>
                <a:cs typeface="Poppins SemiBold"/>
                <a:sym typeface="Poppins SemiBold"/>
              </a:rPr>
              <a:t>FC Reconfiguration in Working-Memory</a:t>
            </a:r>
            <a:endParaRPr b="0" sz="900">
              <a:solidFill>
                <a:srgbClr val="000000"/>
              </a:solidFill>
              <a:latin typeface="Poppins SemiBold"/>
              <a:ea typeface="Poppins SemiBold"/>
              <a:cs typeface="Poppins SemiBold"/>
              <a:sym typeface="Poppins SemiBold"/>
            </a:endParaRPr>
          </a:p>
        </p:txBody>
      </p:sp>
      <p:sp>
        <p:nvSpPr>
          <p:cNvPr id="439" name="Google Shape;439;p37"/>
          <p:cNvSpPr txBox="1"/>
          <p:nvPr/>
        </p:nvSpPr>
        <p:spPr>
          <a:xfrm>
            <a:off x="4953000" y="4905375"/>
            <a:ext cx="4095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225"/>
              </a:spcAft>
              <a:buNone/>
            </a:pPr>
            <a:r>
              <a:rPr b="0" lang="en" sz="900">
                <a:solidFill>
                  <a:srgbClr val="000000"/>
                </a:solidFill>
                <a:latin typeface="Poppins SemiBold"/>
                <a:ea typeface="Poppins SemiBold"/>
                <a:cs typeface="Poppins SemiBold"/>
                <a:sym typeface="Poppins SemiBold"/>
              </a:rPr>
              <a:t>The Gammas</a:t>
            </a:r>
            <a:endParaRPr b="0" sz="900">
              <a:solidFill>
                <a:srgbClr val="000000"/>
              </a:solidFill>
              <a:latin typeface="Poppins SemiBold"/>
              <a:ea typeface="Poppins SemiBold"/>
              <a:cs typeface="Poppins SemiBold"/>
              <a:sym typeface="Poppins SemiBold"/>
            </a:endParaRPr>
          </a:p>
        </p:txBody>
      </p:sp>
      <p:pic>
        <p:nvPicPr>
          <p:cNvPr id="440" name="Google Shape;440;p37"/>
          <p:cNvPicPr preferRelativeResize="0"/>
          <p:nvPr/>
        </p:nvPicPr>
        <p:blipFill rotWithShape="1">
          <a:blip r:embed="rId3">
            <a:alphaModFix/>
          </a:blip>
          <a:srcRect b="0" l="60" r="60" t="0"/>
          <a:stretch/>
        </p:blipFill>
        <p:spPr>
          <a:xfrm>
            <a:off x="4414838" y="4832033"/>
            <a:ext cx="313500" cy="311400"/>
          </a:xfrm>
          <a:prstGeom prst="rect">
            <a:avLst/>
          </a:prstGeom>
          <a:noFill/>
          <a:ln>
            <a:noFill/>
          </a:ln>
        </p:spPr>
      </p:pic>
      <p:sp>
        <p:nvSpPr>
          <p:cNvPr id="441" name="Google Shape;441;p37"/>
          <p:cNvSpPr txBox="1"/>
          <p:nvPr/>
        </p:nvSpPr>
        <p:spPr>
          <a:xfrm>
            <a:off x="304800" y="228600"/>
            <a:ext cx="8534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225"/>
              </a:spcAft>
              <a:buNone/>
            </a:pPr>
            <a:r>
              <a:rPr b="1" lang="en" sz="1600">
                <a:solidFill>
                  <a:srgbClr val="705C40"/>
                </a:solidFill>
                <a:latin typeface="Poppins"/>
                <a:ea typeface="Poppins"/>
                <a:cs typeface="Poppins"/>
                <a:sym typeface="Poppins"/>
              </a:rPr>
              <a:t>INTERNAL SLIDE: Compression map</a:t>
            </a:r>
            <a:endParaRPr b="1" sz="1600">
              <a:solidFill>
                <a:srgbClr val="705C40"/>
              </a:solidFill>
              <a:latin typeface="Poppins"/>
              <a:ea typeface="Poppins"/>
              <a:cs typeface="Poppins"/>
              <a:sym typeface="Poppins"/>
            </a:endParaRPr>
          </a:p>
        </p:txBody>
      </p:sp>
      <p:sp>
        <p:nvSpPr>
          <p:cNvPr id="442" name="Google Shape;442;p37"/>
          <p:cNvSpPr txBox="1"/>
          <p:nvPr/>
        </p:nvSpPr>
        <p:spPr>
          <a:xfrm>
            <a:off x="304800" y="714375"/>
            <a:ext cx="40482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225"/>
              </a:spcAft>
              <a:buNone/>
            </a:pPr>
            <a:r>
              <a:rPr b="1" lang="en" sz="1018">
                <a:solidFill>
                  <a:srgbClr val="705C40"/>
                </a:solidFill>
                <a:latin typeface="Poppins"/>
                <a:ea typeface="Poppins"/>
                <a:cs typeface="Poppins"/>
                <a:sym typeface="Poppins"/>
              </a:rPr>
              <a:t>15-Slide Internal-Review Version → Final Presentation Deck</a:t>
            </a:r>
            <a:endParaRPr b="1" sz="1018">
              <a:solidFill>
                <a:srgbClr val="705C40"/>
              </a:solidFill>
              <a:latin typeface="Poppins"/>
              <a:ea typeface="Poppins"/>
              <a:cs typeface="Poppins"/>
              <a:sym typeface="Poppins"/>
            </a:endParaRPr>
          </a:p>
        </p:txBody>
      </p:sp>
      <p:grpSp>
        <p:nvGrpSpPr>
          <p:cNvPr id="443" name="Google Shape;443;p37"/>
          <p:cNvGrpSpPr/>
          <p:nvPr/>
        </p:nvGrpSpPr>
        <p:grpSpPr>
          <a:xfrm>
            <a:off x="304800" y="1000125"/>
            <a:ext cx="4048200" cy="3667200"/>
            <a:chOff x="0" y="0"/>
            <a:chExt cx="4048200" cy="3667200"/>
          </a:xfrm>
        </p:grpSpPr>
        <p:sp>
          <p:nvSpPr>
            <p:cNvPr id="444" name="Google Shape;444;p37"/>
            <p:cNvSpPr/>
            <p:nvPr/>
          </p:nvSpPr>
          <p:spPr>
            <a:xfrm>
              <a:off x="0" y="0"/>
              <a:ext cx="4048200" cy="3667200"/>
            </a:xfrm>
            <a:prstGeom prst="roundRect">
              <a:avLst>
                <a:gd fmla="val 2077"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37"/>
            <p:cNvSpPr txBox="1"/>
            <p:nvPr/>
          </p:nvSpPr>
          <p:spPr>
            <a:xfrm>
              <a:off x="152400" y="152400"/>
              <a:ext cx="3743400" cy="33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705C40"/>
                  </a:solidFill>
                  <a:latin typeface="Poppins"/>
                  <a:ea typeface="Poppins"/>
                  <a:cs typeface="Poppins"/>
                  <a:sym typeface="Poppins"/>
                </a:rPr>
                <a:t>Spoken Slides (Deck 1)</a:t>
              </a:r>
              <a:endParaRPr b="1" sz="950">
                <a:solidFill>
                  <a:srgbClr val="705C40"/>
                </a:solidFill>
                <a:latin typeface="Poppins"/>
                <a:ea typeface="Poppins"/>
                <a:cs typeface="Poppins"/>
                <a:sym typeface="Poppins"/>
              </a:endParaRPr>
            </a:p>
            <a:p>
              <a:pPr indent="0" lvl="0" marL="0" rtl="0" algn="l">
                <a:spcBef>
                  <a:spcPts val="900"/>
                </a:spcBef>
                <a:spcAft>
                  <a:spcPts val="0"/>
                </a:spcAft>
                <a:buNone/>
              </a:pPr>
              <a:r>
                <a:rPr b="1" lang="en" sz="850">
                  <a:solidFill>
                    <a:srgbClr val="705C40"/>
                  </a:solidFill>
                  <a:latin typeface="Poppins"/>
                  <a:ea typeface="Poppins"/>
                  <a:cs typeface="Poppins"/>
                  <a:sym typeface="Poppins"/>
                </a:rPr>
                <a:t>Slide 3: </a:t>
              </a:r>
              <a:r>
                <a:rPr lang="en" sz="850">
                  <a:solidFill>
                    <a:srgbClr val="202729"/>
                  </a:solidFill>
                  <a:latin typeface="Poppins"/>
                  <a:ea typeface="Poppins"/>
                  <a:cs typeface="Poppins"/>
                  <a:sym typeface="Poppins"/>
                </a:rPr>
                <a:t>Absorbs Question and both hypotheses into one opening beat.</a:t>
              </a:r>
              <a:endParaRPr sz="850">
                <a:solidFill>
                  <a:srgbClr val="202729"/>
                </a:solidFill>
                <a:latin typeface="Poppins"/>
                <a:ea typeface="Poppins"/>
                <a:cs typeface="Poppins"/>
                <a:sym typeface="Poppins"/>
              </a:endParaRPr>
            </a:p>
            <a:p>
              <a:pPr indent="0" lvl="0" marL="0" rtl="0" algn="l">
                <a:spcBef>
                  <a:spcPts val="600"/>
                </a:spcBef>
                <a:spcAft>
                  <a:spcPts val="0"/>
                </a:spcAft>
                <a:buNone/>
              </a:pPr>
              <a:r>
                <a:rPr b="1" lang="en" sz="850">
                  <a:solidFill>
                    <a:srgbClr val="705C40"/>
                  </a:solidFill>
                  <a:latin typeface="Poppins"/>
                  <a:ea typeface="Poppins"/>
                  <a:cs typeface="Poppins"/>
                  <a:sym typeface="Poppins"/>
                </a:rPr>
                <a:t>Slide 4: </a:t>
              </a:r>
              <a:r>
                <a:rPr lang="en" sz="850">
                  <a:solidFill>
                    <a:srgbClr val="202729"/>
                  </a:solidFill>
                  <a:latin typeface="Poppins"/>
                  <a:ea typeface="Poppins"/>
                  <a:cs typeface="Poppins"/>
                  <a:sym typeface="Poppins"/>
                </a:rPr>
                <a:t>Cohorts, feature construction, and evaluation mapped to a pipeline schematic.</a:t>
              </a:r>
              <a:endParaRPr sz="850">
                <a:solidFill>
                  <a:srgbClr val="202729"/>
                </a:solidFill>
                <a:latin typeface="Poppins"/>
                <a:ea typeface="Poppins"/>
                <a:cs typeface="Poppins"/>
                <a:sym typeface="Poppins"/>
              </a:endParaRPr>
            </a:p>
            <a:p>
              <a:pPr indent="0" lvl="0" marL="0" rtl="0" algn="l">
                <a:spcBef>
                  <a:spcPts val="600"/>
                </a:spcBef>
                <a:spcAft>
                  <a:spcPts val="0"/>
                </a:spcAft>
                <a:buNone/>
              </a:pPr>
              <a:r>
                <a:rPr b="1" lang="en" sz="850">
                  <a:solidFill>
                    <a:srgbClr val="705C40"/>
                  </a:solidFill>
                  <a:latin typeface="Poppins"/>
                  <a:ea typeface="Poppins"/>
                  <a:cs typeface="Poppins"/>
                  <a:sym typeface="Poppins"/>
                </a:rPr>
                <a:t>Slide 5: </a:t>
              </a:r>
              <a:r>
                <a:rPr lang="en" sz="850">
                  <a:solidFill>
                    <a:srgbClr val="202729"/>
                  </a:solidFill>
                  <a:latin typeface="Poppins"/>
                  <a:ea typeface="Poppins"/>
                  <a:cs typeface="Poppins"/>
                  <a:sym typeface="Poppins"/>
                </a:rPr>
                <a:t>Focuses on Primary CV and transfer (sub-checks demoted to backup Slide 9).</a:t>
              </a:r>
              <a:endParaRPr sz="850">
                <a:solidFill>
                  <a:srgbClr val="202729"/>
                </a:solidFill>
                <a:latin typeface="Poppins"/>
                <a:ea typeface="Poppins"/>
                <a:cs typeface="Poppins"/>
                <a:sym typeface="Poppins"/>
              </a:endParaRPr>
            </a:p>
            <a:p>
              <a:pPr indent="0" lvl="0" marL="0" rtl="0" algn="l">
                <a:spcBef>
                  <a:spcPts val="600"/>
                </a:spcBef>
                <a:spcAft>
                  <a:spcPts val="0"/>
                </a:spcAft>
                <a:buNone/>
              </a:pPr>
              <a:r>
                <a:rPr b="1" lang="en" sz="850">
                  <a:solidFill>
                    <a:srgbClr val="705C40"/>
                  </a:solidFill>
                  <a:latin typeface="Poppins"/>
                  <a:ea typeface="Poppins"/>
                  <a:cs typeface="Poppins"/>
                  <a:sym typeface="Poppins"/>
                </a:rPr>
                <a:t>Slide 6: </a:t>
              </a:r>
              <a:r>
                <a:rPr lang="en" sz="850">
                  <a:solidFill>
                    <a:srgbClr val="202729"/>
                  </a:solidFill>
                  <a:latin typeface="Poppins"/>
                  <a:ea typeface="Poppins"/>
                  <a:cs typeface="Poppins"/>
                  <a:sym typeface="Poppins"/>
                </a:rPr>
                <a:t>Directional refinement &amp; activation benchmark (segregation figure demoted to backup 8).</a:t>
              </a:r>
              <a:endParaRPr sz="850">
                <a:solidFill>
                  <a:srgbClr val="202729"/>
                </a:solidFill>
                <a:latin typeface="Poppins"/>
                <a:ea typeface="Poppins"/>
                <a:cs typeface="Poppins"/>
                <a:sym typeface="Poppins"/>
              </a:endParaRPr>
            </a:p>
            <a:p>
              <a:pPr indent="0" lvl="0" marL="0" rtl="0" algn="l">
                <a:spcBef>
                  <a:spcPts val="600"/>
                </a:spcBef>
                <a:spcAft>
                  <a:spcPts val="600"/>
                </a:spcAft>
                <a:buNone/>
              </a:pPr>
              <a:r>
                <a:rPr b="1" lang="en" sz="850">
                  <a:solidFill>
                    <a:srgbClr val="705C40"/>
                  </a:solidFill>
                  <a:latin typeface="Poppins"/>
                  <a:ea typeface="Poppins"/>
                  <a:cs typeface="Poppins"/>
                  <a:sym typeface="Poppins"/>
                </a:rPr>
                <a:t>Slide 7: </a:t>
              </a:r>
              <a:r>
                <a:rPr lang="en" sz="850">
                  <a:solidFill>
                    <a:srgbClr val="202729"/>
                  </a:solidFill>
                  <a:latin typeface="Poppins"/>
                  <a:ea typeface="Poppins"/>
                  <a:cs typeface="Poppins"/>
                  <a:sym typeface="Poppins"/>
                </a:rPr>
                <a:t>Conclusion, explicitly naming both opening hypotheses.</a:t>
              </a:r>
              <a:endParaRPr sz="850">
                <a:solidFill>
                  <a:srgbClr val="202729"/>
                </a:solidFill>
                <a:latin typeface="Poppins"/>
                <a:ea typeface="Poppins"/>
                <a:cs typeface="Poppins"/>
                <a:sym typeface="Poppins"/>
              </a:endParaRPr>
            </a:p>
          </p:txBody>
        </p:sp>
      </p:grpSp>
      <p:grpSp>
        <p:nvGrpSpPr>
          <p:cNvPr id="446" name="Google Shape;446;p37"/>
          <p:cNvGrpSpPr/>
          <p:nvPr/>
        </p:nvGrpSpPr>
        <p:grpSpPr>
          <a:xfrm>
            <a:off x="4695825" y="1000125"/>
            <a:ext cx="4143300" cy="3667200"/>
            <a:chOff x="0" y="0"/>
            <a:chExt cx="4143300" cy="3667200"/>
          </a:xfrm>
        </p:grpSpPr>
        <p:sp>
          <p:nvSpPr>
            <p:cNvPr id="447" name="Google Shape;447;p37"/>
            <p:cNvSpPr/>
            <p:nvPr/>
          </p:nvSpPr>
          <p:spPr>
            <a:xfrm>
              <a:off x="0" y="0"/>
              <a:ext cx="4143300" cy="3667200"/>
            </a:xfrm>
            <a:prstGeom prst="roundRect">
              <a:avLst>
                <a:gd fmla="val 2077" name="adj"/>
              </a:avLst>
            </a:prstGeom>
            <a:solidFill>
              <a:srgbClr val="FFFDF9"/>
            </a:solidFill>
            <a:ln cap="flat" cmpd="sng" w="14300">
              <a:solidFill>
                <a:srgbClr val="E4D6B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37"/>
            <p:cNvSpPr txBox="1"/>
            <p:nvPr/>
          </p:nvSpPr>
          <p:spPr>
            <a:xfrm>
              <a:off x="152400" y="152400"/>
              <a:ext cx="3838500" cy="33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705C40"/>
                  </a:solidFill>
                  <a:latin typeface="Poppins"/>
                  <a:ea typeface="Poppins"/>
                  <a:cs typeface="Poppins"/>
                  <a:sym typeface="Poppins"/>
                </a:rPr>
                <a:t>Backup &amp; Omitted Assets</a:t>
              </a:r>
              <a:endParaRPr b="1" sz="950">
                <a:solidFill>
                  <a:srgbClr val="705C40"/>
                </a:solidFill>
                <a:latin typeface="Poppins"/>
                <a:ea typeface="Poppins"/>
                <a:cs typeface="Poppins"/>
                <a:sym typeface="Poppins"/>
              </a:endParaRPr>
            </a:p>
            <a:p>
              <a:pPr indent="0" lvl="0" marL="0" rtl="0" algn="l">
                <a:spcBef>
                  <a:spcPts val="900"/>
                </a:spcBef>
                <a:spcAft>
                  <a:spcPts val="0"/>
                </a:spcAft>
                <a:buNone/>
              </a:pPr>
              <a:r>
                <a:rPr b="1" lang="en" sz="850">
                  <a:solidFill>
                    <a:srgbClr val="705C40"/>
                  </a:solidFill>
                  <a:latin typeface="Poppins"/>
                  <a:ea typeface="Poppins"/>
                  <a:cs typeface="Poppins"/>
                  <a:sym typeface="Poppins"/>
                </a:rPr>
                <a:t>Backup Slide 8: </a:t>
              </a:r>
              <a:r>
                <a:rPr lang="en" sz="850">
                  <a:solidFill>
                    <a:srgbClr val="202729"/>
                  </a:solidFill>
                  <a:latin typeface="Poppins"/>
                  <a:ea typeface="Poppins"/>
                  <a:cs typeface="Poppins"/>
                  <a:sym typeface="Poppins"/>
                </a:rPr>
                <a:t>Directional figure and full statistics.</a:t>
              </a:r>
              <a:endParaRPr sz="850">
                <a:solidFill>
                  <a:srgbClr val="202729"/>
                </a:solidFill>
                <a:latin typeface="Poppins"/>
                <a:ea typeface="Poppins"/>
                <a:cs typeface="Poppins"/>
                <a:sym typeface="Poppins"/>
              </a:endParaRPr>
            </a:p>
            <a:p>
              <a:pPr indent="0" lvl="0" marL="0" rtl="0" algn="l">
                <a:spcBef>
                  <a:spcPts val="450"/>
                </a:spcBef>
                <a:spcAft>
                  <a:spcPts val="0"/>
                </a:spcAft>
                <a:buNone/>
              </a:pPr>
              <a:r>
                <a:rPr b="1" lang="en" sz="850">
                  <a:solidFill>
                    <a:srgbClr val="705C40"/>
                  </a:solidFill>
                  <a:latin typeface="Poppins"/>
                  <a:ea typeface="Poppins"/>
                  <a:cs typeface="Poppins"/>
                  <a:sym typeface="Poppins"/>
                </a:rPr>
                <a:t>Backup Slide 9: </a:t>
              </a:r>
              <a:r>
                <a:rPr lang="en" sz="850">
                  <a:solidFill>
                    <a:srgbClr val="202729"/>
                  </a:solidFill>
                  <a:latin typeface="Poppins"/>
                  <a:ea typeface="Poppins"/>
                  <a:cs typeface="Poppins"/>
                  <a:sym typeface="Poppins"/>
                </a:rPr>
                <a:t>Null, fixed holdout, and incremental test.</a:t>
              </a:r>
              <a:endParaRPr sz="850">
                <a:solidFill>
                  <a:srgbClr val="202729"/>
                </a:solidFill>
                <a:latin typeface="Poppins"/>
                <a:ea typeface="Poppins"/>
                <a:cs typeface="Poppins"/>
                <a:sym typeface="Poppins"/>
              </a:endParaRPr>
            </a:p>
            <a:p>
              <a:pPr indent="0" lvl="0" marL="0" rtl="0" algn="l">
                <a:spcBef>
                  <a:spcPts val="450"/>
                </a:spcBef>
                <a:spcAft>
                  <a:spcPts val="0"/>
                </a:spcAft>
                <a:buNone/>
              </a:pPr>
              <a:r>
                <a:rPr b="1" lang="en" sz="850">
                  <a:solidFill>
                    <a:srgbClr val="705C40"/>
                  </a:solidFill>
                  <a:latin typeface="Poppins"/>
                  <a:ea typeface="Poppins"/>
                  <a:cs typeface="Poppins"/>
                  <a:sym typeface="Poppins"/>
                </a:rPr>
                <a:t>Backup Slide 10: </a:t>
              </a:r>
              <a:r>
                <a:rPr lang="en" sz="850">
                  <a:solidFill>
                    <a:srgbClr val="202729"/>
                  </a:solidFill>
                  <a:latin typeface="Poppins"/>
                  <a:ea typeface="Poppins"/>
                  <a:cs typeface="Poppins"/>
                  <a:sym typeface="Poppins"/>
                </a:rPr>
                <a:t>Future work, expanded to four tests.</a:t>
              </a:r>
              <a:endParaRPr sz="850">
                <a:solidFill>
                  <a:srgbClr val="202729"/>
                </a:solidFill>
                <a:latin typeface="Poppins"/>
                <a:ea typeface="Poppins"/>
                <a:cs typeface="Poppins"/>
                <a:sym typeface="Poppins"/>
              </a:endParaRPr>
            </a:p>
            <a:p>
              <a:pPr indent="0" lvl="0" marL="0" rtl="0" algn="l">
                <a:spcBef>
                  <a:spcPts val="750"/>
                </a:spcBef>
                <a:spcAft>
                  <a:spcPts val="0"/>
                </a:spcAft>
                <a:buNone/>
              </a:pPr>
              <a:r>
                <a:rPr b="1" lang="en" sz="900">
                  <a:solidFill>
                    <a:srgbClr val="705C40"/>
                  </a:solidFill>
                  <a:latin typeface="Poppins"/>
                  <a:ea typeface="Poppins"/>
                  <a:cs typeface="Poppins"/>
                  <a:sym typeface="Poppins"/>
                </a:rPr>
                <a:t>Omitted Assets:</a:t>
              </a:r>
              <a:endParaRPr b="1" sz="900">
                <a:solidFill>
                  <a:srgbClr val="705C40"/>
                </a:solidFill>
                <a:latin typeface="Poppins"/>
                <a:ea typeface="Poppins"/>
                <a:cs typeface="Poppins"/>
                <a:sym typeface="Poppins"/>
              </a:endParaRPr>
            </a:p>
            <a:p>
              <a:pPr indent="-279400" lvl="0" marL="457200" rtl="0" algn="l">
                <a:spcBef>
                  <a:spcPts val="300"/>
                </a:spcBef>
                <a:spcAft>
                  <a:spcPts val="0"/>
                </a:spcAft>
                <a:buClr>
                  <a:srgbClr val="202729"/>
                </a:buClr>
                <a:buSzPts val="800"/>
                <a:buFont typeface="Poppins"/>
                <a:buChar char="●"/>
              </a:pPr>
              <a:r>
                <a:rPr lang="en" sz="800">
                  <a:solidFill>
                    <a:srgbClr val="202729"/>
                  </a:solidFill>
                  <a:latin typeface="Poppins"/>
                  <a:ea typeface="Poppins"/>
                  <a:cs typeface="Poppins"/>
                  <a:sym typeface="Poppins"/>
                </a:rPr>
                <a:t>Internal Slide 10 (anatomical context) stays out of both decks.</a:t>
              </a:r>
              <a:endParaRPr sz="800">
                <a:solidFill>
                  <a:srgbClr val="202729"/>
                </a:solidFill>
                <a:latin typeface="Poppins"/>
                <a:ea typeface="Poppins"/>
                <a:cs typeface="Poppins"/>
                <a:sym typeface="Poppins"/>
              </a:endParaRPr>
            </a:p>
            <a:p>
              <a:pPr indent="-279400" lvl="0" marL="457200" rtl="0" algn="l">
                <a:spcBef>
                  <a:spcPts val="300"/>
                </a:spcBef>
                <a:spcAft>
                  <a:spcPts val="300"/>
                </a:spcAft>
                <a:buClr>
                  <a:srgbClr val="202729"/>
                </a:buClr>
                <a:buSzPts val="800"/>
                <a:buFont typeface="Poppins"/>
                <a:buChar char="●"/>
              </a:pPr>
              <a:r>
                <a:rPr lang="en" sz="800">
                  <a:solidFill>
                    <a:srgbClr val="202729"/>
                  </a:solidFill>
                  <a:latin typeface="Poppins"/>
                  <a:ea typeface="Poppins"/>
                  <a:cs typeface="Poppins"/>
                  <a:sym typeface="Poppins"/>
                </a:rPr>
                <a:t>Several assets remain unassigned in the chart library: condition-fc-contrast, anatomical-context, feature-construction, primary-repeated-cv, and incremental-fc-test.</a:t>
              </a:r>
              <a:endParaRPr sz="800">
                <a:solidFill>
                  <a:srgbClr val="202729"/>
                </a:solidFill>
                <a:latin typeface="Poppins"/>
                <a:ea typeface="Poppins"/>
                <a:cs typeface="Poppins"/>
                <a:sym typeface="Poppin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