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5" r:id="rId5"/>
    <p:sldMasterId id="214748367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Poppins"/>
      <p:regular r:id="rId23"/>
      <p:bold r:id="rId24"/>
      <p:italic r:id="rId25"/>
      <p:boldItalic r:id="rId26"/>
    </p:embeddedFont>
    <p:embeddedFont>
      <p:font typeface="Inter"/>
      <p:regular r:id="rId27"/>
      <p:bold r:id="rId28"/>
      <p:italic r:id="rId29"/>
      <p:boldItalic r:id="rId30"/>
    </p:embeddedFont>
    <p:embeddedFont>
      <p:font typeface="Poppins Light"/>
      <p:regular r:id="rId31"/>
      <p:bold r:id="rId32"/>
      <p:italic r:id="rId33"/>
      <p:boldItalic r:id="rId34"/>
    </p:embeddedFont>
    <p:embeddedFont>
      <p:font typeface="Poppins Medium"/>
      <p:regular r:id="rId35"/>
      <p:bold r:id="rId36"/>
      <p:italic r:id="rId37"/>
      <p:boldItalic r:id="rId38"/>
    </p:embeddedFont>
    <p:embeddedFont>
      <p:font typeface="Poppins SemiBold"/>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Valeria Moraga Ramír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bold.fntdata"/><Relationship Id="rId20" Type="http://schemas.openxmlformats.org/officeDocument/2006/relationships/slide" Target="slides/slide13.xml"/><Relationship Id="rId42" Type="http://schemas.openxmlformats.org/officeDocument/2006/relationships/font" Target="fonts/PoppinsSemiBold-boldItalic.fntdata"/><Relationship Id="rId41" Type="http://schemas.openxmlformats.org/officeDocument/2006/relationships/font" Target="fonts/PoppinsSemi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ter-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Light-regular.fntdata"/><Relationship Id="rId30" Type="http://schemas.openxmlformats.org/officeDocument/2006/relationships/font" Target="fonts/Inter-boldItalic.fntdata"/><Relationship Id="rId11" Type="http://schemas.openxmlformats.org/officeDocument/2006/relationships/slide" Target="slides/slide4.xml"/><Relationship Id="rId33" Type="http://schemas.openxmlformats.org/officeDocument/2006/relationships/font" Target="fonts/PoppinsLight-italic.fntdata"/><Relationship Id="rId10" Type="http://schemas.openxmlformats.org/officeDocument/2006/relationships/slide" Target="slides/slide3.xml"/><Relationship Id="rId32" Type="http://schemas.openxmlformats.org/officeDocument/2006/relationships/font" Target="fonts/PoppinsLight-bold.fntdata"/><Relationship Id="rId13" Type="http://schemas.openxmlformats.org/officeDocument/2006/relationships/slide" Target="slides/slide6.xml"/><Relationship Id="rId35" Type="http://schemas.openxmlformats.org/officeDocument/2006/relationships/font" Target="fonts/PoppinsMedium-regular.fntdata"/><Relationship Id="rId12" Type="http://schemas.openxmlformats.org/officeDocument/2006/relationships/slide" Target="slides/slide5.xml"/><Relationship Id="rId34" Type="http://schemas.openxmlformats.org/officeDocument/2006/relationships/font" Target="fonts/PoppinsLight-boldItalic.fntdata"/><Relationship Id="rId15" Type="http://schemas.openxmlformats.org/officeDocument/2006/relationships/slide" Target="slides/slide8.xml"/><Relationship Id="rId37" Type="http://schemas.openxmlformats.org/officeDocument/2006/relationships/font" Target="fonts/PoppinsMedium-italic.fntdata"/><Relationship Id="rId14" Type="http://schemas.openxmlformats.org/officeDocument/2006/relationships/slide" Target="slides/slide7.xml"/><Relationship Id="rId36" Type="http://schemas.openxmlformats.org/officeDocument/2006/relationships/font" Target="fonts/PoppinsMedium-bold.fntdata"/><Relationship Id="rId17" Type="http://schemas.openxmlformats.org/officeDocument/2006/relationships/slide" Target="slides/slide10.xml"/><Relationship Id="rId39" Type="http://schemas.openxmlformats.org/officeDocument/2006/relationships/font" Target="fonts/PoppinsSemiBold-regular.fntdata"/><Relationship Id="rId16" Type="http://schemas.openxmlformats.org/officeDocument/2006/relationships/slide" Target="slides/slide9.xml"/><Relationship Id="rId38" Type="http://schemas.openxmlformats.org/officeDocument/2006/relationships/font" Target="fonts/PoppinsMedium-boldItalic.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20T09:22:12.486">
    <p:pos x="321" y="792"/>
    <p:text>Could be also: Behaviour of Functional Connectivity in Working-Memory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7-22T15:12:12.997">
    <p:pos x="6000" y="0"/>
    <p:text>use 02 of pipeline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7-22T14:46:46.023">
    <p:pos x="6000" y="0"/>
    <p:text>The 78-feature FC reconfiguration fingerprint predicts WM performance: repeated-CV r ≈ 0.366.
The FC model transfers to cohort A: B → A r ≈ 0.398
Reconfiguration does not show a clear incremental gain over 0-back FC: ΔR² ≈ +0.034 ± 0.023
Regional activation predicts more strongly: r ≈ 0.60 pooled and r ≈ 0.48 across held-out people and runs
Adding FC over activation shows no clear improvement in this analysis: ΔR² ≈ −0.003.</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e51dc41796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e51dc41796_2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56a045bc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f56a045bc0_0_5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56a045bc0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f56a045bc0_0_4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58e38d1a4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f58e38d1a4_2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56a045bc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f56a045bc0_0_2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55a497b0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55a497b0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56a045bc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f56a045bc0_0_3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56a045bc0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f56a045bc0_0_6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56a045b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f56a045b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58e38d1a4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f58e38d1a4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56a045b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56a045b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58e38d1a4_2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3f58e38d1a4_2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58e38d1a4_2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f58e38d1a4_2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58e38d1a4_2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f58e38d1a4_2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58e38d1a4_2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58e38d1a4_2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05C40"/>
        </a:solidFill>
      </p:bgPr>
    </p:bg>
    <p:spTree>
      <p:nvGrpSpPr>
        <p:cNvPr id="54"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cap="flat" cmpd="sng" w="19050">
            <a:solidFill>
              <a:srgbClr val="D9D9D9"/>
            </a:solidFill>
            <a:prstDash val="solid"/>
            <a:round/>
            <a:headEnd len="sm" w="sm" type="none"/>
            <a:tailEnd len="sm" w="sm" type="none"/>
          </a:ln>
        </p:spPr>
      </p:cxnSp>
      <p:sp>
        <p:nvSpPr>
          <p:cNvPr id="56" name="Google Shape;56;p14"/>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7" name="Google Shape;57;p14"/>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58" name="Google Shape;5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9" name="Google Shape;59;p14"/>
          <p:cNvPicPr preferRelativeResize="0"/>
          <p:nvPr/>
        </p:nvPicPr>
        <p:blipFill rotWithShape="1">
          <a:blip r:embed="rId2">
            <a:alphaModFix/>
          </a:blip>
          <a:srcRect b="0" l="0" r="0" t="0"/>
          <a:stretch/>
        </p:blipFill>
        <p:spPr>
          <a:xfrm>
            <a:off x="586650" y="4221433"/>
            <a:ext cx="2857500" cy="68826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0" name="Shape 60"/>
        <p:cNvGrpSpPr/>
        <p:nvPr/>
      </p:nvGrpSpPr>
      <p:grpSpPr>
        <a:xfrm>
          <a:off x="0" y="0"/>
          <a:ext cx="0" cy="0"/>
          <a:chOff x="0" y="0"/>
          <a:chExt cx="0" cy="0"/>
        </a:xfrm>
      </p:grpSpPr>
      <p:cxnSp>
        <p:nvCxnSpPr>
          <p:cNvPr id="61" name="Google Shape;61;p15"/>
          <p:cNvCxnSpPr/>
          <p:nvPr/>
        </p:nvCxnSpPr>
        <p:spPr>
          <a:xfrm>
            <a:off x="0" y="2998150"/>
            <a:ext cx="9144000" cy="0"/>
          </a:xfrm>
          <a:prstGeom prst="straightConnector1">
            <a:avLst/>
          </a:prstGeom>
          <a:noFill/>
          <a:ln cap="flat" cmpd="sng" w="19050">
            <a:solidFill>
              <a:srgbClr val="D9D9D9"/>
            </a:solidFill>
            <a:prstDash val="solid"/>
            <a:round/>
            <a:headEnd len="sm" w="sm" type="none"/>
            <a:tailEnd len="sm" w="sm" type="none"/>
          </a:ln>
        </p:spPr>
      </p:cxnSp>
      <p:sp>
        <p:nvSpPr>
          <p:cNvPr id="62" name="Google Shape;62;p15"/>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3" name="Google Shape;6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64" name="Google Shape;64;p15"/>
          <p:cNvPicPr preferRelativeResize="0"/>
          <p:nvPr/>
        </p:nvPicPr>
        <p:blipFill rotWithShape="1">
          <a:blip r:embed="rId2">
            <a:alphaModFix/>
          </a:blip>
          <a:srcRect b="0" l="0" r="0" t="0"/>
          <a:stretch/>
        </p:blipFill>
        <p:spPr>
          <a:xfrm>
            <a:off x="586650" y="4221433"/>
            <a:ext cx="2857500" cy="68826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uromatch Academy" type="tx">
  <p:cSld name="TITLE_AND_BODY">
    <p:spTree>
      <p:nvGrpSpPr>
        <p:cNvPr id="65" name="Shape 65"/>
        <p:cNvGrpSpPr/>
        <p:nvPr/>
      </p:nvGrpSpPr>
      <p:grpSpPr>
        <a:xfrm>
          <a:off x="0" y="0"/>
          <a:ext cx="0" cy="0"/>
          <a:chOff x="0" y="0"/>
          <a:chExt cx="0" cy="0"/>
        </a:xfrm>
      </p:grpSpPr>
      <p:sp>
        <p:nvSpPr>
          <p:cNvPr id="66" name="Google Shape;66;p16"/>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 name="Google Shape;6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9" name="Google Shape;69;p16"/>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70" name="Google Shape;70;p16"/>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6"/>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i="0" sz="1200" u="none" cap="none" strike="noStrike">
              <a:solidFill>
                <a:srgbClr val="000000"/>
              </a:solidFill>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i="0" sz="1200" u="none" cap="none" strike="noStrike">
              <a:solidFill>
                <a:srgbClr val="000000"/>
              </a:solidFill>
              <a:latin typeface="Poppins SemiBold"/>
              <a:ea typeface="Poppins SemiBold"/>
              <a:cs typeface="Poppins SemiBold"/>
              <a:sym typeface="Poppins SemiBold"/>
            </a:endParaRPr>
          </a:p>
        </p:txBody>
      </p:sp>
      <p:pic>
        <p:nvPicPr>
          <p:cNvPr id="72" name="Google Shape;72;p16"/>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6" name="Google Shape;76;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7" name="Google Shape;77;p17"/>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7"/>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Speaker name ⦁ Topic of day</a:t>
            </a:r>
            <a:endParaRPr b="1" i="0" sz="1200" u="none" cap="none" strike="noStrike">
              <a:solidFill>
                <a:srgbClr val="000000"/>
              </a:solidFill>
              <a:latin typeface="Arial"/>
              <a:ea typeface="Arial"/>
              <a:cs typeface="Arial"/>
              <a:sym typeface="Arial"/>
            </a:endParaRPr>
          </a:p>
        </p:txBody>
      </p:sp>
      <p:sp>
        <p:nvSpPr>
          <p:cNvPr id="79" name="Google Shape;79;p17"/>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7"/>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Week 2 ⦁ Day 1 ⦁ Tutorial 3</a:t>
            </a:r>
            <a:endParaRPr b="1" i="0" sz="1200" u="none" cap="none" strike="noStrike">
              <a:solidFill>
                <a:srgbClr val="000000"/>
              </a:solidFill>
              <a:latin typeface="Arial"/>
              <a:ea typeface="Arial"/>
              <a:cs typeface="Arial"/>
              <a:sym typeface="Arial"/>
            </a:endParaRPr>
          </a:p>
        </p:txBody>
      </p:sp>
      <p:pic>
        <p:nvPicPr>
          <p:cNvPr id="81" name="Google Shape;81;p17"/>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4" name="Google Shape;84;p18"/>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8"/>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86" name="Google Shape;86;p18"/>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8"/>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88" name="Google Shape;88;p18"/>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1" name="Google Shape;91;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92" name="Google Shape;92;p19"/>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9"/>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94" name="Google Shape;94;p19"/>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9"/>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96" name="Google Shape;96;p19"/>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D9D9D9"/>
        </a:solidFill>
      </p:bgPr>
    </p:bg>
    <p:spTree>
      <p:nvGrpSpPr>
        <p:cNvPr id="97" name="Shape 97"/>
        <p:cNvGrpSpPr/>
        <p:nvPr/>
      </p:nvGrpSpPr>
      <p:grpSpPr>
        <a:xfrm>
          <a:off x="0" y="0"/>
          <a:ext cx="0" cy="0"/>
          <a:chOff x="0" y="0"/>
          <a:chExt cx="0" cy="0"/>
        </a:xfrm>
      </p:grpSpPr>
      <p:sp>
        <p:nvSpPr>
          <p:cNvPr id="98" name="Google Shape;98;p20"/>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9" name="Google Shape;9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0" name="Google Shape;100;p20"/>
          <p:cNvPicPr preferRelativeResize="0"/>
          <p:nvPr/>
        </p:nvPicPr>
        <p:blipFill rotWithShape="1">
          <a:blip r:embed="rId2">
            <a:alphaModFix/>
          </a:blip>
          <a:srcRect b="0" l="0" r="0" t="0"/>
          <a:stretch/>
        </p:blipFill>
        <p:spPr>
          <a:xfrm>
            <a:off x="586650" y="4221433"/>
            <a:ext cx="2857500" cy="68826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1" name="Shape 101"/>
        <p:cNvGrpSpPr/>
        <p:nvPr/>
      </p:nvGrpSpPr>
      <p:grpSpPr>
        <a:xfrm>
          <a:off x="0" y="0"/>
          <a:ext cx="0" cy="0"/>
          <a:chOff x="0" y="0"/>
          <a:chExt cx="0" cy="0"/>
        </a:xfrm>
      </p:grpSpPr>
      <p:sp>
        <p:nvSpPr>
          <p:cNvPr id="102" name="Google Shape;102;p21"/>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3" name="Google Shape;103;p21"/>
          <p:cNvCxnSpPr/>
          <p:nvPr/>
        </p:nvCxnSpPr>
        <p:spPr>
          <a:xfrm>
            <a:off x="5029675" y="4495500"/>
            <a:ext cx="468300" cy="0"/>
          </a:xfrm>
          <a:prstGeom prst="straightConnector1">
            <a:avLst/>
          </a:prstGeom>
          <a:noFill/>
          <a:ln cap="flat" cmpd="sng" w="19050">
            <a:solidFill>
              <a:srgbClr val="D9D9D9"/>
            </a:solidFill>
            <a:prstDash val="solid"/>
            <a:round/>
            <a:headEnd len="sm" w="sm" type="none"/>
            <a:tailEnd len="sm" w="sm" type="none"/>
          </a:ln>
        </p:spPr>
      </p:cxnSp>
      <p:sp>
        <p:nvSpPr>
          <p:cNvPr id="104" name="Google Shape;104;p21"/>
          <p:cNvSpPr txBox="1"/>
          <p:nvPr>
            <p:ph type="title"/>
          </p:nvPr>
        </p:nvSpPr>
        <p:spPr>
          <a:xfrm>
            <a:off x="265500" y="1205825"/>
            <a:ext cx="4045200" cy="150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5" name="Google Shape;105;p21"/>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6" name="Google Shape;106;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107" name="Google Shape;107;p21"/>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1"/>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How we built this</a:t>
            </a:r>
            <a:endParaRPr b="1" i="0" sz="1200" u="none" cap="none" strike="noStrike">
              <a:solidFill>
                <a:srgbClr val="000000"/>
              </a:solidFill>
              <a:latin typeface="Arial"/>
              <a:ea typeface="Arial"/>
              <a:cs typeface="Arial"/>
              <a:sym typeface="Arial"/>
            </a:endParaRPr>
          </a:p>
        </p:txBody>
      </p:sp>
      <p:sp>
        <p:nvSpPr>
          <p:cNvPr id="109" name="Google Shape;109;p21"/>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1"/>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Professional Development Session</a:t>
            </a:r>
            <a:endParaRPr b="1" i="0" sz="12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pic>
        <p:nvPicPr>
          <p:cNvPr id="111" name="Google Shape;111;p21"/>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sp>
        <p:nvSpPr>
          <p:cNvPr id="113" name="Google Shape;113;p22"/>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114" name="Google Shape;114;p22"/>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15" name="Google Shape;115;p22"/>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2"/>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Speaker name ⦁ Topic of day</a:t>
            </a:r>
            <a:endParaRPr b="1" i="0" sz="1200" u="none" cap="none" strike="noStrike">
              <a:solidFill>
                <a:srgbClr val="000000"/>
              </a:solidFill>
              <a:latin typeface="Arial"/>
              <a:ea typeface="Arial"/>
              <a:cs typeface="Arial"/>
              <a:sym typeface="Arial"/>
            </a:endParaRPr>
          </a:p>
        </p:txBody>
      </p:sp>
      <p:sp>
        <p:nvSpPr>
          <p:cNvPr id="117" name="Google Shape;117;p22"/>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2"/>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Week 2 ⦁ Day 1 ⦁ Tutorial 3</a:t>
            </a:r>
            <a:endParaRPr b="1" i="0" sz="1200" u="none" cap="none" strike="noStrike">
              <a:solidFill>
                <a:srgbClr val="000000"/>
              </a:solidFill>
              <a:latin typeface="Arial"/>
              <a:ea typeface="Arial"/>
              <a:cs typeface="Arial"/>
              <a:sym typeface="Arial"/>
            </a:endParaRPr>
          </a:p>
        </p:txBody>
      </p:sp>
      <p:pic>
        <p:nvPicPr>
          <p:cNvPr id="119" name="Google Shape;119;p22"/>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0" name="Shape 120"/>
        <p:cNvGrpSpPr/>
        <p:nvPr/>
      </p:nvGrpSpPr>
      <p:grpSpPr>
        <a:xfrm>
          <a:off x="0" y="0"/>
          <a:ext cx="0" cy="0"/>
          <a:chOff x="0" y="0"/>
          <a:chExt cx="0" cy="0"/>
        </a:xfrm>
      </p:grpSpPr>
      <p:sp>
        <p:nvSpPr>
          <p:cNvPr id="121" name="Google Shape;121;p23"/>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3"/>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23" name="Google Shape;123;p23"/>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3"/>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25" name="Google Shape;125;p23"/>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26" name="Shape 126"/>
        <p:cNvGrpSpPr/>
        <p:nvPr/>
      </p:nvGrpSpPr>
      <p:grpSpPr>
        <a:xfrm>
          <a:off x="0" y="0"/>
          <a:ext cx="0" cy="0"/>
          <a:chOff x="0" y="0"/>
          <a:chExt cx="0" cy="0"/>
        </a:xfrm>
      </p:grpSpPr>
      <p:sp>
        <p:nvSpPr>
          <p:cNvPr id="127" name="Google Shape;127;p24"/>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4"/>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29" name="Google Shape;129;p24"/>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4"/>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31" name="Google Shape;131;p24"/>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132" name="Google Shape;132;p24"/>
          <p:cNvGrpSpPr/>
          <p:nvPr/>
        </p:nvGrpSpPr>
        <p:grpSpPr>
          <a:xfrm>
            <a:off x="-454575" y="145445"/>
            <a:ext cx="10053697" cy="924524"/>
            <a:chOff x="0" y="-47625"/>
            <a:chExt cx="5295600" cy="1100100"/>
          </a:xfrm>
        </p:grpSpPr>
        <p:sp>
          <p:nvSpPr>
            <p:cNvPr id="133" name="Google Shape;133;p24"/>
            <p:cNvSpPr/>
            <p:nvPr/>
          </p:nvSpPr>
          <p:spPr>
            <a:xfrm>
              <a:off x="0" y="0"/>
              <a:ext cx="5295481" cy="1052333"/>
            </a:xfrm>
            <a:custGeom>
              <a:rect b="b" l="l" r="r" t="t"/>
              <a:pathLst>
                <a:path extrusionOk="0" h="1052333" w="5295481">
                  <a:moveTo>
                    <a:pt x="0" y="0"/>
                  </a:moveTo>
                  <a:lnTo>
                    <a:pt x="5295481" y="0"/>
                  </a:lnTo>
                  <a:lnTo>
                    <a:pt x="5295481" y="1052333"/>
                  </a:lnTo>
                  <a:lnTo>
                    <a:pt x="0" y="1052333"/>
                  </a:lnTo>
                  <a:close/>
                </a:path>
              </a:pathLst>
            </a:custGeom>
            <a:solidFill>
              <a:srgbClr val="EAD6B8"/>
            </a:solidFill>
            <a:ln>
              <a:noFill/>
            </a:ln>
          </p:spPr>
        </p:sp>
        <p:sp>
          <p:nvSpPr>
            <p:cNvPr id="134" name="Google Shape;134;p24"/>
            <p:cNvSpPr txBox="1"/>
            <p:nvPr/>
          </p:nvSpPr>
          <p:spPr>
            <a:xfrm>
              <a:off x="0" y="-47625"/>
              <a:ext cx="5295600" cy="11001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spTree>
      <p:nvGrpSpPr>
        <p:cNvPr id="135" name="Shape 135"/>
        <p:cNvGrpSpPr/>
        <p:nvPr/>
      </p:nvGrpSpPr>
      <p:grpSpPr>
        <a:xfrm>
          <a:off x="0" y="0"/>
          <a:ext cx="0" cy="0"/>
          <a:chOff x="0" y="0"/>
          <a:chExt cx="0" cy="0"/>
        </a:xfrm>
      </p:grpSpPr>
      <p:sp>
        <p:nvSpPr>
          <p:cNvPr id="136" name="Google Shape;136;p25"/>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5"/>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38" name="Google Shape;138;p25"/>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25"/>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40" name="Google Shape;140;p25"/>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141" name="Google Shape;141;p25"/>
          <p:cNvGrpSpPr/>
          <p:nvPr/>
        </p:nvGrpSpPr>
        <p:grpSpPr>
          <a:xfrm>
            <a:off x="-373366" y="370011"/>
            <a:ext cx="695990" cy="4313202"/>
            <a:chOff x="0" y="-47625"/>
            <a:chExt cx="366600" cy="2271900"/>
          </a:xfrm>
        </p:grpSpPr>
        <p:sp>
          <p:nvSpPr>
            <p:cNvPr id="142" name="Google Shape;142;p25"/>
            <p:cNvSpPr/>
            <p:nvPr/>
          </p:nvSpPr>
          <p:spPr>
            <a:xfrm>
              <a:off x="0" y="0"/>
              <a:ext cx="366483" cy="2224275"/>
            </a:xfrm>
            <a:custGeom>
              <a:rect b="b" l="l" r="r" t="t"/>
              <a:pathLst>
                <a:path extrusionOk="0" h="2224275" w="366483">
                  <a:moveTo>
                    <a:pt x="0" y="0"/>
                  </a:moveTo>
                  <a:lnTo>
                    <a:pt x="366483" y="0"/>
                  </a:lnTo>
                  <a:lnTo>
                    <a:pt x="366483" y="2224275"/>
                  </a:lnTo>
                  <a:lnTo>
                    <a:pt x="0" y="2224275"/>
                  </a:lnTo>
                  <a:close/>
                </a:path>
              </a:pathLst>
            </a:custGeom>
            <a:solidFill>
              <a:srgbClr val="EAD6B8"/>
            </a:solidFill>
            <a:ln>
              <a:noFill/>
            </a:ln>
          </p:spPr>
        </p:sp>
        <p:sp>
          <p:nvSpPr>
            <p:cNvPr id="143" name="Google Shape;143;p25"/>
            <p:cNvSpPr txBox="1"/>
            <p:nvPr/>
          </p:nvSpPr>
          <p:spPr>
            <a:xfrm>
              <a:off x="0" y="-47625"/>
              <a:ext cx="366600" cy="22719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3">
    <p:spTree>
      <p:nvGrpSpPr>
        <p:cNvPr id="144" name="Shape 144"/>
        <p:cNvGrpSpPr/>
        <p:nvPr/>
      </p:nvGrpSpPr>
      <p:grpSpPr>
        <a:xfrm>
          <a:off x="0" y="0"/>
          <a:ext cx="0" cy="0"/>
          <a:chOff x="0" y="0"/>
          <a:chExt cx="0" cy="0"/>
        </a:xfrm>
      </p:grpSpPr>
      <p:sp>
        <p:nvSpPr>
          <p:cNvPr id="145" name="Google Shape;145;p26"/>
          <p:cNvSpPr/>
          <p:nvPr/>
        </p:nvSpPr>
        <p:spPr>
          <a:xfrm>
            <a:off x="0" y="4832150"/>
            <a:ext cx="9144000" cy="311700"/>
          </a:xfrm>
          <a:prstGeom prst="rect">
            <a:avLst/>
          </a:prstGeom>
          <a:solidFill>
            <a:srgbClr val="EAD6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6"/>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47" name="Google Shape;147;p26"/>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6"/>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49" name="Google Shape;149;p26"/>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4">
  <p:cSld name="BLANK_4">
    <p:spTree>
      <p:nvGrpSpPr>
        <p:cNvPr id="150" name="Shape 150"/>
        <p:cNvGrpSpPr/>
        <p:nvPr/>
      </p:nvGrpSpPr>
      <p:grpSpPr>
        <a:xfrm>
          <a:off x="0" y="0"/>
          <a:ext cx="0" cy="0"/>
          <a:chOff x="0" y="0"/>
          <a:chExt cx="0" cy="0"/>
        </a:xfrm>
      </p:grpSpPr>
      <p:sp>
        <p:nvSpPr>
          <p:cNvPr id="151" name="Google Shape;151;p27"/>
          <p:cNvSpPr/>
          <p:nvPr/>
        </p:nvSpPr>
        <p:spPr>
          <a:xfrm>
            <a:off x="0" y="4832150"/>
            <a:ext cx="9144000" cy="311700"/>
          </a:xfrm>
          <a:prstGeom prst="rect">
            <a:avLst/>
          </a:prstGeom>
          <a:solidFill>
            <a:srgbClr val="E4D6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7"/>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53" name="Google Shape;153;p27"/>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7"/>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55" name="Google Shape;155;p27"/>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156" name="Google Shape;156;p27"/>
          <p:cNvGrpSpPr/>
          <p:nvPr/>
        </p:nvGrpSpPr>
        <p:grpSpPr>
          <a:xfrm>
            <a:off x="3840825" y="-328700"/>
            <a:ext cx="5895982" cy="4662856"/>
            <a:chOff x="0" y="-47625"/>
            <a:chExt cx="3105600" cy="3008100"/>
          </a:xfrm>
        </p:grpSpPr>
        <p:sp>
          <p:nvSpPr>
            <p:cNvPr id="157" name="Google Shape;157;p27"/>
            <p:cNvSpPr/>
            <p:nvPr/>
          </p:nvSpPr>
          <p:spPr>
            <a:xfrm>
              <a:off x="0" y="0"/>
              <a:ext cx="3105469" cy="2960376"/>
            </a:xfrm>
            <a:custGeom>
              <a:rect b="b" l="l" r="r" t="t"/>
              <a:pathLst>
                <a:path extrusionOk="0" h="2960376" w="3105469">
                  <a:moveTo>
                    <a:pt x="0" y="0"/>
                  </a:moveTo>
                  <a:lnTo>
                    <a:pt x="3105469" y="0"/>
                  </a:lnTo>
                  <a:lnTo>
                    <a:pt x="3105469" y="2960376"/>
                  </a:lnTo>
                  <a:lnTo>
                    <a:pt x="0" y="2960376"/>
                  </a:lnTo>
                  <a:close/>
                </a:path>
              </a:pathLst>
            </a:custGeom>
            <a:solidFill>
              <a:srgbClr val="EAD6B8"/>
            </a:solidFill>
            <a:ln>
              <a:noFill/>
            </a:ln>
          </p:spPr>
        </p:sp>
        <p:sp>
          <p:nvSpPr>
            <p:cNvPr id="158" name="Google Shape;158;p27"/>
            <p:cNvSpPr txBox="1"/>
            <p:nvPr/>
          </p:nvSpPr>
          <p:spPr>
            <a:xfrm>
              <a:off x="0" y="-47625"/>
              <a:ext cx="3105600" cy="30081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5">
  <p:cSld name="BLANK_5">
    <p:spTree>
      <p:nvGrpSpPr>
        <p:cNvPr id="159" name="Shape 159"/>
        <p:cNvGrpSpPr/>
        <p:nvPr/>
      </p:nvGrpSpPr>
      <p:grpSpPr>
        <a:xfrm>
          <a:off x="0" y="0"/>
          <a:ext cx="0" cy="0"/>
          <a:chOff x="0" y="0"/>
          <a:chExt cx="0" cy="0"/>
        </a:xfrm>
      </p:grpSpPr>
      <p:sp>
        <p:nvSpPr>
          <p:cNvPr id="160" name="Google Shape;160;p28"/>
          <p:cNvSpPr/>
          <p:nvPr/>
        </p:nvSpPr>
        <p:spPr>
          <a:xfrm>
            <a:off x="0" y="4832150"/>
            <a:ext cx="9144000" cy="311700"/>
          </a:xfrm>
          <a:prstGeom prst="rect">
            <a:avLst/>
          </a:prstGeom>
          <a:solidFill>
            <a:srgbClr val="E4D6B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8"/>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62" name="Google Shape;162;p28"/>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63" name="Google Shape;163;p28"/>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64" name="Google Shape;164;p28"/>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grpSp>
        <p:nvGrpSpPr>
          <p:cNvPr id="165" name="Google Shape;165;p28"/>
          <p:cNvGrpSpPr/>
          <p:nvPr/>
        </p:nvGrpSpPr>
        <p:grpSpPr>
          <a:xfrm>
            <a:off x="-771525" y="1178383"/>
            <a:ext cx="4331054" cy="2668342"/>
            <a:chOff x="0" y="-47625"/>
            <a:chExt cx="2281303" cy="1405500"/>
          </a:xfrm>
        </p:grpSpPr>
        <p:sp>
          <p:nvSpPr>
            <p:cNvPr id="166" name="Google Shape;166;p28"/>
            <p:cNvSpPr/>
            <p:nvPr/>
          </p:nvSpPr>
          <p:spPr>
            <a:xfrm>
              <a:off x="0" y="0"/>
              <a:ext cx="2281303" cy="1357780"/>
            </a:xfrm>
            <a:custGeom>
              <a:rect b="b" l="l" r="r" t="t"/>
              <a:pathLst>
                <a:path extrusionOk="0" h="1357780" w="2281303">
                  <a:moveTo>
                    <a:pt x="0" y="0"/>
                  </a:moveTo>
                  <a:lnTo>
                    <a:pt x="2281303" y="0"/>
                  </a:lnTo>
                  <a:lnTo>
                    <a:pt x="2281303" y="1357780"/>
                  </a:lnTo>
                  <a:lnTo>
                    <a:pt x="0" y="1357780"/>
                  </a:lnTo>
                  <a:close/>
                </a:path>
              </a:pathLst>
            </a:custGeom>
            <a:solidFill>
              <a:srgbClr val="EAD6B8"/>
            </a:solidFill>
            <a:ln>
              <a:noFill/>
            </a:ln>
          </p:spPr>
        </p:sp>
        <p:sp>
          <p:nvSpPr>
            <p:cNvPr id="167" name="Google Shape;167;p28"/>
            <p:cNvSpPr txBox="1"/>
            <p:nvPr/>
          </p:nvSpPr>
          <p:spPr>
            <a:xfrm>
              <a:off x="0" y="-47625"/>
              <a:ext cx="2281200" cy="14055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6">
  <p:cSld name="BLANK_6">
    <p:spTree>
      <p:nvGrpSpPr>
        <p:cNvPr id="168" name="Shape 168"/>
        <p:cNvGrpSpPr/>
        <p:nvPr/>
      </p:nvGrpSpPr>
      <p:grpSpPr>
        <a:xfrm>
          <a:off x="0" y="0"/>
          <a:ext cx="0" cy="0"/>
          <a:chOff x="0" y="0"/>
          <a:chExt cx="0" cy="0"/>
        </a:xfrm>
      </p:grpSpPr>
      <p:sp>
        <p:nvSpPr>
          <p:cNvPr id="169" name="Google Shape;169;p29"/>
          <p:cNvSpPr/>
          <p:nvPr/>
        </p:nvSpPr>
        <p:spPr>
          <a:xfrm>
            <a:off x="0" y="4832150"/>
            <a:ext cx="9144000" cy="3117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9"/>
          <p:cNvSpPr txBox="1"/>
          <p:nvPr/>
        </p:nvSpPr>
        <p:spPr>
          <a:xfrm>
            <a:off x="90525" y="4844025"/>
            <a:ext cx="40923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FC Reconfiguration in Working-Memory</a:t>
            </a:r>
            <a:endParaRPr sz="1200">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sp>
        <p:nvSpPr>
          <p:cNvPr id="171" name="Google Shape;171;p29"/>
          <p:cNvSpPr txBox="1"/>
          <p:nvPr>
            <p:ph idx="12" type="sldNum"/>
          </p:nvPr>
        </p:nvSpPr>
        <p:spPr>
          <a:xfrm>
            <a:off x="8472450" y="4821325"/>
            <a:ext cx="548700" cy="33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1pPr>
            <a:lvl2pPr indent="0" lvl="1"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2pPr>
            <a:lvl3pPr indent="0" lvl="2"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3pPr>
            <a:lvl4pPr indent="0" lvl="3"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4pPr>
            <a:lvl5pPr indent="0" lvl="4"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5pPr>
            <a:lvl6pPr indent="0" lvl="5"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6pPr>
            <a:lvl7pPr indent="0" lvl="6"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7pPr>
            <a:lvl8pPr indent="0" lvl="7"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8pPr>
            <a:lvl9pPr indent="0" lvl="8" marL="0" marR="0" algn="r">
              <a:lnSpc>
                <a:spcPct val="100000"/>
              </a:lnSpc>
              <a:spcBef>
                <a:spcPts val="0"/>
              </a:spcBef>
              <a:spcAft>
                <a:spcPts val="0"/>
              </a:spcAft>
              <a:buClr>
                <a:srgbClr val="000000"/>
              </a:buClr>
              <a:buSzPts val="1200"/>
              <a:buFont typeface="Arial"/>
              <a:buNone/>
              <a:defRPr i="0" sz="1200" u="none" cap="none" strike="noStrike">
                <a:solidFill>
                  <a:schemeClr val="dk1"/>
                </a:solidFill>
                <a:latin typeface="Poppins SemiBold"/>
                <a:ea typeface="Poppins SemiBold"/>
                <a:cs typeface="Poppins SemiBold"/>
                <a:sym typeface="Poppins SemiBold"/>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29"/>
          <p:cNvSpPr txBox="1"/>
          <p:nvPr/>
        </p:nvSpPr>
        <p:spPr>
          <a:xfrm>
            <a:off x="5043525" y="4844025"/>
            <a:ext cx="3539100" cy="33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sz="1200">
                <a:latin typeface="Poppins SemiBold"/>
                <a:ea typeface="Poppins SemiBold"/>
                <a:cs typeface="Poppins SemiBold"/>
                <a:sym typeface="Poppins SemiBold"/>
              </a:rPr>
              <a:t>The Gammas</a:t>
            </a:r>
            <a:endParaRPr sz="1200">
              <a:latin typeface="Poppins SemiBold"/>
              <a:ea typeface="Poppins SemiBold"/>
              <a:cs typeface="Poppins SemiBold"/>
              <a:sym typeface="Poppins SemiBold"/>
            </a:endParaRPr>
          </a:p>
          <a:p>
            <a:pPr indent="0" lvl="0" marL="0" marR="0" rtl="0" algn="r">
              <a:lnSpc>
                <a:spcPct val="100000"/>
              </a:lnSpc>
              <a:spcBef>
                <a:spcPts val="0"/>
              </a:spcBef>
              <a:spcAft>
                <a:spcPts val="0"/>
              </a:spcAft>
              <a:buClr>
                <a:srgbClr val="000000"/>
              </a:buClr>
              <a:buSzPts val="1200"/>
              <a:buFont typeface="Arial"/>
              <a:buNone/>
            </a:pPr>
            <a:r>
              <a:t/>
            </a:r>
            <a:endParaRPr sz="1200">
              <a:latin typeface="Poppins SemiBold"/>
              <a:ea typeface="Poppins SemiBold"/>
              <a:cs typeface="Poppins SemiBold"/>
              <a:sym typeface="Poppins SemiBold"/>
            </a:endParaRPr>
          </a:p>
        </p:txBody>
      </p:sp>
      <p:pic>
        <p:nvPicPr>
          <p:cNvPr id="173" name="Google Shape;173;p29"/>
          <p:cNvPicPr preferRelativeResize="0"/>
          <p:nvPr/>
        </p:nvPicPr>
        <p:blipFill rotWithShape="1">
          <a:blip r:embed="rId2">
            <a:alphaModFix/>
          </a:blip>
          <a:srcRect b="0" l="0" r="0" t="0"/>
          <a:stretch/>
        </p:blipFill>
        <p:spPr>
          <a:xfrm>
            <a:off x="4456188" y="4832150"/>
            <a:ext cx="313980" cy="3117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theme" Target="../theme/theme1.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chemeClr val="accent3"/>
              </a:buClr>
              <a:buSzPts val="1800"/>
              <a:buFont typeface="Arial"/>
              <a:buChar char="●"/>
              <a:defRPr b="0" i="0" sz="1800" u="none" cap="none" strike="noStrike">
                <a:solidFill>
                  <a:schemeClr val="accent3"/>
                </a:solidFill>
                <a:latin typeface="Arial"/>
                <a:ea typeface="Arial"/>
                <a:cs typeface="Arial"/>
                <a:sym typeface="Arial"/>
              </a:defRPr>
            </a:lvl1pPr>
            <a:lvl2pPr indent="-317500" lvl="1" marL="9144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2pPr>
            <a:lvl3pPr indent="-317500" lvl="2" marL="13716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3pPr>
            <a:lvl4pPr indent="-317500" lvl="3" marL="18288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4pPr>
            <a:lvl5pPr indent="-317500" lvl="4" marL="22860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5pPr>
            <a:lvl6pPr indent="-317500" lvl="5" marL="27432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6pPr>
            <a:lvl7pPr indent="-317500" lvl="6" marL="32004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7pPr>
            <a:lvl8pPr indent="-317500" lvl="7" marL="3657600" marR="0" algn="l">
              <a:lnSpc>
                <a:spcPct val="115000"/>
              </a:lnSpc>
              <a:spcBef>
                <a:spcPts val="1600"/>
              </a:spcBef>
              <a:spcAft>
                <a:spcPts val="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8pPr>
            <a:lvl9pPr indent="-317500" lvl="8" marL="4114800" marR="0" algn="l">
              <a:lnSpc>
                <a:spcPct val="115000"/>
              </a:lnSpc>
              <a:spcBef>
                <a:spcPts val="1600"/>
              </a:spcBef>
              <a:spcAft>
                <a:spcPts val="1600"/>
              </a:spcAft>
              <a:buClr>
                <a:schemeClr val="accent3"/>
              </a:buClr>
              <a:buSzPts val="1400"/>
              <a:buFont typeface="Arial"/>
              <a:buChar char="■"/>
              <a:defRPr b="0" i="0" sz="1400" u="none" cap="none" strike="noStrike">
                <a:solidFill>
                  <a:schemeClr val="accent3"/>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jpg"/><Relationship Id="rId5" Type="http://schemas.openxmlformats.org/officeDocument/2006/relationships/image" Target="../media/image10.jpg"/><Relationship Id="rId6" Type="http://schemas.openxmlformats.org/officeDocument/2006/relationships/image" Target="../media/image7.jpg"/><Relationship Id="rId7"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comments" Target="../comments/commen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30"/>
          <p:cNvPicPr preferRelativeResize="0"/>
          <p:nvPr/>
        </p:nvPicPr>
        <p:blipFill>
          <a:blip r:embed="rId4">
            <a:alphaModFix amt="10000"/>
          </a:blip>
          <a:stretch>
            <a:fillRect/>
          </a:stretch>
        </p:blipFill>
        <p:spPr>
          <a:xfrm>
            <a:off x="0" y="0"/>
            <a:ext cx="9144003" cy="5143501"/>
          </a:xfrm>
          <a:prstGeom prst="rect">
            <a:avLst/>
          </a:prstGeom>
          <a:noFill/>
          <a:ln>
            <a:noFill/>
          </a:ln>
        </p:spPr>
      </p:pic>
      <p:sp>
        <p:nvSpPr>
          <p:cNvPr id="179" name="Google Shape;179;p30"/>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4500">
                <a:latin typeface="Poppins"/>
                <a:ea typeface="Poppins"/>
                <a:cs typeface="Poppins"/>
                <a:sym typeface="Poppins"/>
              </a:rPr>
              <a:t>Functional Connectivity Reconfiguration</a:t>
            </a:r>
            <a:endParaRPr sz="4500">
              <a:latin typeface="Poppins"/>
              <a:ea typeface="Poppins"/>
              <a:cs typeface="Poppins"/>
              <a:sym typeface="Poppins"/>
            </a:endParaRPr>
          </a:p>
          <a:p>
            <a:pPr indent="0" lvl="0" marL="0" rtl="0" algn="l">
              <a:lnSpc>
                <a:spcPct val="100000"/>
              </a:lnSpc>
              <a:spcBef>
                <a:spcPts val="0"/>
              </a:spcBef>
              <a:spcAft>
                <a:spcPts val="0"/>
              </a:spcAft>
              <a:buSzPts val="4800"/>
              <a:buNone/>
            </a:pPr>
            <a:r>
              <a:rPr lang="en" sz="4500">
                <a:latin typeface="Poppins"/>
                <a:ea typeface="Poppins"/>
                <a:cs typeface="Poppins"/>
                <a:sym typeface="Poppins"/>
              </a:rPr>
              <a:t>in N-back Working-Memory</a:t>
            </a:r>
            <a:endParaRPr sz="4500">
              <a:latin typeface="Poppins"/>
              <a:ea typeface="Poppins"/>
              <a:cs typeface="Poppins"/>
              <a:sym typeface="Poppins"/>
            </a:endParaRPr>
          </a:p>
        </p:txBody>
      </p:sp>
      <p:sp>
        <p:nvSpPr>
          <p:cNvPr id="180" name="Google Shape;180;p30"/>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500">
                <a:latin typeface="Poppins Light"/>
                <a:ea typeface="Poppins Light"/>
                <a:cs typeface="Poppins Light"/>
                <a:sym typeface="Poppins Light"/>
              </a:rPr>
              <a:t>By: Arefeh Lali Dehaghi, Goutham Arcod, Jaime Pineda, Kerem Akyurt, Valeria Moraga</a:t>
            </a:r>
            <a:endParaRPr sz="1500">
              <a:latin typeface="Poppins Light"/>
              <a:ea typeface="Poppins Light"/>
              <a:cs typeface="Poppins Light"/>
              <a:sym typeface="Poppins Light"/>
            </a:endParaRPr>
          </a:p>
          <a:p>
            <a:pPr indent="0" lvl="0" marL="0" rtl="0" algn="l">
              <a:lnSpc>
                <a:spcPct val="100000"/>
              </a:lnSpc>
              <a:spcBef>
                <a:spcPts val="0"/>
              </a:spcBef>
              <a:spcAft>
                <a:spcPts val="0"/>
              </a:spcAft>
              <a:buSzPts val="2400"/>
              <a:buNone/>
            </a:pPr>
            <a:r>
              <a:rPr lang="en" sz="1500">
                <a:latin typeface="Poppins Light"/>
                <a:ea typeface="Poppins Light"/>
                <a:cs typeface="Poppins Light"/>
                <a:sym typeface="Poppins Light"/>
              </a:rPr>
              <a:t>Ifrit Ras el Hanout - </a:t>
            </a:r>
            <a:r>
              <a:rPr lang="en" sz="1500">
                <a:latin typeface="Poppins Light"/>
                <a:ea typeface="Poppins Light"/>
                <a:cs typeface="Poppins Light"/>
                <a:sym typeface="Poppins Light"/>
              </a:rPr>
              <a:t>The Gammas</a:t>
            </a:r>
            <a:endParaRPr sz="1500">
              <a:latin typeface="Poppins Light"/>
              <a:ea typeface="Poppins Light"/>
              <a:cs typeface="Poppins Light"/>
              <a:sym typeface="Poppi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p:nvPr/>
        </p:nvSpPr>
        <p:spPr>
          <a:xfrm>
            <a:off x="514350" y="1587571"/>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3">
              <a:alphaModFix/>
            </a:blip>
            <a:stretch>
              <a:fillRect b="-106951" l="-17039" r="-21109" t="-411"/>
            </a:stretch>
          </a:blipFill>
          <a:ln>
            <a:noFill/>
          </a:ln>
        </p:spPr>
      </p:sp>
      <p:sp>
        <p:nvSpPr>
          <p:cNvPr id="186" name="Google Shape;186;p31"/>
          <p:cNvSpPr/>
          <p:nvPr/>
        </p:nvSpPr>
        <p:spPr>
          <a:xfrm>
            <a:off x="3317452" y="1587571"/>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4">
              <a:alphaModFix/>
            </a:blip>
            <a:stretch>
              <a:fillRect b="-41549" l="-68989" r="-72358" t="-19350"/>
            </a:stretch>
          </a:blipFill>
          <a:ln>
            <a:noFill/>
          </a:ln>
        </p:spPr>
      </p:sp>
      <p:sp>
        <p:nvSpPr>
          <p:cNvPr id="187" name="Google Shape;187;p31"/>
          <p:cNvSpPr/>
          <p:nvPr/>
        </p:nvSpPr>
        <p:spPr>
          <a:xfrm>
            <a:off x="1373688" y="3176933"/>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5">
              <a:alphaModFix/>
            </a:blip>
            <a:stretch>
              <a:fillRect b="-46110" l="0" r="0" t="-3889"/>
            </a:stretch>
          </a:blipFill>
          <a:ln>
            <a:noFill/>
          </a:ln>
        </p:spPr>
      </p:sp>
      <p:sp>
        <p:nvSpPr>
          <p:cNvPr id="188" name="Google Shape;188;p31"/>
          <p:cNvSpPr/>
          <p:nvPr/>
        </p:nvSpPr>
        <p:spPr>
          <a:xfrm>
            <a:off x="6120555" y="1587571"/>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6">
              <a:alphaModFix/>
            </a:blip>
            <a:stretch>
              <a:fillRect b="-36310" l="-79308" r="-24899" t="0"/>
            </a:stretch>
          </a:blipFill>
          <a:ln>
            <a:noFill/>
          </a:ln>
        </p:spPr>
      </p:sp>
      <p:sp>
        <p:nvSpPr>
          <p:cNvPr id="189" name="Google Shape;189;p31"/>
          <p:cNvSpPr/>
          <p:nvPr/>
        </p:nvSpPr>
        <p:spPr>
          <a:xfrm>
            <a:off x="4987280" y="3176933"/>
            <a:ext cx="924560" cy="924560"/>
          </a:xfrm>
          <a:custGeom>
            <a:rect b="b" l="l" r="r" t="t"/>
            <a:pathLst>
              <a:path extrusionOk="0" h="812800" w="812800">
                <a:moveTo>
                  <a:pt x="0" y="0"/>
                </a:moveTo>
                <a:lnTo>
                  <a:pt x="812800" y="0"/>
                </a:lnTo>
                <a:lnTo>
                  <a:pt x="812800" y="812800"/>
                </a:lnTo>
                <a:lnTo>
                  <a:pt x="0" y="812800"/>
                </a:lnTo>
                <a:close/>
              </a:path>
            </a:pathLst>
          </a:custGeom>
          <a:blipFill rotWithShape="1">
            <a:blip r:embed="rId7">
              <a:alphaModFix/>
            </a:blip>
            <a:stretch>
              <a:fillRect b="-127169" l="-118245" r="-122715" t="0"/>
            </a:stretch>
          </a:blipFill>
          <a:ln>
            <a:noFill/>
          </a:ln>
        </p:spPr>
      </p:sp>
      <p:sp>
        <p:nvSpPr>
          <p:cNvPr id="190" name="Google Shape;190;p31"/>
          <p:cNvSpPr txBox="1"/>
          <p:nvPr/>
        </p:nvSpPr>
        <p:spPr>
          <a:xfrm>
            <a:off x="1647860" y="234595"/>
            <a:ext cx="5848500" cy="7233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700">
                <a:latin typeface="Poppins"/>
                <a:ea typeface="Poppins"/>
                <a:cs typeface="Poppins"/>
                <a:sym typeface="Poppins"/>
              </a:rPr>
              <a:t>Meet our team!</a:t>
            </a:r>
            <a:endParaRPr sz="700"/>
          </a:p>
        </p:txBody>
      </p:sp>
      <p:sp>
        <p:nvSpPr>
          <p:cNvPr id="191" name="Google Shape;191;p31"/>
          <p:cNvSpPr txBox="1"/>
          <p:nvPr/>
        </p:nvSpPr>
        <p:spPr>
          <a:xfrm>
            <a:off x="1533940" y="1777700"/>
            <a:ext cx="1754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Clr>
                <a:srgbClr val="000000"/>
              </a:buClr>
              <a:buFont typeface="Arial"/>
              <a:buNone/>
            </a:pPr>
            <a:r>
              <a:rPr lang="en">
                <a:latin typeface="Poppins SemiBold"/>
                <a:ea typeface="Poppins SemiBold"/>
                <a:cs typeface="Poppins SemiBold"/>
                <a:sym typeface="Poppins SemiBold"/>
              </a:rPr>
              <a:t>Arefeh Lali Dehaghi</a:t>
            </a:r>
            <a:endParaRPr sz="700">
              <a:latin typeface="Poppins SemiBold"/>
              <a:ea typeface="Poppins SemiBold"/>
              <a:cs typeface="Poppins SemiBold"/>
              <a:sym typeface="Poppins SemiBold"/>
            </a:endParaRPr>
          </a:p>
        </p:txBody>
      </p:sp>
      <p:sp>
        <p:nvSpPr>
          <p:cNvPr id="192" name="Google Shape;192;p31"/>
          <p:cNvSpPr txBox="1"/>
          <p:nvPr/>
        </p:nvSpPr>
        <p:spPr>
          <a:xfrm>
            <a:off x="4337045" y="17777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lang="en">
                <a:latin typeface="Poppins SemiBold"/>
                <a:ea typeface="Poppins SemiBold"/>
                <a:cs typeface="Poppins SemiBold"/>
                <a:sym typeface="Poppins SemiBold"/>
              </a:rPr>
              <a:t>Goutham Arcod</a:t>
            </a:r>
            <a:endParaRPr sz="700">
              <a:latin typeface="Poppins SemiBold"/>
              <a:ea typeface="Poppins SemiBold"/>
              <a:cs typeface="Poppins SemiBold"/>
              <a:sym typeface="Poppins SemiBold"/>
            </a:endParaRPr>
          </a:p>
        </p:txBody>
      </p:sp>
      <p:sp>
        <p:nvSpPr>
          <p:cNvPr id="193" name="Google Shape;193;p31"/>
          <p:cNvSpPr txBox="1"/>
          <p:nvPr/>
        </p:nvSpPr>
        <p:spPr>
          <a:xfrm>
            <a:off x="2393281" y="33670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Clr>
                <a:srgbClr val="000000"/>
              </a:buClr>
              <a:buFont typeface="Arial"/>
              <a:buNone/>
            </a:pPr>
            <a:r>
              <a:rPr lang="en">
                <a:latin typeface="Poppins SemiBold"/>
                <a:ea typeface="Poppins SemiBold"/>
                <a:cs typeface="Poppins SemiBold"/>
                <a:sym typeface="Poppins SemiBold"/>
              </a:rPr>
              <a:t>Kerem Akyurt</a:t>
            </a:r>
            <a:endParaRPr sz="700">
              <a:latin typeface="Poppins SemiBold"/>
              <a:ea typeface="Poppins SemiBold"/>
              <a:cs typeface="Poppins SemiBold"/>
              <a:sym typeface="Poppins SemiBold"/>
            </a:endParaRPr>
          </a:p>
        </p:txBody>
      </p:sp>
      <p:sp>
        <p:nvSpPr>
          <p:cNvPr id="194" name="Google Shape;194;p31"/>
          <p:cNvSpPr txBox="1"/>
          <p:nvPr/>
        </p:nvSpPr>
        <p:spPr>
          <a:xfrm>
            <a:off x="1533943" y="20598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Actor</a:t>
            </a:r>
            <a:endParaRPr sz="700">
              <a:latin typeface="Poppins"/>
              <a:ea typeface="Poppins"/>
              <a:cs typeface="Poppins"/>
              <a:sym typeface="Poppins"/>
            </a:endParaRPr>
          </a:p>
        </p:txBody>
      </p:sp>
      <p:sp>
        <p:nvSpPr>
          <p:cNvPr id="195" name="Google Shape;195;p31"/>
          <p:cNvSpPr txBox="1"/>
          <p:nvPr/>
        </p:nvSpPr>
        <p:spPr>
          <a:xfrm>
            <a:off x="4337045" y="20598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Doctor</a:t>
            </a:r>
            <a:endParaRPr sz="700">
              <a:latin typeface="Poppins"/>
              <a:ea typeface="Poppins"/>
              <a:cs typeface="Poppins"/>
              <a:sym typeface="Poppins"/>
            </a:endParaRPr>
          </a:p>
        </p:txBody>
      </p:sp>
      <p:sp>
        <p:nvSpPr>
          <p:cNvPr id="196" name="Google Shape;196;p31"/>
          <p:cNvSpPr txBox="1"/>
          <p:nvPr/>
        </p:nvSpPr>
        <p:spPr>
          <a:xfrm>
            <a:off x="2393281" y="36491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Accountant</a:t>
            </a:r>
            <a:endParaRPr sz="700">
              <a:latin typeface="Poppins"/>
              <a:ea typeface="Poppins"/>
              <a:cs typeface="Poppins"/>
              <a:sym typeface="Poppins"/>
            </a:endParaRPr>
          </a:p>
        </p:txBody>
      </p:sp>
      <p:sp>
        <p:nvSpPr>
          <p:cNvPr id="197" name="Google Shape;197;p31"/>
          <p:cNvSpPr txBox="1"/>
          <p:nvPr/>
        </p:nvSpPr>
        <p:spPr>
          <a:xfrm>
            <a:off x="7140147" y="17777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lang="en">
                <a:latin typeface="Poppins SemiBold"/>
                <a:ea typeface="Poppins SemiBold"/>
                <a:cs typeface="Poppins SemiBold"/>
                <a:sym typeface="Poppins SemiBold"/>
              </a:rPr>
              <a:t>Jaime Pineda</a:t>
            </a:r>
            <a:endParaRPr sz="700">
              <a:latin typeface="Poppins SemiBold"/>
              <a:ea typeface="Poppins SemiBold"/>
              <a:cs typeface="Poppins SemiBold"/>
              <a:sym typeface="Poppins SemiBold"/>
            </a:endParaRPr>
          </a:p>
        </p:txBody>
      </p:sp>
      <p:sp>
        <p:nvSpPr>
          <p:cNvPr id="198" name="Google Shape;198;p31"/>
          <p:cNvSpPr txBox="1"/>
          <p:nvPr/>
        </p:nvSpPr>
        <p:spPr>
          <a:xfrm>
            <a:off x="6006872" y="33670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lang="en">
                <a:latin typeface="Poppins SemiBold"/>
                <a:ea typeface="Poppins SemiBold"/>
                <a:cs typeface="Poppins SemiBold"/>
                <a:sym typeface="Poppins SemiBold"/>
              </a:rPr>
              <a:t>Valeria Moraga</a:t>
            </a:r>
            <a:endParaRPr sz="700">
              <a:latin typeface="Poppins SemiBold"/>
              <a:ea typeface="Poppins SemiBold"/>
              <a:cs typeface="Poppins SemiBold"/>
              <a:sym typeface="Poppins SemiBold"/>
            </a:endParaRPr>
          </a:p>
        </p:txBody>
      </p:sp>
      <p:sp>
        <p:nvSpPr>
          <p:cNvPr id="199" name="Google Shape;199;p31"/>
          <p:cNvSpPr txBox="1"/>
          <p:nvPr/>
        </p:nvSpPr>
        <p:spPr>
          <a:xfrm>
            <a:off x="7140147" y="2059806"/>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Chef</a:t>
            </a:r>
            <a:endParaRPr sz="700">
              <a:latin typeface="Poppins"/>
              <a:ea typeface="Poppins"/>
              <a:cs typeface="Poppins"/>
              <a:sym typeface="Poppins"/>
            </a:endParaRPr>
          </a:p>
        </p:txBody>
      </p:sp>
      <p:sp>
        <p:nvSpPr>
          <p:cNvPr id="200" name="Google Shape;200;p31"/>
          <p:cNvSpPr txBox="1"/>
          <p:nvPr/>
        </p:nvSpPr>
        <p:spPr>
          <a:xfrm>
            <a:off x="6006872" y="3649168"/>
            <a:ext cx="1460700" cy="2154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i="0" lang="en" sz="1400" u="none" cap="none" strike="noStrike">
                <a:solidFill>
                  <a:srgbClr val="000000"/>
                </a:solidFill>
                <a:latin typeface="Poppins"/>
                <a:ea typeface="Poppins"/>
                <a:cs typeface="Poppins"/>
                <a:sym typeface="Poppins"/>
              </a:rPr>
              <a:t>Journalist</a:t>
            </a:r>
            <a:endParaRPr sz="700">
              <a:latin typeface="Poppins"/>
              <a:ea typeface="Poppins"/>
              <a:cs typeface="Poppins"/>
              <a:sym typeface="Poppins"/>
            </a:endParaRPr>
          </a:p>
        </p:txBody>
      </p:sp>
      <p:sp>
        <p:nvSpPr>
          <p:cNvPr id="201" name="Google Shape;201;p31"/>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nvSpPr>
        <p:spPr>
          <a:xfrm>
            <a:off x="3773170" y="1301219"/>
            <a:ext cx="4722300" cy="2585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i="1" lang="en" sz="2100">
                <a:solidFill>
                  <a:srgbClr val="705C40"/>
                </a:solidFill>
                <a:latin typeface="Poppins"/>
                <a:ea typeface="Poppins"/>
                <a:cs typeface="Poppins"/>
                <a:sym typeface="Poppins"/>
              </a:rPr>
              <a:t>Does functional connectivity reconfigure between low and high working-memory load, and can that reconfiguration predict individual working-memory performance?</a:t>
            </a:r>
            <a:endParaRPr b="1" i="1" sz="2100">
              <a:solidFill>
                <a:srgbClr val="705C40"/>
              </a:solidFill>
              <a:latin typeface="Poppins"/>
              <a:ea typeface="Poppins"/>
              <a:cs typeface="Poppins"/>
              <a:sym typeface="Poppins"/>
            </a:endParaRPr>
          </a:p>
        </p:txBody>
      </p:sp>
      <p:grpSp>
        <p:nvGrpSpPr>
          <p:cNvPr id="207" name="Google Shape;207;p32"/>
          <p:cNvGrpSpPr/>
          <p:nvPr/>
        </p:nvGrpSpPr>
        <p:grpSpPr>
          <a:xfrm>
            <a:off x="8361041" y="729250"/>
            <a:ext cx="595376" cy="595376"/>
            <a:chOff x="0" y="0"/>
            <a:chExt cx="812800" cy="812800"/>
          </a:xfrm>
        </p:grpSpPr>
        <p:sp>
          <p:nvSpPr>
            <p:cNvPr id="208" name="Google Shape;208;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9" name="Google Shape;209;p32"/>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10" name="Google Shape;210;p32"/>
          <p:cNvSpPr txBox="1"/>
          <p:nvPr/>
        </p:nvSpPr>
        <p:spPr>
          <a:xfrm>
            <a:off x="514350" y="400050"/>
            <a:ext cx="3508200" cy="585000"/>
          </a:xfrm>
          <a:prstGeom prst="rect">
            <a:avLst/>
          </a:prstGeom>
          <a:noFill/>
          <a:ln>
            <a:noFill/>
          </a:ln>
        </p:spPr>
        <p:txBody>
          <a:bodyPr anchorCtr="0" anchor="t" bIns="0" lIns="0" spcFirstLastPara="1" rIns="0" wrap="square" tIns="0">
            <a:spAutoFit/>
          </a:bodyPr>
          <a:lstStyle/>
          <a:p>
            <a:pPr indent="0" lvl="0" marL="0" marR="0" rtl="0" algn="l">
              <a:lnSpc>
                <a:spcPct val="139992"/>
              </a:lnSpc>
              <a:spcBef>
                <a:spcPts val="0"/>
              </a:spcBef>
              <a:spcAft>
                <a:spcPts val="0"/>
              </a:spcAft>
              <a:buNone/>
            </a:pPr>
            <a:r>
              <a:rPr b="1" lang="en" sz="3800">
                <a:latin typeface="Poppins"/>
                <a:ea typeface="Poppins"/>
                <a:cs typeface="Poppins"/>
                <a:sym typeface="Poppins"/>
              </a:rPr>
              <a:t>Introduction</a:t>
            </a:r>
            <a:endParaRPr sz="700"/>
          </a:p>
        </p:txBody>
      </p:sp>
      <p:sp>
        <p:nvSpPr>
          <p:cNvPr id="211" name="Google Shape;211;p32"/>
          <p:cNvSpPr txBox="1"/>
          <p:nvPr/>
        </p:nvSpPr>
        <p:spPr>
          <a:xfrm>
            <a:off x="514350" y="2011750"/>
            <a:ext cx="2659200" cy="760200"/>
          </a:xfrm>
          <a:prstGeom prst="rect">
            <a:avLst/>
          </a:prstGeom>
          <a:noFill/>
          <a:ln>
            <a:noFill/>
          </a:ln>
        </p:spPr>
        <p:txBody>
          <a:bodyPr anchorCtr="0" anchor="t" bIns="0" lIns="0" spcFirstLastPara="1" rIns="0" wrap="square" tIns="0">
            <a:spAutoFit/>
          </a:bodyPr>
          <a:lstStyle/>
          <a:p>
            <a:pPr indent="-146050" lvl="1" marL="304800" marR="0" rtl="0" algn="l">
              <a:lnSpc>
                <a:spcPct val="139985"/>
              </a:lnSpc>
              <a:spcBef>
                <a:spcPts val="0"/>
              </a:spcBef>
              <a:spcAft>
                <a:spcPts val="0"/>
              </a:spcAft>
              <a:buClr>
                <a:srgbClr val="000000"/>
              </a:buClr>
              <a:buSzPts val="1300"/>
              <a:buFont typeface="Poppins"/>
              <a:buChar char="•"/>
            </a:pPr>
            <a:r>
              <a:rPr lang="en" sz="1300">
                <a:latin typeface="Poppins"/>
                <a:ea typeface="Poppins"/>
                <a:cs typeface="Poppins"/>
                <a:sym typeface="Poppins"/>
              </a:rPr>
              <a:t>Functional Connectivity (FC)</a:t>
            </a:r>
            <a:endParaRPr sz="600">
              <a:latin typeface="Poppins"/>
              <a:ea typeface="Poppins"/>
              <a:cs typeface="Poppins"/>
              <a:sym typeface="Poppins"/>
            </a:endParaRPr>
          </a:p>
          <a:p>
            <a:pPr indent="-146050" lvl="1" marL="304800" marR="0" rtl="0" algn="l">
              <a:lnSpc>
                <a:spcPct val="139985"/>
              </a:lnSpc>
              <a:spcBef>
                <a:spcPts val="0"/>
              </a:spcBef>
              <a:spcAft>
                <a:spcPts val="0"/>
              </a:spcAft>
              <a:buClr>
                <a:srgbClr val="000000"/>
              </a:buClr>
              <a:buSzPts val="1300"/>
              <a:buFont typeface="Poppins"/>
              <a:buChar char="•"/>
            </a:pPr>
            <a:r>
              <a:rPr lang="en" sz="1300">
                <a:latin typeface="Poppins"/>
                <a:ea typeface="Poppins"/>
                <a:cs typeface="Poppins"/>
                <a:sym typeface="Poppins"/>
              </a:rPr>
              <a:t>Working-Memory (WM)</a:t>
            </a:r>
            <a:endParaRPr sz="600">
              <a:latin typeface="Poppins"/>
              <a:ea typeface="Poppins"/>
              <a:cs typeface="Poppins"/>
              <a:sym typeface="Poppins"/>
            </a:endParaRPr>
          </a:p>
          <a:p>
            <a:pPr indent="-146050" lvl="1" marL="304800" marR="0" rtl="0" algn="l">
              <a:lnSpc>
                <a:spcPct val="139985"/>
              </a:lnSpc>
              <a:spcBef>
                <a:spcPts val="0"/>
              </a:spcBef>
              <a:spcAft>
                <a:spcPts val="0"/>
              </a:spcAft>
              <a:buClr>
                <a:srgbClr val="000000"/>
              </a:buClr>
              <a:buSzPts val="1300"/>
              <a:buFont typeface="Poppins"/>
              <a:buChar char="•"/>
            </a:pPr>
            <a:r>
              <a:t/>
            </a:r>
            <a:endParaRPr sz="600">
              <a:latin typeface="Poppins"/>
              <a:ea typeface="Poppins"/>
              <a:cs typeface="Poppins"/>
              <a:sym typeface="Poppins"/>
            </a:endParaRPr>
          </a:p>
        </p:txBody>
      </p:sp>
      <p:sp>
        <p:nvSpPr>
          <p:cNvPr id="212" name="Google Shape;212;p32"/>
          <p:cNvSpPr txBox="1"/>
          <p:nvPr/>
        </p:nvSpPr>
        <p:spPr>
          <a:xfrm>
            <a:off x="514350" y="1438183"/>
            <a:ext cx="3045000" cy="354000"/>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lang="en" sz="2300">
                <a:latin typeface="Poppins SemiBold"/>
                <a:ea typeface="Poppins SemiBold"/>
                <a:cs typeface="Poppins SemiBold"/>
                <a:sym typeface="Poppins SemiBold"/>
              </a:rPr>
              <a:t>Key words</a:t>
            </a:r>
            <a:endParaRPr sz="700">
              <a:latin typeface="Poppins SemiBold"/>
              <a:ea typeface="Poppins SemiBold"/>
              <a:cs typeface="Poppins SemiBold"/>
              <a:sym typeface="Poppins SemiBold"/>
            </a:endParaRPr>
          </a:p>
        </p:txBody>
      </p:sp>
      <p:sp>
        <p:nvSpPr>
          <p:cNvPr id="213" name="Google Shape;213;p32"/>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7" name="Shape 217"/>
        <p:cNvGrpSpPr/>
        <p:nvPr/>
      </p:nvGrpSpPr>
      <p:grpSpPr>
        <a:xfrm>
          <a:off x="0" y="0"/>
          <a:ext cx="0" cy="0"/>
          <a:chOff x="0" y="0"/>
          <a:chExt cx="0" cy="0"/>
        </a:xfrm>
      </p:grpSpPr>
      <p:grpSp>
        <p:nvGrpSpPr>
          <p:cNvPr id="218" name="Google Shape;218;p33"/>
          <p:cNvGrpSpPr/>
          <p:nvPr/>
        </p:nvGrpSpPr>
        <p:grpSpPr>
          <a:xfrm>
            <a:off x="566172" y="472466"/>
            <a:ext cx="7854882" cy="1096953"/>
            <a:chOff x="0" y="-47625"/>
            <a:chExt cx="4137415" cy="577800"/>
          </a:xfrm>
        </p:grpSpPr>
        <p:sp>
          <p:nvSpPr>
            <p:cNvPr id="219" name="Google Shape;219;p33"/>
            <p:cNvSpPr/>
            <p:nvPr/>
          </p:nvSpPr>
          <p:spPr>
            <a:xfrm>
              <a:off x="0" y="0"/>
              <a:ext cx="4137415" cy="530157"/>
            </a:xfrm>
            <a:custGeom>
              <a:rect b="b" l="l" r="r" t="t"/>
              <a:pathLst>
                <a:path extrusionOk="0" h="530157" w="4137415">
                  <a:moveTo>
                    <a:pt x="0" y="0"/>
                  </a:moveTo>
                  <a:lnTo>
                    <a:pt x="4137415" y="0"/>
                  </a:lnTo>
                  <a:lnTo>
                    <a:pt x="4137415" y="530157"/>
                  </a:lnTo>
                  <a:lnTo>
                    <a:pt x="0" y="530157"/>
                  </a:lnTo>
                  <a:close/>
                </a:path>
              </a:pathLst>
            </a:custGeom>
            <a:noFill/>
            <a:ln cap="sq" cmpd="sng" w="52400">
              <a:solidFill>
                <a:srgbClr val="B99470"/>
              </a:solidFill>
              <a:prstDash val="solid"/>
              <a:miter lim="8000"/>
              <a:headEnd len="sm" w="sm" type="none"/>
              <a:tailEnd len="sm" w="sm" type="none"/>
            </a:ln>
          </p:spPr>
        </p:sp>
        <p:sp>
          <p:nvSpPr>
            <p:cNvPr id="220" name="Google Shape;220;p33"/>
            <p:cNvSpPr txBox="1"/>
            <p:nvPr/>
          </p:nvSpPr>
          <p:spPr>
            <a:xfrm>
              <a:off x="0" y="-47625"/>
              <a:ext cx="4137300" cy="577800"/>
            </a:xfrm>
            <a:prstGeom prst="rect">
              <a:avLst/>
            </a:prstGeom>
            <a:noFill/>
            <a:ln cap="flat" cmpd="sng" w="9525">
              <a:solidFill>
                <a:srgbClr val="B99470"/>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1" name="Google Shape;221;p33"/>
          <p:cNvSpPr txBox="1"/>
          <p:nvPr/>
        </p:nvSpPr>
        <p:spPr>
          <a:xfrm>
            <a:off x="566172" y="724428"/>
            <a:ext cx="7854600" cy="677400"/>
          </a:xfrm>
          <a:prstGeom prst="rect">
            <a:avLst/>
          </a:prstGeom>
          <a:noFill/>
          <a:ln>
            <a:noFill/>
          </a:ln>
        </p:spPr>
        <p:txBody>
          <a:bodyPr anchorCtr="0" anchor="t" bIns="0" lIns="0" spcFirstLastPara="1" rIns="0" wrap="square" tIns="0">
            <a:spAutoFit/>
          </a:bodyPr>
          <a:lstStyle/>
          <a:p>
            <a:pPr indent="0" lvl="0" marL="0" marR="0" rtl="0" algn="ctr">
              <a:lnSpc>
                <a:spcPct val="122996"/>
              </a:lnSpc>
              <a:spcBef>
                <a:spcPts val="0"/>
              </a:spcBef>
              <a:spcAft>
                <a:spcPts val="0"/>
              </a:spcAft>
              <a:buNone/>
            </a:pPr>
            <a:r>
              <a:rPr b="1" lang="en" sz="4400">
                <a:solidFill>
                  <a:srgbClr val="705C40"/>
                </a:solidFill>
                <a:latin typeface="Poppins"/>
                <a:ea typeface="Poppins"/>
                <a:cs typeface="Poppins"/>
                <a:sym typeface="Poppins"/>
              </a:rPr>
              <a:t>Hypothesis</a:t>
            </a:r>
            <a:endParaRPr b="1" sz="700">
              <a:solidFill>
                <a:srgbClr val="705C40"/>
              </a:solidFill>
              <a:latin typeface="Poppins"/>
              <a:ea typeface="Poppins"/>
              <a:cs typeface="Poppins"/>
              <a:sym typeface="Poppins"/>
            </a:endParaRPr>
          </a:p>
        </p:txBody>
      </p:sp>
      <p:grpSp>
        <p:nvGrpSpPr>
          <p:cNvPr id="222" name="Google Shape;222;p33"/>
          <p:cNvGrpSpPr/>
          <p:nvPr/>
        </p:nvGrpSpPr>
        <p:grpSpPr>
          <a:xfrm>
            <a:off x="8076944" y="326494"/>
            <a:ext cx="500905" cy="590671"/>
            <a:chOff x="0" y="-47625"/>
            <a:chExt cx="476100" cy="561421"/>
          </a:xfrm>
        </p:grpSpPr>
        <p:sp>
          <p:nvSpPr>
            <p:cNvPr id="223" name="Google Shape;223;p33"/>
            <p:cNvSpPr/>
            <p:nvPr/>
          </p:nvSpPr>
          <p:spPr>
            <a:xfrm>
              <a:off x="0" y="0"/>
              <a:ext cx="476073" cy="513796"/>
            </a:xfrm>
            <a:custGeom>
              <a:rect b="b" l="l" r="r" t="t"/>
              <a:pathLst>
                <a:path extrusionOk="0" h="513796" w="476073">
                  <a:moveTo>
                    <a:pt x="0" y="0"/>
                  </a:moveTo>
                  <a:lnTo>
                    <a:pt x="476073" y="0"/>
                  </a:lnTo>
                  <a:lnTo>
                    <a:pt x="476073" y="513796"/>
                  </a:lnTo>
                  <a:lnTo>
                    <a:pt x="0" y="513796"/>
                  </a:lnTo>
                  <a:close/>
                </a:path>
              </a:pathLst>
            </a:custGeom>
            <a:solidFill>
              <a:srgbClr val="B99470"/>
            </a:solidFill>
            <a:ln>
              <a:noFill/>
            </a:ln>
          </p:spPr>
        </p:sp>
        <p:sp>
          <p:nvSpPr>
            <p:cNvPr id="224" name="Google Shape;224;p33"/>
            <p:cNvSpPr txBox="1"/>
            <p:nvPr/>
          </p:nvSpPr>
          <p:spPr>
            <a:xfrm>
              <a:off x="0" y="-47625"/>
              <a:ext cx="476100" cy="561300"/>
            </a:xfrm>
            <a:prstGeom prst="rect">
              <a:avLst/>
            </a:prstGeom>
            <a:solidFill>
              <a:srgbClr val="B99470"/>
            </a:solid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5" name="Google Shape;225;p33"/>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229" name="Shape 229"/>
        <p:cNvGrpSpPr/>
        <p:nvPr/>
      </p:nvGrpSpPr>
      <p:grpSpPr>
        <a:xfrm>
          <a:off x="0" y="0"/>
          <a:ext cx="0" cy="0"/>
          <a:chOff x="0" y="0"/>
          <a:chExt cx="0" cy="0"/>
        </a:xfrm>
      </p:grpSpPr>
      <p:cxnSp>
        <p:nvCxnSpPr>
          <p:cNvPr id="230" name="Google Shape;230;p34"/>
          <p:cNvCxnSpPr/>
          <p:nvPr/>
        </p:nvCxnSpPr>
        <p:spPr>
          <a:xfrm flipH="1" rot="10800000">
            <a:off x="1652326" y="2833776"/>
            <a:ext cx="832200" cy="603300"/>
          </a:xfrm>
          <a:prstGeom prst="straightConnector1">
            <a:avLst/>
          </a:prstGeom>
          <a:noFill/>
          <a:ln cap="flat" cmpd="sng" w="19050">
            <a:solidFill>
              <a:srgbClr val="000000"/>
            </a:solidFill>
            <a:prstDash val="dash"/>
            <a:round/>
            <a:headEnd len="sm" w="sm" type="none"/>
            <a:tailEnd len="sm" w="sm" type="none"/>
          </a:ln>
        </p:spPr>
      </p:cxnSp>
      <p:cxnSp>
        <p:nvCxnSpPr>
          <p:cNvPr id="231" name="Google Shape;231;p34"/>
          <p:cNvCxnSpPr/>
          <p:nvPr/>
        </p:nvCxnSpPr>
        <p:spPr>
          <a:xfrm flipH="1" rot="10800000">
            <a:off x="4989101" y="2892476"/>
            <a:ext cx="832200" cy="603300"/>
          </a:xfrm>
          <a:prstGeom prst="straightConnector1">
            <a:avLst/>
          </a:prstGeom>
          <a:noFill/>
          <a:ln cap="flat" cmpd="sng" w="19050">
            <a:solidFill>
              <a:srgbClr val="000000"/>
            </a:solidFill>
            <a:prstDash val="dash"/>
            <a:round/>
            <a:headEnd len="sm" w="sm" type="none"/>
            <a:tailEnd len="sm" w="sm" type="none"/>
          </a:ln>
        </p:spPr>
      </p:cxnSp>
      <p:cxnSp>
        <p:nvCxnSpPr>
          <p:cNvPr id="232" name="Google Shape;232;p34"/>
          <p:cNvCxnSpPr/>
          <p:nvPr/>
        </p:nvCxnSpPr>
        <p:spPr>
          <a:xfrm rot="-60696">
            <a:off x="3421093" y="2892439"/>
            <a:ext cx="832630" cy="603386"/>
          </a:xfrm>
          <a:prstGeom prst="straightConnector1">
            <a:avLst/>
          </a:prstGeom>
          <a:noFill/>
          <a:ln cap="flat" cmpd="sng" w="19050">
            <a:solidFill>
              <a:srgbClr val="000000"/>
            </a:solidFill>
            <a:prstDash val="dash"/>
            <a:round/>
            <a:headEnd len="sm" w="sm" type="none"/>
            <a:tailEnd len="sm" w="sm" type="none"/>
          </a:ln>
        </p:spPr>
      </p:cxnSp>
      <p:cxnSp>
        <p:nvCxnSpPr>
          <p:cNvPr id="233" name="Google Shape;233;p34"/>
          <p:cNvCxnSpPr/>
          <p:nvPr/>
        </p:nvCxnSpPr>
        <p:spPr>
          <a:xfrm rot="-60696">
            <a:off x="6961843" y="2892439"/>
            <a:ext cx="832630" cy="603386"/>
          </a:xfrm>
          <a:prstGeom prst="straightConnector1">
            <a:avLst/>
          </a:prstGeom>
          <a:noFill/>
          <a:ln cap="flat" cmpd="sng" w="19050">
            <a:solidFill>
              <a:srgbClr val="000000"/>
            </a:solidFill>
            <a:prstDash val="dash"/>
            <a:round/>
            <a:headEnd len="sm" w="sm" type="none"/>
            <a:tailEnd len="sm" w="sm" type="none"/>
          </a:ln>
        </p:spPr>
      </p:cxnSp>
      <p:sp>
        <p:nvSpPr>
          <p:cNvPr id="234" name="Google Shape;234;p34"/>
          <p:cNvSpPr/>
          <p:nvPr/>
        </p:nvSpPr>
        <p:spPr>
          <a:xfrm>
            <a:off x="355150" y="3103129"/>
            <a:ext cx="1828800" cy="166217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cap="flat" cmpd="sng" w="9525">
            <a:solidFill>
              <a:srgbClr val="705C4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5" name="Google Shape;235;p34"/>
          <p:cNvSpPr txBox="1"/>
          <p:nvPr/>
        </p:nvSpPr>
        <p:spPr>
          <a:xfrm>
            <a:off x="566179" y="3248411"/>
            <a:ext cx="1371600" cy="13716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Ingestion </a:t>
            </a:r>
            <a:endParaRPr sz="1200">
              <a:solidFill>
                <a:srgbClr val="FFFFFF"/>
              </a:solidFill>
              <a:latin typeface="Poppins Medium"/>
              <a:ea typeface="Poppins Medium"/>
              <a:cs typeface="Poppins Medium"/>
              <a:sym typeface="Poppins Medium"/>
            </a:endParaRPr>
          </a:p>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a:t>
            </a:r>
            <a:endParaRPr sz="1200">
              <a:solidFill>
                <a:srgbClr val="FFFFFF"/>
              </a:solidFill>
              <a:latin typeface="Poppins Medium"/>
              <a:ea typeface="Poppins Medium"/>
              <a:cs typeface="Poppins Medium"/>
              <a:sym typeface="Poppins Medium"/>
            </a:endParaRPr>
          </a:p>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EV segmentation</a:t>
            </a:r>
            <a:endParaRPr sz="1200">
              <a:latin typeface="Poppins Medium"/>
              <a:ea typeface="Poppins Medium"/>
              <a:cs typeface="Poppins Medium"/>
              <a:sym typeface="Poppins Medium"/>
            </a:endParaRPr>
          </a:p>
        </p:txBody>
      </p:sp>
      <p:sp>
        <p:nvSpPr>
          <p:cNvPr id="236" name="Google Shape;236;p34"/>
          <p:cNvSpPr/>
          <p:nvPr/>
        </p:nvSpPr>
        <p:spPr>
          <a:xfrm>
            <a:off x="2024803" y="1687255"/>
            <a:ext cx="1828800" cy="166217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cap="flat" cmpd="sng" w="9525">
            <a:solidFill>
              <a:srgbClr val="705C4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7" name="Google Shape;237;p34"/>
          <p:cNvSpPr txBox="1"/>
          <p:nvPr/>
        </p:nvSpPr>
        <p:spPr>
          <a:xfrm>
            <a:off x="2253407" y="1832527"/>
            <a:ext cx="1371600" cy="13716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Obtain Functional </a:t>
            </a:r>
            <a:r>
              <a:rPr lang="en" sz="1200">
                <a:solidFill>
                  <a:srgbClr val="FFFFFF"/>
                </a:solidFill>
                <a:latin typeface="Poppins Medium"/>
                <a:ea typeface="Poppins Medium"/>
                <a:cs typeface="Poppins Medium"/>
                <a:sym typeface="Poppins Medium"/>
              </a:rPr>
              <a:t>Connectivity</a:t>
            </a:r>
            <a:endParaRPr sz="1200">
              <a:latin typeface="Poppins Medium"/>
              <a:ea typeface="Poppins Medium"/>
              <a:cs typeface="Poppins Medium"/>
              <a:sym typeface="Poppins Medium"/>
            </a:endParaRPr>
          </a:p>
        </p:txBody>
      </p:sp>
      <p:sp>
        <p:nvSpPr>
          <p:cNvPr id="238" name="Google Shape;238;p34"/>
          <p:cNvSpPr/>
          <p:nvPr/>
        </p:nvSpPr>
        <p:spPr>
          <a:xfrm>
            <a:off x="3579064" y="3103118"/>
            <a:ext cx="1828800" cy="166217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cap="flat" cmpd="sng" w="9525">
            <a:solidFill>
              <a:srgbClr val="705C4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9" name="Google Shape;239;p34"/>
          <p:cNvSpPr txBox="1"/>
          <p:nvPr/>
        </p:nvSpPr>
        <p:spPr>
          <a:xfrm>
            <a:off x="3761487" y="3248402"/>
            <a:ext cx="1371600" cy="13716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Graph construction</a:t>
            </a:r>
            <a:endParaRPr sz="1200">
              <a:latin typeface="Poppins Medium"/>
              <a:ea typeface="Poppins Medium"/>
              <a:cs typeface="Poppins Medium"/>
              <a:sym typeface="Poppins Medium"/>
            </a:endParaRPr>
          </a:p>
        </p:txBody>
      </p:sp>
      <p:sp>
        <p:nvSpPr>
          <p:cNvPr id="240" name="Google Shape;240;p34"/>
          <p:cNvSpPr/>
          <p:nvPr/>
        </p:nvSpPr>
        <p:spPr>
          <a:xfrm>
            <a:off x="5490857" y="1647177"/>
            <a:ext cx="1828800" cy="166217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cap="flat" cmpd="sng" w="9525">
            <a:solidFill>
              <a:srgbClr val="705C4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1" name="Google Shape;241;p34"/>
          <p:cNvSpPr txBox="1"/>
          <p:nvPr/>
        </p:nvSpPr>
        <p:spPr>
          <a:xfrm>
            <a:off x="5668362" y="1792453"/>
            <a:ext cx="1371600" cy="13716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Graph metrics of</a:t>
            </a:r>
            <a:endParaRPr sz="1200">
              <a:solidFill>
                <a:srgbClr val="FFFFFF"/>
              </a:solidFill>
              <a:latin typeface="Poppins Medium"/>
              <a:ea typeface="Poppins Medium"/>
              <a:cs typeface="Poppins Medium"/>
              <a:sym typeface="Poppins Medium"/>
            </a:endParaRPr>
          </a:p>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segregation  and integration</a:t>
            </a:r>
            <a:endParaRPr sz="1200">
              <a:solidFill>
                <a:srgbClr val="FFFFFF"/>
              </a:solidFill>
              <a:latin typeface="Poppins Medium"/>
              <a:ea typeface="Poppins Medium"/>
              <a:cs typeface="Poppins Medium"/>
              <a:sym typeface="Poppins Medium"/>
            </a:endParaRPr>
          </a:p>
        </p:txBody>
      </p:sp>
      <p:sp>
        <p:nvSpPr>
          <p:cNvPr id="242" name="Google Shape;242;p34"/>
          <p:cNvSpPr/>
          <p:nvPr/>
        </p:nvSpPr>
        <p:spPr>
          <a:xfrm>
            <a:off x="6956792" y="3103118"/>
            <a:ext cx="1828800" cy="166217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cap="flat" cmpd="sng" w="9525">
            <a:solidFill>
              <a:srgbClr val="705C4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3" name="Google Shape;243;p34"/>
          <p:cNvSpPr txBox="1"/>
          <p:nvPr/>
        </p:nvSpPr>
        <p:spPr>
          <a:xfrm>
            <a:off x="7185391" y="3248389"/>
            <a:ext cx="1371600" cy="13716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rPr lang="en" sz="1200">
                <a:solidFill>
                  <a:srgbClr val="FFFFFF"/>
                </a:solidFill>
                <a:latin typeface="Poppins Medium"/>
                <a:ea typeface="Poppins Medium"/>
                <a:cs typeface="Poppins Medium"/>
                <a:sym typeface="Poppins Medium"/>
              </a:rPr>
              <a:t>Prediction and testing of WM performance</a:t>
            </a:r>
            <a:endParaRPr sz="1200">
              <a:solidFill>
                <a:srgbClr val="FFFFFF"/>
              </a:solidFill>
              <a:latin typeface="Poppins Medium"/>
              <a:ea typeface="Poppins Medium"/>
              <a:cs typeface="Poppins Medium"/>
              <a:sym typeface="Poppins Medium"/>
            </a:endParaRPr>
          </a:p>
        </p:txBody>
      </p:sp>
      <p:grpSp>
        <p:nvGrpSpPr>
          <p:cNvPr id="244" name="Google Shape;244;p34"/>
          <p:cNvGrpSpPr/>
          <p:nvPr/>
        </p:nvGrpSpPr>
        <p:grpSpPr>
          <a:xfrm>
            <a:off x="566172" y="472466"/>
            <a:ext cx="7854882" cy="1096953"/>
            <a:chOff x="0" y="-47625"/>
            <a:chExt cx="4137415" cy="577800"/>
          </a:xfrm>
        </p:grpSpPr>
        <p:sp>
          <p:nvSpPr>
            <p:cNvPr id="245" name="Google Shape;245;p34"/>
            <p:cNvSpPr/>
            <p:nvPr/>
          </p:nvSpPr>
          <p:spPr>
            <a:xfrm>
              <a:off x="0" y="0"/>
              <a:ext cx="4137415" cy="530157"/>
            </a:xfrm>
            <a:custGeom>
              <a:rect b="b" l="l" r="r" t="t"/>
              <a:pathLst>
                <a:path extrusionOk="0" h="530157" w="4137415">
                  <a:moveTo>
                    <a:pt x="0" y="0"/>
                  </a:moveTo>
                  <a:lnTo>
                    <a:pt x="4137415" y="0"/>
                  </a:lnTo>
                  <a:lnTo>
                    <a:pt x="4137415" y="530157"/>
                  </a:lnTo>
                  <a:lnTo>
                    <a:pt x="0" y="530157"/>
                  </a:lnTo>
                  <a:close/>
                </a:path>
              </a:pathLst>
            </a:custGeom>
            <a:noFill/>
            <a:ln cap="sq" cmpd="sng" w="52400">
              <a:solidFill>
                <a:srgbClr val="B99470"/>
              </a:solidFill>
              <a:prstDash val="solid"/>
              <a:miter lim="8000"/>
              <a:headEnd len="sm" w="sm" type="none"/>
              <a:tailEnd len="sm" w="sm" type="none"/>
            </a:ln>
          </p:spPr>
        </p:sp>
        <p:sp>
          <p:nvSpPr>
            <p:cNvPr id="246" name="Google Shape;246;p34"/>
            <p:cNvSpPr txBox="1"/>
            <p:nvPr/>
          </p:nvSpPr>
          <p:spPr>
            <a:xfrm>
              <a:off x="0" y="-47625"/>
              <a:ext cx="4137300" cy="577800"/>
            </a:xfrm>
            <a:prstGeom prst="rect">
              <a:avLst/>
            </a:prstGeom>
            <a:noFill/>
            <a:ln cap="flat" cmpd="sng" w="9525">
              <a:solidFill>
                <a:srgbClr val="B99470"/>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47" name="Google Shape;247;p34"/>
          <p:cNvSpPr txBox="1"/>
          <p:nvPr/>
        </p:nvSpPr>
        <p:spPr>
          <a:xfrm>
            <a:off x="566172" y="724428"/>
            <a:ext cx="7854600" cy="677400"/>
          </a:xfrm>
          <a:prstGeom prst="rect">
            <a:avLst/>
          </a:prstGeom>
          <a:noFill/>
          <a:ln>
            <a:noFill/>
          </a:ln>
        </p:spPr>
        <p:txBody>
          <a:bodyPr anchorCtr="0" anchor="t" bIns="0" lIns="0" spcFirstLastPara="1" rIns="0" wrap="square" tIns="0">
            <a:spAutoFit/>
          </a:bodyPr>
          <a:lstStyle/>
          <a:p>
            <a:pPr indent="0" lvl="0" marL="0" marR="0" rtl="0" algn="ctr">
              <a:lnSpc>
                <a:spcPct val="122996"/>
              </a:lnSpc>
              <a:spcBef>
                <a:spcPts val="0"/>
              </a:spcBef>
              <a:spcAft>
                <a:spcPts val="0"/>
              </a:spcAft>
              <a:buNone/>
            </a:pPr>
            <a:r>
              <a:rPr b="1" lang="en" sz="4400">
                <a:solidFill>
                  <a:srgbClr val="705C40"/>
                </a:solidFill>
                <a:latin typeface="Poppins"/>
                <a:ea typeface="Poppins"/>
                <a:cs typeface="Poppins"/>
                <a:sym typeface="Poppins"/>
              </a:rPr>
              <a:t>Methods</a:t>
            </a:r>
            <a:endParaRPr b="1" sz="700">
              <a:solidFill>
                <a:srgbClr val="705C40"/>
              </a:solidFill>
              <a:latin typeface="Poppins"/>
              <a:ea typeface="Poppins"/>
              <a:cs typeface="Poppins"/>
              <a:sym typeface="Poppins"/>
            </a:endParaRPr>
          </a:p>
        </p:txBody>
      </p:sp>
      <p:grpSp>
        <p:nvGrpSpPr>
          <p:cNvPr id="248" name="Google Shape;248;p34"/>
          <p:cNvGrpSpPr/>
          <p:nvPr/>
        </p:nvGrpSpPr>
        <p:grpSpPr>
          <a:xfrm>
            <a:off x="8076944" y="326494"/>
            <a:ext cx="500905" cy="590671"/>
            <a:chOff x="0" y="-47625"/>
            <a:chExt cx="476100" cy="561421"/>
          </a:xfrm>
        </p:grpSpPr>
        <p:sp>
          <p:nvSpPr>
            <p:cNvPr id="249" name="Google Shape;249;p34"/>
            <p:cNvSpPr/>
            <p:nvPr/>
          </p:nvSpPr>
          <p:spPr>
            <a:xfrm>
              <a:off x="0" y="0"/>
              <a:ext cx="476073" cy="513796"/>
            </a:xfrm>
            <a:custGeom>
              <a:rect b="b" l="l" r="r" t="t"/>
              <a:pathLst>
                <a:path extrusionOk="0" h="513796" w="476073">
                  <a:moveTo>
                    <a:pt x="0" y="0"/>
                  </a:moveTo>
                  <a:lnTo>
                    <a:pt x="476073" y="0"/>
                  </a:lnTo>
                  <a:lnTo>
                    <a:pt x="476073" y="513796"/>
                  </a:lnTo>
                  <a:lnTo>
                    <a:pt x="0" y="513796"/>
                  </a:lnTo>
                  <a:close/>
                </a:path>
              </a:pathLst>
            </a:custGeom>
            <a:solidFill>
              <a:srgbClr val="B99470"/>
            </a:solidFill>
            <a:ln>
              <a:noFill/>
            </a:ln>
          </p:spPr>
        </p:sp>
        <p:sp>
          <p:nvSpPr>
            <p:cNvPr id="250" name="Google Shape;250;p34"/>
            <p:cNvSpPr txBox="1"/>
            <p:nvPr/>
          </p:nvSpPr>
          <p:spPr>
            <a:xfrm>
              <a:off x="0" y="-47625"/>
              <a:ext cx="476100" cy="561300"/>
            </a:xfrm>
            <a:prstGeom prst="rect">
              <a:avLst/>
            </a:prstGeom>
            <a:solidFill>
              <a:srgbClr val="B99470"/>
            </a:solid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1" name="Google Shape;251;p34"/>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Analysis</a:t>
            </a:r>
            <a:endParaRPr b="1">
              <a:latin typeface="Poppins"/>
              <a:ea typeface="Poppins"/>
              <a:cs typeface="Poppins"/>
              <a:sym typeface="Poppins"/>
            </a:endParaRPr>
          </a:p>
        </p:txBody>
      </p:sp>
      <p:sp>
        <p:nvSpPr>
          <p:cNvPr id="257" name="Google Shape;257;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5"/>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p:nvPr/>
        </p:nvSpPr>
        <p:spPr>
          <a:xfrm rot="5400000">
            <a:off x="-998816" y="3412181"/>
            <a:ext cx="2633472" cy="90510"/>
          </a:xfrm>
          <a:custGeom>
            <a:rect b="b" l="l" r="r" t="t"/>
            <a:pathLst>
              <a:path extrusionOk="0" h="247973" w="7315200">
                <a:moveTo>
                  <a:pt x="0" y="0"/>
                </a:moveTo>
                <a:lnTo>
                  <a:pt x="7315200" y="0"/>
                </a:lnTo>
                <a:lnTo>
                  <a:pt x="7315200" y="247973"/>
                </a:lnTo>
                <a:lnTo>
                  <a:pt x="0" y="247973"/>
                </a:lnTo>
                <a:lnTo>
                  <a:pt x="0" y="0"/>
                </a:lnTo>
                <a:close/>
              </a:path>
            </a:pathLst>
          </a:custGeom>
          <a:blipFill rotWithShape="1">
            <a:blip r:embed="rId4">
              <a:alphaModFix/>
            </a:blip>
            <a:stretch>
              <a:fillRect b="0" l="0" r="0" t="0"/>
            </a:stretch>
          </a:blipFill>
          <a:ln>
            <a:noFill/>
          </a:ln>
        </p:spPr>
      </p:sp>
      <p:grpSp>
        <p:nvGrpSpPr>
          <p:cNvPr id="264" name="Google Shape;264;p36"/>
          <p:cNvGrpSpPr/>
          <p:nvPr/>
        </p:nvGrpSpPr>
        <p:grpSpPr>
          <a:xfrm>
            <a:off x="3728260" y="1633084"/>
            <a:ext cx="225064" cy="225064"/>
            <a:chOff x="0" y="0"/>
            <a:chExt cx="812800" cy="812800"/>
          </a:xfrm>
        </p:grpSpPr>
        <p:sp>
          <p:nvSpPr>
            <p:cNvPr id="265" name="Google Shape;265;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6" name="Google Shape;266;p36"/>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67" name="Google Shape;267;p36"/>
          <p:cNvGrpSpPr/>
          <p:nvPr/>
        </p:nvGrpSpPr>
        <p:grpSpPr>
          <a:xfrm>
            <a:off x="3728260" y="2612166"/>
            <a:ext cx="225064" cy="225064"/>
            <a:chOff x="0" y="0"/>
            <a:chExt cx="812800" cy="812800"/>
          </a:xfrm>
        </p:grpSpPr>
        <p:sp>
          <p:nvSpPr>
            <p:cNvPr id="268" name="Google Shape;268;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9" name="Google Shape;269;p36"/>
            <p:cNvSpPr txBox="1"/>
            <p:nvPr/>
          </p:nvSpPr>
          <p:spPr>
            <a:xfrm>
              <a:off x="76200" y="28575"/>
              <a:ext cx="660300" cy="7080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70" name="Google Shape;270;p36"/>
          <p:cNvSpPr txBox="1"/>
          <p:nvPr/>
        </p:nvSpPr>
        <p:spPr>
          <a:xfrm>
            <a:off x="4208471" y="1904449"/>
            <a:ext cx="4665000" cy="200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i="0" lang="en" sz="1300" u="none" cap="none" strike="noStrike">
                <a:solidFill>
                  <a:srgbClr val="000000"/>
                </a:solidFill>
                <a:latin typeface="Poppins"/>
                <a:ea typeface="Poppins"/>
                <a:cs typeface="Poppins"/>
                <a:sym typeface="Poppins"/>
              </a:rPr>
              <a:t>Our study aims to</a:t>
            </a:r>
            <a:r>
              <a:rPr lang="en" sz="1300">
                <a:latin typeface="Poppins"/>
                <a:ea typeface="Poppins"/>
                <a:cs typeface="Poppins"/>
                <a:sym typeface="Poppins"/>
              </a:rPr>
              <a:t>…</a:t>
            </a:r>
            <a:endParaRPr sz="700">
              <a:latin typeface="Poppins"/>
              <a:ea typeface="Poppins"/>
              <a:cs typeface="Poppins"/>
              <a:sym typeface="Poppins"/>
            </a:endParaRPr>
          </a:p>
        </p:txBody>
      </p:sp>
      <p:sp>
        <p:nvSpPr>
          <p:cNvPr id="271" name="Google Shape;271;p36"/>
          <p:cNvSpPr txBox="1"/>
          <p:nvPr/>
        </p:nvSpPr>
        <p:spPr>
          <a:xfrm>
            <a:off x="4208471" y="2880520"/>
            <a:ext cx="4665000" cy="200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lang="en" sz="1300">
                <a:latin typeface="Poppins"/>
                <a:ea typeface="Poppins"/>
                <a:cs typeface="Poppins"/>
                <a:sym typeface="Poppins"/>
              </a:rPr>
              <a:t>…..</a:t>
            </a:r>
            <a:endParaRPr sz="700">
              <a:latin typeface="Poppins"/>
              <a:ea typeface="Poppins"/>
              <a:cs typeface="Poppins"/>
              <a:sym typeface="Poppins"/>
            </a:endParaRPr>
          </a:p>
        </p:txBody>
      </p:sp>
      <p:sp>
        <p:nvSpPr>
          <p:cNvPr id="272" name="Google Shape;272;p36"/>
          <p:cNvSpPr txBox="1"/>
          <p:nvPr/>
        </p:nvSpPr>
        <p:spPr>
          <a:xfrm>
            <a:off x="4208471" y="1604509"/>
            <a:ext cx="4117500" cy="231000"/>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lang="en" sz="1500">
                <a:solidFill>
                  <a:srgbClr val="705C40"/>
                </a:solidFill>
                <a:latin typeface="Poppins SemiBold"/>
                <a:ea typeface="Poppins SemiBold"/>
                <a:cs typeface="Poppins SemiBold"/>
                <a:sym typeface="Poppins SemiBold"/>
              </a:rPr>
              <a:t>Point 1</a:t>
            </a:r>
            <a:endParaRPr sz="700">
              <a:latin typeface="Poppins SemiBold"/>
              <a:ea typeface="Poppins SemiBold"/>
              <a:cs typeface="Poppins SemiBold"/>
              <a:sym typeface="Poppins SemiBold"/>
            </a:endParaRPr>
          </a:p>
        </p:txBody>
      </p:sp>
      <p:sp>
        <p:nvSpPr>
          <p:cNvPr id="273" name="Google Shape;273;p36"/>
          <p:cNvSpPr txBox="1"/>
          <p:nvPr/>
        </p:nvSpPr>
        <p:spPr>
          <a:xfrm>
            <a:off x="4208471" y="2580580"/>
            <a:ext cx="4117500" cy="231000"/>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lang="en" sz="1500">
                <a:solidFill>
                  <a:srgbClr val="705C40"/>
                </a:solidFill>
                <a:latin typeface="Poppins SemiBold"/>
                <a:ea typeface="Poppins SemiBold"/>
                <a:cs typeface="Poppins SemiBold"/>
                <a:sym typeface="Poppins SemiBold"/>
              </a:rPr>
              <a:t>Point 2</a:t>
            </a:r>
            <a:endParaRPr sz="700">
              <a:latin typeface="Poppins SemiBold"/>
              <a:ea typeface="Poppins SemiBold"/>
              <a:cs typeface="Poppins SemiBold"/>
              <a:sym typeface="Poppins SemiBold"/>
            </a:endParaRPr>
          </a:p>
        </p:txBody>
      </p:sp>
      <p:sp>
        <p:nvSpPr>
          <p:cNvPr id="274" name="Google Shape;274;p36"/>
          <p:cNvSpPr txBox="1"/>
          <p:nvPr/>
        </p:nvSpPr>
        <p:spPr>
          <a:xfrm>
            <a:off x="644275" y="342753"/>
            <a:ext cx="2989800" cy="354000"/>
          </a:xfrm>
          <a:prstGeom prst="rect">
            <a:avLst/>
          </a:prstGeom>
          <a:noFill/>
          <a:ln>
            <a:noFill/>
          </a:ln>
        </p:spPr>
        <p:txBody>
          <a:bodyPr anchorCtr="0" anchor="t" bIns="0" lIns="0" spcFirstLastPara="1" rIns="0" wrap="square" tIns="0">
            <a:spAutoFit/>
          </a:bodyPr>
          <a:lstStyle/>
          <a:p>
            <a:pPr indent="0" lvl="0" marL="0" marR="0" rtl="0" algn="l">
              <a:lnSpc>
                <a:spcPct val="119994"/>
              </a:lnSpc>
              <a:spcBef>
                <a:spcPts val="0"/>
              </a:spcBef>
              <a:spcAft>
                <a:spcPts val="0"/>
              </a:spcAft>
              <a:buNone/>
            </a:pPr>
            <a:r>
              <a:rPr b="1" lang="en" sz="2300">
                <a:solidFill>
                  <a:srgbClr val="705C40"/>
                </a:solidFill>
                <a:latin typeface="Poppins"/>
                <a:ea typeface="Poppins"/>
                <a:cs typeface="Poppins"/>
                <a:sym typeface="Poppins"/>
              </a:rPr>
              <a:t>FC Reconfiguration </a:t>
            </a:r>
            <a:endParaRPr b="1" sz="100">
              <a:latin typeface="Poppins"/>
              <a:ea typeface="Poppins"/>
              <a:cs typeface="Poppins"/>
              <a:sym typeface="Poppins"/>
            </a:endParaRPr>
          </a:p>
        </p:txBody>
      </p:sp>
      <p:sp>
        <p:nvSpPr>
          <p:cNvPr id="275" name="Google Shape;275;p36"/>
          <p:cNvSpPr txBox="1"/>
          <p:nvPr/>
        </p:nvSpPr>
        <p:spPr>
          <a:xfrm>
            <a:off x="4208471" y="543091"/>
            <a:ext cx="4665000" cy="231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500">
                <a:latin typeface="Poppins"/>
                <a:ea typeface="Poppins"/>
                <a:cs typeface="Poppins"/>
                <a:sym typeface="Poppins"/>
              </a:rPr>
              <a:t>Explanation</a:t>
            </a:r>
            <a:r>
              <a:rPr lang="en" sz="1500">
                <a:latin typeface="Poppins"/>
                <a:ea typeface="Poppins"/>
                <a:cs typeface="Poppins"/>
                <a:sym typeface="Poppins"/>
              </a:rPr>
              <a:t>¿¿¿</a:t>
            </a:r>
            <a:endParaRPr sz="700">
              <a:latin typeface="Poppins"/>
              <a:ea typeface="Poppins"/>
              <a:cs typeface="Poppins"/>
              <a:sym typeface="Poppins"/>
            </a:endParaRPr>
          </a:p>
        </p:txBody>
      </p:sp>
      <p:sp>
        <p:nvSpPr>
          <p:cNvPr id="276" name="Google Shape;276;p36"/>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pic>
        <p:nvPicPr>
          <p:cNvPr id="277" name="Google Shape;277;p36"/>
          <p:cNvPicPr preferRelativeResize="0"/>
          <p:nvPr/>
        </p:nvPicPr>
        <p:blipFill>
          <a:blip r:embed="rId5">
            <a:alphaModFix/>
          </a:blip>
          <a:stretch>
            <a:fillRect/>
          </a:stretch>
        </p:blipFill>
        <p:spPr>
          <a:xfrm>
            <a:off x="720599" y="835751"/>
            <a:ext cx="2989799" cy="1797337"/>
          </a:xfrm>
          <a:prstGeom prst="rect">
            <a:avLst/>
          </a:prstGeom>
          <a:noFill/>
          <a:ln>
            <a:noFill/>
          </a:ln>
        </p:spPr>
      </p:pic>
      <p:pic>
        <p:nvPicPr>
          <p:cNvPr id="278" name="Google Shape;278;p36"/>
          <p:cNvPicPr preferRelativeResize="0"/>
          <p:nvPr/>
        </p:nvPicPr>
        <p:blipFill>
          <a:blip r:embed="rId6">
            <a:alphaModFix/>
          </a:blip>
          <a:stretch>
            <a:fillRect/>
          </a:stretch>
        </p:blipFill>
        <p:spPr>
          <a:xfrm>
            <a:off x="487174" y="2947425"/>
            <a:ext cx="3303996" cy="1449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pSp>
        <p:nvGrpSpPr>
          <p:cNvPr id="283" name="Google Shape;283;p37"/>
          <p:cNvGrpSpPr/>
          <p:nvPr/>
        </p:nvGrpSpPr>
        <p:grpSpPr>
          <a:xfrm>
            <a:off x="4680547" y="1265323"/>
            <a:ext cx="582211" cy="861966"/>
            <a:chOff x="0" y="-47625"/>
            <a:chExt cx="306669" cy="454025"/>
          </a:xfrm>
        </p:grpSpPr>
        <p:sp>
          <p:nvSpPr>
            <p:cNvPr id="284" name="Google Shape;284;p37"/>
            <p:cNvSpPr/>
            <p:nvPr/>
          </p:nvSpPr>
          <p:spPr>
            <a:xfrm>
              <a:off x="0" y="0"/>
              <a:ext cx="306669" cy="406400"/>
            </a:xfrm>
            <a:custGeom>
              <a:rect b="b" l="l" r="r" t="t"/>
              <a:pathLst>
                <a:path extrusionOk="0" h="406400" w="306669">
                  <a:moveTo>
                    <a:pt x="0" y="0"/>
                  </a:moveTo>
                  <a:lnTo>
                    <a:pt x="306669" y="0"/>
                  </a:lnTo>
                  <a:lnTo>
                    <a:pt x="306669" y="406400"/>
                  </a:lnTo>
                  <a:lnTo>
                    <a:pt x="0" y="406400"/>
                  </a:lnTo>
                  <a:close/>
                </a:path>
              </a:pathLst>
            </a:custGeom>
            <a:solidFill>
              <a:srgbClr val="EAD6B8"/>
            </a:solidFill>
            <a:ln>
              <a:noFill/>
            </a:ln>
          </p:spPr>
        </p:sp>
        <p:sp>
          <p:nvSpPr>
            <p:cNvPr id="285" name="Google Shape;285;p37"/>
            <p:cNvSpPr txBox="1"/>
            <p:nvPr/>
          </p:nvSpPr>
          <p:spPr>
            <a:xfrm>
              <a:off x="0" y="-47625"/>
              <a:ext cx="306600" cy="453900"/>
            </a:xfrm>
            <a:prstGeom prst="rect">
              <a:avLst/>
            </a:prstGeom>
            <a:noFill/>
            <a:ln>
              <a:noFill/>
            </a:ln>
          </p:spPr>
          <p:txBody>
            <a:bodyPr anchorCtr="0" anchor="ctr" bIns="25400" lIns="25400" spcFirstLastPara="1" rIns="25400" wrap="square" tIns="25400">
              <a:noAutofit/>
            </a:bodyPr>
            <a:lstStyle/>
            <a:p>
              <a:pPr indent="0" lvl="0" marL="0" marR="0" rtl="0" algn="ctr">
                <a:lnSpc>
                  <a:spcPct val="167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86" name="Google Shape;286;p37"/>
          <p:cNvSpPr/>
          <p:nvPr/>
        </p:nvSpPr>
        <p:spPr>
          <a:xfrm rot="5400000">
            <a:off x="6800850" y="1079294"/>
            <a:ext cx="3657600" cy="123987"/>
          </a:xfrm>
          <a:custGeom>
            <a:rect b="b" l="l" r="r" t="t"/>
            <a:pathLst>
              <a:path extrusionOk="0" h="247973" w="7315200">
                <a:moveTo>
                  <a:pt x="0" y="0"/>
                </a:moveTo>
                <a:lnTo>
                  <a:pt x="7315200" y="0"/>
                </a:lnTo>
                <a:lnTo>
                  <a:pt x="7315200" y="247973"/>
                </a:lnTo>
                <a:lnTo>
                  <a:pt x="0" y="247973"/>
                </a:lnTo>
                <a:lnTo>
                  <a:pt x="0" y="0"/>
                </a:lnTo>
                <a:close/>
              </a:path>
            </a:pathLst>
          </a:custGeom>
          <a:blipFill rotWithShape="1">
            <a:blip r:embed="rId3">
              <a:alphaModFix/>
            </a:blip>
            <a:stretch>
              <a:fillRect b="0" l="0" r="0" t="0"/>
            </a:stretch>
          </a:blipFill>
          <a:ln>
            <a:noFill/>
          </a:ln>
        </p:spPr>
      </p:sp>
      <p:sp>
        <p:nvSpPr>
          <p:cNvPr id="287" name="Google Shape;287;p37"/>
          <p:cNvSpPr txBox="1"/>
          <p:nvPr/>
        </p:nvSpPr>
        <p:spPr>
          <a:xfrm>
            <a:off x="5108149" y="1213445"/>
            <a:ext cx="3121500" cy="1026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 sz="3100">
                <a:latin typeface="Poppins"/>
                <a:ea typeface="Poppins"/>
                <a:cs typeface="Poppins"/>
                <a:sym typeface="Poppins"/>
              </a:rPr>
              <a:t>Unexpected Finding</a:t>
            </a:r>
            <a:endParaRPr b="1" sz="400">
              <a:latin typeface="Poppins"/>
              <a:ea typeface="Poppins"/>
              <a:cs typeface="Poppins"/>
              <a:sym typeface="Poppins"/>
            </a:endParaRPr>
          </a:p>
        </p:txBody>
      </p:sp>
      <p:sp>
        <p:nvSpPr>
          <p:cNvPr id="288" name="Google Shape;288;p37"/>
          <p:cNvSpPr txBox="1"/>
          <p:nvPr/>
        </p:nvSpPr>
        <p:spPr>
          <a:xfrm>
            <a:off x="5108149" y="2248862"/>
            <a:ext cx="3521700" cy="877200"/>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lang="en" sz="1500">
                <a:latin typeface="Inter"/>
                <a:ea typeface="Inter"/>
                <a:cs typeface="Inter"/>
                <a:sym typeface="Inter"/>
              </a:rPr>
              <a:t>Activation predicts performance better, and FC does not clearly add unique predictive information</a:t>
            </a:r>
            <a:endParaRPr sz="700"/>
          </a:p>
        </p:txBody>
      </p:sp>
      <p:sp>
        <p:nvSpPr>
          <p:cNvPr id="289" name="Google Shape;289;p37"/>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So… What does this mean?</a:t>
            </a:r>
            <a:endParaRPr b="1">
              <a:latin typeface="Poppins"/>
              <a:ea typeface="Poppins"/>
              <a:cs typeface="Poppins"/>
              <a:sym typeface="Poppins"/>
            </a:endParaRPr>
          </a:p>
        </p:txBody>
      </p:sp>
      <p:sp>
        <p:nvSpPr>
          <p:cNvPr id="295" name="Google Shape;295;p38"/>
          <p:cNvSpPr txBox="1"/>
          <p:nvPr>
            <p:ph idx="1" type="body"/>
          </p:nvPr>
        </p:nvSpPr>
        <p:spPr>
          <a:xfrm>
            <a:off x="311700" y="1152475"/>
            <a:ext cx="8520600" cy="1141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Conclusion 1</a:t>
            </a:r>
            <a:endParaRPr/>
          </a:p>
          <a:p>
            <a:pPr indent="-342900" lvl="0" marL="457200" rtl="0" algn="l">
              <a:spcBef>
                <a:spcPts val="0"/>
              </a:spcBef>
              <a:spcAft>
                <a:spcPts val="0"/>
              </a:spcAft>
              <a:buSzPts val="1800"/>
              <a:buChar char="●"/>
            </a:pPr>
            <a:r>
              <a:rPr lang="en"/>
              <a:t>Conclusion 2</a:t>
            </a:r>
            <a:endParaRPr/>
          </a:p>
          <a:p>
            <a:pPr indent="-342900" lvl="0" marL="457200" rtl="0" algn="l">
              <a:spcBef>
                <a:spcPts val="0"/>
              </a:spcBef>
              <a:spcAft>
                <a:spcPts val="0"/>
              </a:spcAft>
              <a:buSzPts val="1800"/>
              <a:buChar char="●"/>
            </a:pPr>
            <a:r>
              <a:rPr lang="en"/>
              <a:t>etc</a:t>
            </a:r>
            <a:endParaRPr/>
          </a:p>
        </p:txBody>
      </p:sp>
      <p:sp>
        <p:nvSpPr>
          <p:cNvPr id="296" name="Google Shape;296;p38"/>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38"/>
          <p:cNvSpPr/>
          <p:nvPr/>
        </p:nvSpPr>
        <p:spPr>
          <a:xfrm>
            <a:off x="479750" y="2437125"/>
            <a:ext cx="8040600" cy="1938300"/>
          </a:xfrm>
          <a:prstGeom prst="rect">
            <a:avLst/>
          </a:prstGeom>
          <a:solidFill>
            <a:srgbClr val="B99470"/>
          </a:solidFill>
          <a:ln cap="flat" cmpd="sng" w="9525">
            <a:solidFill>
              <a:srgbClr val="B9947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Poppins"/>
                <a:ea typeface="Poppins"/>
                <a:cs typeface="Poppins"/>
                <a:sym typeface="Poppins"/>
              </a:rPr>
              <a:t>Limitations</a:t>
            </a:r>
            <a:r>
              <a:rPr b="1" lang="en">
                <a:solidFill>
                  <a:schemeClr val="dk1"/>
                </a:solidFill>
                <a:latin typeface="Poppins"/>
                <a:ea typeface="Poppins"/>
                <a:cs typeface="Poppins"/>
                <a:sym typeface="Poppins"/>
              </a:rPr>
              <a:t>:</a:t>
            </a:r>
            <a:endParaRPr b="1">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Char char="●"/>
            </a:pPr>
            <a:r>
              <a:rPr lang="en">
                <a:solidFill>
                  <a:schemeClr val="dk1"/>
                </a:solidFill>
              </a:rPr>
              <a:t>L1</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L2</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CONCEPTS</a:t>
            </a:r>
            <a:endParaRPr/>
          </a:p>
        </p:txBody>
      </p:sp>
      <p:sp>
        <p:nvSpPr>
          <p:cNvPr id="303" name="Google Shape;303;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FC reconfiguration still predicts performance and the result generalizes to a held-out cohort. However, it substantially changes our conclusion because reconfiguration does not clearly add unique information beyond single-condition FC, and task activation predicts performance even better</a:t>
            </a:r>
            <a:endParaRPr/>
          </a:p>
          <a:p>
            <a:pPr indent="0" lvl="0" marL="0" rtl="0" algn="l">
              <a:spcBef>
                <a:spcPts val="0"/>
              </a:spcBef>
              <a:spcAft>
                <a:spcPts val="0"/>
              </a:spcAft>
              <a:buNone/>
            </a:pPr>
            <a:r>
              <a:t/>
            </a:r>
            <a:endParaRPr/>
          </a:p>
        </p:txBody>
      </p:sp>
      <p:sp>
        <p:nvSpPr>
          <p:cNvPr id="304" name="Google Shape;304;p39"/>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References</a:t>
            </a:r>
            <a:endParaRPr b="1">
              <a:latin typeface="Poppins"/>
              <a:ea typeface="Poppins"/>
              <a:cs typeface="Poppins"/>
              <a:sym typeface="Poppins"/>
            </a:endParaRPr>
          </a:p>
        </p:txBody>
      </p:sp>
      <p:sp>
        <p:nvSpPr>
          <p:cNvPr id="310" name="Google Shape;310;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28600" lvl="0" marL="228600" rtl="0" algn="just">
              <a:lnSpc>
                <a:spcPct val="100000"/>
              </a:lnSpc>
              <a:spcBef>
                <a:spcPts val="0"/>
              </a:spcBef>
              <a:spcAft>
                <a:spcPts val="0"/>
              </a:spcAft>
              <a:buNone/>
            </a:pPr>
            <a:r>
              <a:rPr lang="en" sz="1100">
                <a:solidFill>
                  <a:schemeClr val="dk1"/>
                </a:solidFill>
                <a:latin typeface="Poppins Light"/>
                <a:ea typeface="Poppins Light"/>
                <a:cs typeface="Poppins Light"/>
                <a:sym typeface="Poppins Light"/>
              </a:rPr>
              <a:t>1.</a:t>
            </a:r>
            <a:r>
              <a:rPr lang="en" sz="700">
                <a:solidFill>
                  <a:schemeClr val="dk1"/>
                </a:solidFill>
                <a:latin typeface="Poppins Light"/>
                <a:ea typeface="Poppins Light"/>
                <a:cs typeface="Poppins Light"/>
                <a:sym typeface="Poppins Light"/>
              </a:rPr>
              <a:t> 	</a:t>
            </a:r>
            <a:r>
              <a:rPr lang="en" sz="1100">
                <a:solidFill>
                  <a:schemeClr val="dk1"/>
                </a:solidFill>
                <a:latin typeface="Poppins Light"/>
                <a:ea typeface="Poppins Light"/>
                <a:cs typeface="Poppins Light"/>
                <a:sym typeface="Poppins Light"/>
              </a:rPr>
              <a:t>Shine JM, Bissett PG, Bell PT, Koyejo O, Balsters JH, Gorgolewski KJ, Moodie CA, Poldrack RA. The Dynamics of Functional Brain Networks: Integrated Network States during Cognitive Task Performance. Neuron. 2016 Oct 19;92(2):544-554. doi: 10.1016/j.neuron.2016.09.018. Epub 2016 Sep 29. PMID: 27693256; PMCID: PMC5073034.</a:t>
            </a:r>
            <a:endParaRPr sz="1100">
              <a:solidFill>
                <a:schemeClr val="dk1"/>
              </a:solidFill>
              <a:latin typeface="Poppins Light"/>
              <a:ea typeface="Poppins Light"/>
              <a:cs typeface="Poppins Light"/>
              <a:sym typeface="Poppins Light"/>
            </a:endParaRPr>
          </a:p>
          <a:p>
            <a:pPr indent="-228600" lvl="0" marL="228600" rtl="0" algn="just">
              <a:lnSpc>
                <a:spcPct val="100000"/>
              </a:lnSpc>
              <a:spcBef>
                <a:spcPts val="1200"/>
              </a:spcBef>
              <a:spcAft>
                <a:spcPts val="0"/>
              </a:spcAft>
              <a:buNone/>
            </a:pPr>
            <a:r>
              <a:rPr lang="en" sz="1100">
                <a:solidFill>
                  <a:schemeClr val="dk1"/>
                </a:solidFill>
                <a:latin typeface="Poppins Light"/>
                <a:ea typeface="Poppins Light"/>
                <a:cs typeface="Poppins Light"/>
                <a:sym typeface="Poppins Light"/>
              </a:rPr>
              <a:t>2.</a:t>
            </a:r>
            <a:r>
              <a:rPr lang="en" sz="700">
                <a:solidFill>
                  <a:schemeClr val="dk1"/>
                </a:solidFill>
                <a:latin typeface="Poppins Light"/>
                <a:ea typeface="Poppins Light"/>
                <a:cs typeface="Poppins Light"/>
                <a:sym typeface="Poppins Light"/>
              </a:rPr>
              <a:t>  </a:t>
            </a:r>
            <a:r>
              <a:rPr lang="en" sz="1100">
                <a:solidFill>
                  <a:schemeClr val="dk1"/>
                </a:solidFill>
                <a:highlight>
                  <a:srgbClr val="FFFFFF"/>
                </a:highlight>
                <a:latin typeface="Poppins Light"/>
                <a:ea typeface="Poppins Light"/>
                <a:cs typeface="Poppins Light"/>
                <a:sym typeface="Poppins Light"/>
              </a:rPr>
              <a:t>Finc K, Bonna K, He X, Lydon-Staley DM, Kühn S, Duch W, Bassett DS. Dynamic reconfiguration of functional brain networks during working memory training. Nat Commun. 2020 May 15;11(1):2435. doi: 10.1038/s41467-020-15631-z. Erratum in: Nat Commun. 2020 Jul 30;11(1):3891. doi: 10.1038/s41467-020-17747-8. PMID: 32415206; PMCID: PMC7229188.</a:t>
            </a:r>
            <a:endParaRPr sz="1100">
              <a:solidFill>
                <a:schemeClr val="dk1"/>
              </a:solidFill>
              <a:highlight>
                <a:srgbClr val="FFFFFF"/>
              </a:highlight>
              <a:latin typeface="Poppins Light"/>
              <a:ea typeface="Poppins Light"/>
              <a:cs typeface="Poppins Light"/>
              <a:sym typeface="Poppins Light"/>
            </a:endParaRPr>
          </a:p>
          <a:p>
            <a:pPr indent="-228600" lvl="0" marL="228600" rtl="0" algn="just">
              <a:lnSpc>
                <a:spcPct val="100000"/>
              </a:lnSpc>
              <a:spcBef>
                <a:spcPts val="1200"/>
              </a:spcBef>
              <a:spcAft>
                <a:spcPts val="0"/>
              </a:spcAft>
              <a:buNone/>
            </a:pPr>
            <a:r>
              <a:rPr lang="en" sz="1100">
                <a:solidFill>
                  <a:schemeClr val="dk1"/>
                </a:solidFill>
                <a:latin typeface="Poppins Light"/>
                <a:ea typeface="Poppins Light"/>
                <a:cs typeface="Poppins Light"/>
                <a:sym typeface="Poppins Light"/>
              </a:rPr>
              <a:t>3.</a:t>
            </a:r>
            <a:r>
              <a:rPr lang="en" sz="700">
                <a:solidFill>
                  <a:schemeClr val="dk1"/>
                </a:solidFill>
                <a:latin typeface="Poppins Light"/>
                <a:ea typeface="Poppins Light"/>
                <a:cs typeface="Poppins Light"/>
                <a:sym typeface="Poppins Light"/>
              </a:rPr>
              <a:t> 	</a:t>
            </a:r>
            <a:r>
              <a:rPr lang="en" sz="1100">
                <a:solidFill>
                  <a:schemeClr val="dk1"/>
                </a:solidFill>
                <a:latin typeface="Poppins Light"/>
                <a:ea typeface="Poppins Light"/>
                <a:cs typeface="Poppins Light"/>
                <a:sym typeface="Poppins Light"/>
              </a:rPr>
              <a:t>Zhang H, Meng C, Di X, Wu X, Biswal B. Static and dynamic functional connectome reveals reconfiguration profiles of whole-brain network across cognitive states. Netw Neurosci. 2023 Oct 1;7(3):1034-1050. doi: 10.1162/netn_a_00314. PMID: 37781145; PMCID: PMC10473282.</a:t>
            </a:r>
            <a:endParaRPr sz="1100">
              <a:solidFill>
                <a:schemeClr val="dk1"/>
              </a:solidFill>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t/>
            </a:r>
            <a:endParaRPr sz="1100">
              <a:solidFill>
                <a:schemeClr val="dk1"/>
              </a:solidFill>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rPr lang="en" sz="1100">
                <a:solidFill>
                  <a:schemeClr val="dk1"/>
                </a:solidFill>
                <a:latin typeface="Poppins Light"/>
                <a:ea typeface="Poppins Light"/>
                <a:cs typeface="Poppins Light"/>
                <a:sym typeface="Poppins Light"/>
              </a:rPr>
              <a:t>4.</a:t>
            </a:r>
            <a:r>
              <a:rPr lang="en" sz="700">
                <a:solidFill>
                  <a:schemeClr val="dk1"/>
                </a:solidFill>
                <a:latin typeface="Poppins Light"/>
                <a:ea typeface="Poppins Light"/>
                <a:cs typeface="Poppins Light"/>
                <a:sym typeface="Poppins Light"/>
              </a:rPr>
              <a:t> 	</a:t>
            </a:r>
            <a:r>
              <a:rPr lang="en" sz="1100">
                <a:solidFill>
                  <a:schemeClr val="dk1"/>
                </a:solidFill>
                <a:highlight>
                  <a:srgbClr val="FFFFFF"/>
                </a:highlight>
                <a:latin typeface="Poppins Light"/>
                <a:ea typeface="Poppins Light"/>
                <a:cs typeface="Poppins Light"/>
                <a:sym typeface="Poppins Light"/>
              </a:rPr>
              <a:t>Shen X, Finn ES, Scheinost D, Rosenberg MD, Chun MM, Papademetris X, Constable RT. Using connectome-based predictive modeling to predict individual behavior from brain connectivity. Nat Protoc. 2017 Mar;12(3):506-518. doi: 10.1038/nprot.2016.178. Epub 2017 Feb 9. PMID: 28182017; PMCID: PMC5526681.</a:t>
            </a:r>
            <a:endParaRPr sz="1100">
              <a:solidFill>
                <a:schemeClr val="dk1"/>
              </a:solidFill>
              <a:highlight>
                <a:srgbClr val="FFFFFF"/>
              </a:highlight>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t/>
            </a:r>
            <a:endParaRPr sz="1100">
              <a:solidFill>
                <a:schemeClr val="dk1"/>
              </a:solidFill>
              <a:highlight>
                <a:srgbClr val="FFFFFF"/>
              </a:highlight>
              <a:latin typeface="Poppins Light"/>
              <a:ea typeface="Poppins Light"/>
              <a:cs typeface="Poppins Light"/>
              <a:sym typeface="Poppins Light"/>
            </a:endParaRPr>
          </a:p>
          <a:p>
            <a:pPr indent="-228600" lvl="0" marL="228600" rtl="0" algn="just">
              <a:lnSpc>
                <a:spcPct val="100000"/>
              </a:lnSpc>
              <a:spcBef>
                <a:spcPts val="0"/>
              </a:spcBef>
              <a:spcAft>
                <a:spcPts val="0"/>
              </a:spcAft>
              <a:buNone/>
            </a:pPr>
            <a:r>
              <a:rPr lang="en" sz="1100">
                <a:solidFill>
                  <a:schemeClr val="dk1"/>
                </a:solidFill>
                <a:latin typeface="Poppins Light"/>
                <a:ea typeface="Poppins Light"/>
                <a:cs typeface="Poppins Light"/>
                <a:sym typeface="Poppins Light"/>
              </a:rPr>
              <a:t>5.</a:t>
            </a:r>
            <a:r>
              <a:rPr lang="en" sz="700">
                <a:solidFill>
                  <a:schemeClr val="dk1"/>
                </a:solidFill>
                <a:latin typeface="Poppins Light"/>
                <a:ea typeface="Poppins Light"/>
                <a:cs typeface="Poppins Light"/>
                <a:sym typeface="Poppins Light"/>
              </a:rPr>
              <a:t> 	</a:t>
            </a:r>
            <a:r>
              <a:rPr lang="en" sz="1100">
                <a:solidFill>
                  <a:schemeClr val="dk1"/>
                </a:solidFill>
                <a:latin typeface="Poppins Light"/>
                <a:ea typeface="Poppins Light"/>
                <a:cs typeface="Poppins Light"/>
                <a:sym typeface="Poppins Light"/>
              </a:rPr>
              <a:t>Ray KL, Ragland JD, MacDonald AW, Gold JM, Silverstein SM, Barch DM, Carter CS. Dynamic reorganization of the frontal parietal network during cognitive control and episodic memory. Cogn Affect Behav Neurosci. 2020 Feb;20(1):76-90. doi: 10.3758/s13415-019-00753-9. PMID: 31811557; PMCID: PMC7018593.</a:t>
            </a:r>
            <a:endParaRPr>
              <a:solidFill>
                <a:schemeClr val="dk1"/>
              </a:solidFill>
              <a:latin typeface="Poppins Light"/>
              <a:ea typeface="Poppins Light"/>
              <a:cs typeface="Poppins Light"/>
              <a:sym typeface="Poppins Light"/>
            </a:endParaRPr>
          </a:p>
        </p:txBody>
      </p:sp>
      <p:sp>
        <p:nvSpPr>
          <p:cNvPr id="311" name="Google Shape;311;p40"/>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41"/>
          <p:cNvPicPr preferRelativeResize="0"/>
          <p:nvPr/>
        </p:nvPicPr>
        <p:blipFill>
          <a:blip r:embed="rId3">
            <a:alphaModFix amt="10000"/>
          </a:blip>
          <a:stretch>
            <a:fillRect/>
          </a:stretch>
        </p:blipFill>
        <p:spPr>
          <a:xfrm>
            <a:off x="0" y="0"/>
            <a:ext cx="9144003" cy="5143501"/>
          </a:xfrm>
          <a:prstGeom prst="rect">
            <a:avLst/>
          </a:prstGeom>
          <a:noFill/>
          <a:ln>
            <a:noFill/>
          </a:ln>
        </p:spPr>
      </p:pic>
      <p:sp>
        <p:nvSpPr>
          <p:cNvPr id="317" name="Google Shape;317;p41"/>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4500">
                <a:latin typeface="Poppins"/>
                <a:ea typeface="Poppins"/>
                <a:cs typeface="Poppins"/>
                <a:sym typeface="Poppins"/>
              </a:rPr>
              <a:t>Functional Connectivity Reconfiguration</a:t>
            </a:r>
            <a:endParaRPr sz="4500">
              <a:latin typeface="Poppins"/>
              <a:ea typeface="Poppins"/>
              <a:cs typeface="Poppins"/>
              <a:sym typeface="Poppins"/>
            </a:endParaRPr>
          </a:p>
          <a:p>
            <a:pPr indent="0" lvl="0" marL="0" rtl="0" algn="l">
              <a:lnSpc>
                <a:spcPct val="100000"/>
              </a:lnSpc>
              <a:spcBef>
                <a:spcPts val="0"/>
              </a:spcBef>
              <a:spcAft>
                <a:spcPts val="0"/>
              </a:spcAft>
              <a:buSzPts val="4800"/>
              <a:buNone/>
            </a:pPr>
            <a:r>
              <a:rPr lang="en" sz="4500">
                <a:latin typeface="Poppins"/>
                <a:ea typeface="Poppins"/>
                <a:cs typeface="Poppins"/>
                <a:sym typeface="Poppins"/>
              </a:rPr>
              <a:t>in N-back Working-Memory</a:t>
            </a:r>
            <a:endParaRPr sz="4500">
              <a:latin typeface="Poppins"/>
              <a:ea typeface="Poppins"/>
              <a:cs typeface="Poppins"/>
              <a:sym typeface="Poppins"/>
            </a:endParaRPr>
          </a:p>
        </p:txBody>
      </p:sp>
      <p:sp>
        <p:nvSpPr>
          <p:cNvPr id="318" name="Google Shape;318;p41"/>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500">
                <a:latin typeface="Poppins Light"/>
                <a:ea typeface="Poppins Light"/>
                <a:cs typeface="Poppins Light"/>
                <a:sym typeface="Poppins Light"/>
              </a:rPr>
              <a:t>By: Arefeh Lali Dehaghi, Goutham Arcod, Jaime Pineda, Kerem Akyurt, Valeria Moraga</a:t>
            </a:r>
            <a:endParaRPr sz="1500">
              <a:latin typeface="Poppins Light"/>
              <a:ea typeface="Poppins Light"/>
              <a:cs typeface="Poppins Light"/>
              <a:sym typeface="Poppins Light"/>
            </a:endParaRPr>
          </a:p>
          <a:p>
            <a:pPr indent="0" lvl="0" marL="0" rtl="0" algn="l">
              <a:lnSpc>
                <a:spcPct val="100000"/>
              </a:lnSpc>
              <a:spcBef>
                <a:spcPts val="0"/>
              </a:spcBef>
              <a:spcAft>
                <a:spcPts val="0"/>
              </a:spcAft>
              <a:buSzPts val="2400"/>
              <a:buNone/>
            </a:pPr>
            <a:r>
              <a:rPr lang="en" sz="1500">
                <a:latin typeface="Poppins Light"/>
                <a:ea typeface="Poppins Light"/>
                <a:cs typeface="Poppins Light"/>
                <a:sym typeface="Poppins Light"/>
              </a:rPr>
              <a:t>Ifrit Ras el Hanout - The Gammas</a:t>
            </a:r>
            <a:endParaRPr sz="1500">
              <a:latin typeface="Poppins Light"/>
              <a:ea typeface="Poppins Light"/>
              <a:cs typeface="Poppins Light"/>
              <a:sym typeface="Poppi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42"/>
          <p:cNvPicPr preferRelativeResize="0"/>
          <p:nvPr/>
        </p:nvPicPr>
        <p:blipFill>
          <a:blip r:embed="rId3">
            <a:alphaModFix amt="10000"/>
          </a:blip>
          <a:stretch>
            <a:fillRect/>
          </a:stretch>
        </p:blipFill>
        <p:spPr>
          <a:xfrm>
            <a:off x="0" y="0"/>
            <a:ext cx="9144003" cy="5143501"/>
          </a:xfrm>
          <a:prstGeom prst="rect">
            <a:avLst/>
          </a:prstGeom>
          <a:noFill/>
          <a:ln>
            <a:noFill/>
          </a:ln>
        </p:spPr>
      </p:pic>
      <p:sp>
        <p:nvSpPr>
          <p:cNvPr id="324" name="Google Shape;324;p42"/>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4500">
                <a:latin typeface="Poppins"/>
                <a:ea typeface="Poppins"/>
                <a:cs typeface="Poppins"/>
                <a:sym typeface="Poppins"/>
              </a:rPr>
              <a:t>Complementary Slides</a:t>
            </a:r>
            <a:endParaRPr sz="45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3"/>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oppins"/>
                <a:ea typeface="Poppins"/>
                <a:cs typeface="Poppins"/>
                <a:sym typeface="Poppins"/>
              </a:rPr>
              <a:t>Complementary Slides</a:t>
            </a:r>
            <a:endParaRPr b="1">
              <a:latin typeface="Poppins"/>
              <a:ea typeface="Poppins"/>
              <a:cs typeface="Poppins"/>
              <a:sym typeface="Poppins"/>
            </a:endParaRPr>
          </a:p>
        </p:txBody>
      </p:sp>
      <p:sp>
        <p:nvSpPr>
          <p:cNvPr id="330" name="Google Shape;330;p43"/>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txBox="1"/>
          <p:nvPr>
            <p:ph idx="12" type="sldNum"/>
          </p:nvPr>
        </p:nvSpPr>
        <p:spPr>
          <a:xfrm>
            <a:off x="8472450" y="4821325"/>
            <a:ext cx="548700" cy="334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